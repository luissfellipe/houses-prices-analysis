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05840"/>
            <a:ext cx="4846320" cy="685800"/>
          </a:xfrm>
          <a:prstGeom prst="rect">
            <a:avLst/>
          </a:prstGeom>
          <a:noFill/>
        </p:spPr>
        <p:txBody>
          <a:bodyPr wrap="square">
            <a:spAutoFit/>
          </a:bodyPr>
          <a:lstStyle/>
          <a:p>
            <a:pPr algn="l"/>
            <a:r>
              <a:rPr sz="3800" b="1" i="0">
                <a:solidFill>
                  <a:srgbClr val="FFFFFF"/>
                </a:solidFill>
              </a:rPr>
              <a:t>SEU PRÓXIMO</a:t>
            </a:r>
          </a:p>
        </p:txBody>
      </p:sp>
      <p:sp>
        <p:nvSpPr>
          <p:cNvPr id="5" name="TextBox 4"/>
          <p:cNvSpPr txBox="1"/>
          <p:nvPr/>
        </p:nvSpPr>
        <p:spPr>
          <a:xfrm>
            <a:off x="320040" y="1645920"/>
            <a:ext cx="4846320" cy="685800"/>
          </a:xfrm>
          <a:prstGeom prst="rect">
            <a:avLst/>
          </a:prstGeom>
          <a:noFill/>
        </p:spPr>
        <p:txBody>
          <a:bodyPr wrap="square">
            <a:spAutoFit/>
          </a:bodyPr>
          <a:lstStyle/>
          <a:p>
            <a:pPr algn="l"/>
            <a:r>
              <a:rPr sz="3800" b="1" i="0">
                <a:solidFill>
                  <a:srgbClr val="FFFFFF"/>
                </a:solidFill>
              </a:rPr>
              <a:t>LAR NA</a:t>
            </a:r>
          </a:p>
        </p:txBody>
      </p:sp>
      <p:sp>
        <p:nvSpPr>
          <p:cNvPr id="6" name="TextBox 5"/>
          <p:cNvSpPr txBox="1"/>
          <p:nvPr/>
        </p:nvSpPr>
        <p:spPr>
          <a:xfrm>
            <a:off x="320040" y="2286000"/>
            <a:ext cx="4846320" cy="731520"/>
          </a:xfrm>
          <a:prstGeom prst="rect">
            <a:avLst/>
          </a:prstGeom>
          <a:noFill/>
        </p:spPr>
        <p:txBody>
          <a:bodyPr wrap="square">
            <a:spAutoFit/>
          </a:bodyPr>
          <a:lstStyle/>
          <a:p>
            <a:pPr algn="l"/>
            <a:r>
              <a:rPr sz="4000" b="1" i="0">
                <a:solidFill>
                  <a:srgbClr val="F5A623"/>
                </a:solidFill>
              </a:rPr>
              <a:t>CALIFÓRNIA</a:t>
            </a:r>
          </a:p>
        </p:txBody>
      </p:sp>
      <p:sp>
        <p:nvSpPr>
          <p:cNvPr id="7" name="Rectangle 6"/>
          <p:cNvSpPr/>
          <p:nvPr/>
        </p:nvSpPr>
        <p:spPr>
          <a:xfrm>
            <a:off x="320040" y="3154680"/>
            <a:ext cx="4389120" cy="3657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3291840"/>
            <a:ext cx="4663440" cy="640080"/>
          </a:xfrm>
          <a:prstGeom prst="rect">
            <a:avLst/>
          </a:prstGeom>
          <a:noFill/>
        </p:spPr>
        <p:txBody>
          <a:bodyPr wrap="square">
            <a:spAutoFit/>
          </a:bodyPr>
          <a:lstStyle/>
          <a:p>
            <a:pPr algn="l"/>
            <a:r>
              <a:rPr sz="1200" b="0" i="0">
                <a:solidFill>
                  <a:srgbClr val="94A3B8"/>
                </a:solidFill>
              </a:rPr>
              <a:t>Uma análise orientada por dados para responder
a pergunta que vale milhares de dólares:</a:t>
            </a:r>
          </a:p>
        </p:txBody>
      </p:sp>
      <p:sp>
        <p:nvSpPr>
          <p:cNvPr id="9" name="TextBox 8"/>
          <p:cNvSpPr txBox="1"/>
          <p:nvPr/>
        </p:nvSpPr>
        <p:spPr>
          <a:xfrm>
            <a:off x="320040" y="3931920"/>
            <a:ext cx="4663440" cy="411480"/>
          </a:xfrm>
          <a:prstGeom prst="rect">
            <a:avLst/>
          </a:prstGeom>
          <a:noFill/>
        </p:spPr>
        <p:txBody>
          <a:bodyPr wrap="square">
            <a:spAutoFit/>
          </a:bodyPr>
          <a:lstStyle/>
          <a:p>
            <a:pPr algn="l"/>
            <a:r>
              <a:rPr sz="1300" b="1" i="1">
                <a:solidFill>
                  <a:srgbClr val="FEF3C7"/>
                </a:solidFill>
              </a:rPr>
              <a:t>"Onde comprar ou alugar?"</a:t>
            </a:r>
          </a:p>
        </p:txBody>
      </p:sp>
      <p:sp>
        <p:nvSpPr>
          <p:cNvPr id="10" name="TextBox 9"/>
          <p:cNvSpPr txBox="1"/>
          <p:nvPr/>
        </p:nvSpPr>
        <p:spPr>
          <a:xfrm>
            <a:off x="320040" y="4800600"/>
            <a:ext cx="4846320" cy="320040"/>
          </a:xfrm>
          <a:prstGeom prst="rect">
            <a:avLst/>
          </a:prstGeom>
          <a:noFill/>
        </p:spPr>
        <p:txBody>
          <a:bodyPr wrap="square">
            <a:spAutoFit/>
          </a:bodyPr>
          <a:lstStyle/>
          <a:p>
            <a:pPr algn="l"/>
            <a:r>
              <a:rPr sz="900" b="0" i="1">
                <a:solidFill>
                  <a:srgbClr val="94A3B8"/>
                </a:solidFill>
              </a:rPr>
              <a:t>20.640 distritos  ·  5 zonas geográficas  ·  Censo 1990</a:t>
            </a:r>
          </a:p>
        </p:txBody>
      </p:sp>
      <p:sp>
        <p:nvSpPr>
          <p:cNvPr id="11" name="Rectangle 10"/>
          <p:cNvSpPr/>
          <p:nvPr/>
        </p:nvSpPr>
        <p:spPr>
          <a:xfrm>
            <a:off x="320040" y="5257800"/>
            <a:ext cx="1658721" cy="24688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5285232"/>
            <a:ext cx="1567281" cy="219456"/>
          </a:xfrm>
          <a:prstGeom prst="rect">
            <a:avLst/>
          </a:prstGeom>
          <a:noFill/>
        </p:spPr>
        <p:txBody>
          <a:bodyPr wrap="square">
            <a:spAutoFit/>
          </a:bodyPr>
          <a:lstStyle/>
          <a:p>
            <a:pPr algn="ctr"/>
            <a:r>
              <a:rPr sz="900" b="1" i="0">
                <a:solidFill>
                  <a:srgbClr val="0E1117"/>
                </a:solidFill>
              </a:rPr>
              <a:t>DATA STORYTELLING</a:t>
            </a:r>
          </a:p>
        </p:txBody>
      </p:sp>
      <p:sp>
        <p:nvSpPr>
          <p:cNvPr id="13" name="Rectangle 12"/>
          <p:cNvSpPr/>
          <p:nvPr/>
        </p:nvSpPr>
        <p:spPr>
          <a:xfrm>
            <a:off x="2331720" y="5257800"/>
            <a:ext cx="1826971" cy="2468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95727" y="5285232"/>
            <a:ext cx="1735531" cy="219456"/>
          </a:xfrm>
          <a:prstGeom prst="rect">
            <a:avLst/>
          </a:prstGeom>
          <a:noFill/>
        </p:spPr>
        <p:txBody>
          <a:bodyPr wrap="square">
            <a:spAutoFit/>
          </a:bodyPr>
          <a:lstStyle/>
          <a:p>
            <a:pPr algn="ctr"/>
            <a:r>
              <a:rPr sz="900" b="1" i="0">
                <a:solidFill>
                  <a:srgbClr val="F5A623"/>
                </a:solidFill>
              </a:rPr>
              <a:t>MERCADO IMOBILIÁRIO</a:t>
            </a:r>
          </a:p>
        </p:txBody>
      </p:sp>
      <p:pic>
        <p:nvPicPr>
          <p:cNvPr id="15" name="Picture 14" descr="image.png"/>
          <p:cNvPicPr>
            <a:picLocks noChangeAspect="1"/>
          </p:cNvPicPr>
          <p:nvPr/>
        </p:nvPicPr>
        <p:blipFill>
          <a:blip r:embed="rId2"/>
          <a:stretch>
            <a:fillRect/>
          </a:stretch>
        </p:blipFill>
        <p:spPr>
          <a:xfrm>
            <a:off x="5394960" y="228600"/>
            <a:ext cx="6537960" cy="6400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F5A623"/>
                </a:solidFill>
              </a:rPr>
              <a:t>O PONTO DE PARTIDA</a:t>
            </a:r>
          </a:p>
        </p:txBody>
      </p:sp>
      <p:sp>
        <p:nvSpPr>
          <p:cNvPr id="4" name="TextBox 3"/>
          <p:cNvSpPr txBox="1"/>
          <p:nvPr/>
        </p:nvSpPr>
        <p:spPr>
          <a:xfrm>
            <a:off x="274320" y="502920"/>
            <a:ext cx="8229600" cy="548640"/>
          </a:xfrm>
          <a:prstGeom prst="rect">
            <a:avLst/>
          </a:prstGeom>
          <a:noFill/>
        </p:spPr>
        <p:txBody>
          <a:bodyPr wrap="square">
            <a:spAutoFit/>
          </a:bodyPr>
          <a:lstStyle/>
          <a:p>
            <a:pPr algn="l"/>
            <a:r>
              <a:rPr sz="2800" b="1" i="0">
                <a:solidFill>
                  <a:srgbClr val="FFFFFF"/>
                </a:solidFill>
              </a:rPr>
              <a:t>O mercado imobiliário da</a:t>
            </a:r>
          </a:p>
        </p:txBody>
      </p:sp>
      <p:sp>
        <p:nvSpPr>
          <p:cNvPr id="5" name="TextBox 4"/>
          <p:cNvSpPr txBox="1"/>
          <p:nvPr/>
        </p:nvSpPr>
        <p:spPr>
          <a:xfrm>
            <a:off x="274320" y="1005840"/>
            <a:ext cx="10058400" cy="548640"/>
          </a:xfrm>
          <a:prstGeom prst="rect">
            <a:avLst/>
          </a:prstGeom>
          <a:noFill/>
        </p:spPr>
        <p:txBody>
          <a:bodyPr wrap="square">
            <a:spAutoFit/>
          </a:bodyPr>
          <a:lstStyle/>
          <a:p>
            <a:pPr algn="l"/>
            <a:r>
              <a:rPr sz="2800" b="1" i="0">
                <a:solidFill>
                  <a:srgbClr val="F5A623"/>
                </a:solidFill>
              </a:rPr>
              <a:t>Califórnia é vasto — e confuso.</a:t>
            </a:r>
          </a:p>
        </p:txBody>
      </p:sp>
      <p:sp>
        <p:nvSpPr>
          <p:cNvPr id="6" name="Rectangle 5"/>
          <p:cNvSpPr/>
          <p:nvPr/>
        </p:nvSpPr>
        <p:spPr>
          <a:xfrm>
            <a:off x="274320" y="1645920"/>
            <a:ext cx="11612880" cy="32004"/>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783080"/>
            <a:ext cx="11430000" cy="640080"/>
          </a:xfrm>
          <a:prstGeom prst="rect">
            <a:avLst/>
          </a:prstGeom>
          <a:noFill/>
        </p:spPr>
        <p:txBody>
          <a:bodyPr wrap="square">
            <a:spAutoFit/>
          </a:bodyPr>
          <a:lstStyle/>
          <a:p>
            <a:pPr algn="l"/>
            <a:r>
              <a:rPr sz="1200" b="0" i="0">
                <a:solidFill>
                  <a:srgbClr val="94A3B8"/>
                </a:solidFill>
              </a:rPr>
              <a:t>Com 20.640 distritos censitários espalhados por mais de 400 mil km², a Califórnia tem imóveis que variam de $77.500 a $500.000+ dentro do mesmo estado. A diferença não é aleatória — ela segue padrões claros que os dados revelam.</a:t>
            </a:r>
          </a:p>
        </p:txBody>
      </p:sp>
      <p:sp>
        <p:nvSpPr>
          <p:cNvPr id="8" name="Rectangle 7"/>
          <p:cNvSpPr/>
          <p:nvPr/>
        </p:nvSpPr>
        <p:spPr>
          <a:xfrm>
            <a:off x="365760" y="2606040"/>
            <a:ext cx="3566160" cy="3291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606040"/>
            <a:ext cx="356616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724912"/>
            <a:ext cx="3291840" cy="594360"/>
          </a:xfrm>
          <a:prstGeom prst="rect">
            <a:avLst/>
          </a:prstGeom>
          <a:noFill/>
        </p:spPr>
        <p:txBody>
          <a:bodyPr wrap="square">
            <a:spAutoFit/>
          </a:bodyPr>
          <a:lstStyle/>
          <a:p>
            <a:pPr algn="ctr"/>
            <a:r>
              <a:rPr sz="3000" b="0" i="0">
                <a:solidFill>
                  <a:srgbClr val="FFFFFF"/>
                </a:solidFill>
              </a:rPr>
              <a:t>🏡</a:t>
            </a:r>
          </a:p>
        </p:txBody>
      </p:sp>
      <p:sp>
        <p:nvSpPr>
          <p:cNvPr id="11" name="TextBox 10"/>
          <p:cNvSpPr txBox="1"/>
          <p:nvPr/>
        </p:nvSpPr>
        <p:spPr>
          <a:xfrm>
            <a:off x="475488" y="3383280"/>
            <a:ext cx="3291840" cy="365760"/>
          </a:xfrm>
          <a:prstGeom prst="rect">
            <a:avLst/>
          </a:prstGeom>
          <a:noFill/>
        </p:spPr>
        <p:txBody>
          <a:bodyPr wrap="square">
            <a:spAutoFit/>
          </a:bodyPr>
          <a:lstStyle/>
          <a:p>
            <a:pPr algn="ctr"/>
            <a:r>
              <a:rPr sz="1400" b="1" i="0">
                <a:solidFill>
                  <a:srgbClr val="F5A623"/>
                </a:solidFill>
              </a:rPr>
              <a:t>Quero comprar</a:t>
            </a:r>
          </a:p>
        </p:txBody>
      </p:sp>
      <p:sp>
        <p:nvSpPr>
          <p:cNvPr id="12" name="TextBox 11"/>
          <p:cNvSpPr txBox="1"/>
          <p:nvPr/>
        </p:nvSpPr>
        <p:spPr>
          <a:xfrm>
            <a:off x="475488" y="3822191"/>
            <a:ext cx="3337560" cy="640080"/>
          </a:xfrm>
          <a:prstGeom prst="rect">
            <a:avLst/>
          </a:prstGeom>
          <a:noFill/>
        </p:spPr>
        <p:txBody>
          <a:bodyPr wrap="square">
            <a:spAutoFit/>
          </a:bodyPr>
          <a:lstStyle/>
          <a:p>
            <a:pPr algn="ctr"/>
            <a:r>
              <a:rPr sz="1100" b="0" i="0">
                <a:solidFill>
                  <a:srgbClr val="94A3B8"/>
                </a:solidFill>
              </a:rPr>
              <a:t>Qual zona oferece melhor
custo-benefício real?</a:t>
            </a:r>
          </a:p>
        </p:txBody>
      </p:sp>
      <p:sp>
        <p:nvSpPr>
          <p:cNvPr id="13" name="Rectangle 12"/>
          <p:cNvSpPr/>
          <p:nvPr/>
        </p:nvSpPr>
        <p:spPr>
          <a:xfrm>
            <a:off x="4297680" y="2606040"/>
            <a:ext cx="3566160" cy="3291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606040"/>
            <a:ext cx="3566160" cy="6400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2724912"/>
            <a:ext cx="3291840" cy="594360"/>
          </a:xfrm>
          <a:prstGeom prst="rect">
            <a:avLst/>
          </a:prstGeom>
          <a:noFill/>
        </p:spPr>
        <p:txBody>
          <a:bodyPr wrap="square">
            <a:spAutoFit/>
          </a:bodyPr>
          <a:lstStyle/>
          <a:p>
            <a:pPr algn="ctr"/>
            <a:r>
              <a:rPr sz="3000" b="0" i="0">
                <a:solidFill>
                  <a:srgbClr val="FFFFFF"/>
                </a:solidFill>
              </a:rPr>
              <a:t>🔑</a:t>
            </a:r>
          </a:p>
        </p:txBody>
      </p:sp>
      <p:sp>
        <p:nvSpPr>
          <p:cNvPr id="16" name="TextBox 15"/>
          <p:cNvSpPr txBox="1"/>
          <p:nvPr/>
        </p:nvSpPr>
        <p:spPr>
          <a:xfrm>
            <a:off x="4407408" y="3383280"/>
            <a:ext cx="3291840" cy="365760"/>
          </a:xfrm>
          <a:prstGeom prst="rect">
            <a:avLst/>
          </a:prstGeom>
          <a:noFill/>
        </p:spPr>
        <p:txBody>
          <a:bodyPr wrap="square">
            <a:spAutoFit/>
          </a:bodyPr>
          <a:lstStyle/>
          <a:p>
            <a:pPr algn="ctr"/>
            <a:r>
              <a:rPr sz="1400" b="1" i="0">
                <a:solidFill>
                  <a:srgbClr val="0EA5E9"/>
                </a:solidFill>
              </a:rPr>
              <a:t>Quero alugar</a:t>
            </a:r>
          </a:p>
        </p:txBody>
      </p:sp>
      <p:sp>
        <p:nvSpPr>
          <p:cNvPr id="17" name="TextBox 16"/>
          <p:cNvSpPr txBox="1"/>
          <p:nvPr/>
        </p:nvSpPr>
        <p:spPr>
          <a:xfrm>
            <a:off x="4407408" y="3822191"/>
            <a:ext cx="3337560" cy="640080"/>
          </a:xfrm>
          <a:prstGeom prst="rect">
            <a:avLst/>
          </a:prstGeom>
          <a:noFill/>
        </p:spPr>
        <p:txBody>
          <a:bodyPr wrap="square">
            <a:spAutoFit/>
          </a:bodyPr>
          <a:lstStyle/>
          <a:p>
            <a:pPr algn="ctr"/>
            <a:r>
              <a:rPr sz="1100" b="0" i="0">
                <a:solidFill>
                  <a:srgbClr val="94A3B8"/>
                </a:solidFill>
              </a:rPr>
              <a:t>Onde o aluguel cabe no
orçamento sem apertar?</a:t>
            </a:r>
          </a:p>
        </p:txBody>
      </p:sp>
      <p:sp>
        <p:nvSpPr>
          <p:cNvPr id="18" name="Rectangle 17"/>
          <p:cNvSpPr/>
          <p:nvPr/>
        </p:nvSpPr>
        <p:spPr>
          <a:xfrm>
            <a:off x="8229600" y="2606040"/>
            <a:ext cx="3566160" cy="3291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2606040"/>
            <a:ext cx="3566160" cy="64008"/>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2724912"/>
            <a:ext cx="3291840" cy="594360"/>
          </a:xfrm>
          <a:prstGeom prst="rect">
            <a:avLst/>
          </a:prstGeom>
          <a:noFill/>
        </p:spPr>
        <p:txBody>
          <a:bodyPr wrap="square">
            <a:spAutoFit/>
          </a:bodyPr>
          <a:lstStyle/>
          <a:p>
            <a:pPr algn="ctr"/>
            <a:r>
              <a:rPr sz="3000" b="0" i="0">
                <a:solidFill>
                  <a:srgbClr val="FFFFFF"/>
                </a:solidFill>
              </a:rPr>
              <a:t>📈</a:t>
            </a:r>
          </a:p>
        </p:txBody>
      </p:sp>
      <p:sp>
        <p:nvSpPr>
          <p:cNvPr id="21" name="TextBox 20"/>
          <p:cNvSpPr txBox="1"/>
          <p:nvPr/>
        </p:nvSpPr>
        <p:spPr>
          <a:xfrm>
            <a:off x="8339327" y="3383280"/>
            <a:ext cx="3291840" cy="365760"/>
          </a:xfrm>
          <a:prstGeom prst="rect">
            <a:avLst/>
          </a:prstGeom>
          <a:noFill/>
        </p:spPr>
        <p:txBody>
          <a:bodyPr wrap="square">
            <a:spAutoFit/>
          </a:bodyPr>
          <a:lstStyle/>
          <a:p>
            <a:pPr algn="ctr"/>
            <a:r>
              <a:rPr sz="1400" b="1" i="0">
                <a:solidFill>
                  <a:srgbClr val="F97316"/>
                </a:solidFill>
              </a:rPr>
              <a:t>Quero investir</a:t>
            </a:r>
          </a:p>
        </p:txBody>
      </p:sp>
      <p:sp>
        <p:nvSpPr>
          <p:cNvPr id="22" name="TextBox 21"/>
          <p:cNvSpPr txBox="1"/>
          <p:nvPr/>
        </p:nvSpPr>
        <p:spPr>
          <a:xfrm>
            <a:off x="8339327" y="3822191"/>
            <a:ext cx="3337560" cy="640080"/>
          </a:xfrm>
          <a:prstGeom prst="rect">
            <a:avLst/>
          </a:prstGeom>
          <a:noFill/>
        </p:spPr>
        <p:txBody>
          <a:bodyPr wrap="square">
            <a:spAutoFit/>
          </a:bodyPr>
          <a:lstStyle/>
          <a:p>
            <a:pPr algn="ctr"/>
            <a:r>
              <a:rPr sz="1100" b="0" i="0">
                <a:solidFill>
                  <a:srgbClr val="94A3B8"/>
                </a:solidFill>
              </a:rPr>
              <a:t>Qual zona tem maior
potencial de valorização?</a:t>
            </a:r>
          </a:p>
        </p:txBody>
      </p:sp>
      <p:sp>
        <p:nvSpPr>
          <p:cNvPr id="23" name="TextBox 22"/>
          <p:cNvSpPr txBox="1"/>
          <p:nvPr/>
        </p:nvSpPr>
        <p:spPr>
          <a:xfrm>
            <a:off x="274320" y="6035040"/>
            <a:ext cx="11430000" cy="365760"/>
          </a:xfrm>
          <a:prstGeom prst="rect">
            <a:avLst/>
          </a:prstGeom>
          <a:noFill/>
        </p:spPr>
        <p:txBody>
          <a:bodyPr wrap="square">
            <a:spAutoFit/>
          </a:bodyPr>
          <a:lstStyle/>
          <a:p>
            <a:pPr algn="ctr"/>
            <a:r>
              <a:rPr sz="1100" b="0" i="1">
                <a:solidFill>
                  <a:srgbClr val="94A3B8"/>
                </a:solidFill>
              </a:rPr>
              <a:t>Este deck responde às três com dados.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0EA5E9"/>
                </a:solidFill>
              </a:rPr>
              <a:t>GUIA DAS ZONAS</a:t>
            </a:r>
          </a:p>
        </p:txBody>
      </p:sp>
      <p:sp>
        <p:nvSpPr>
          <p:cNvPr id="4" name="TextBox 3"/>
          <p:cNvSpPr txBox="1"/>
          <p:nvPr/>
        </p:nvSpPr>
        <p:spPr>
          <a:xfrm>
            <a:off x="274320" y="502920"/>
            <a:ext cx="8229600" cy="502920"/>
          </a:xfrm>
          <a:prstGeom prst="rect">
            <a:avLst/>
          </a:prstGeom>
          <a:noFill/>
        </p:spPr>
        <p:txBody>
          <a:bodyPr wrap="square">
            <a:spAutoFit/>
          </a:bodyPr>
          <a:lstStyle/>
          <a:p>
            <a:pPr algn="l"/>
            <a:r>
              <a:rPr sz="2600" b="1" i="0">
                <a:solidFill>
                  <a:srgbClr val="FFFFFF"/>
                </a:solidFill>
              </a:rPr>
              <a:t>O que significam</a:t>
            </a:r>
          </a:p>
        </p:txBody>
      </p:sp>
      <p:sp>
        <p:nvSpPr>
          <p:cNvPr id="5" name="TextBox 4"/>
          <p:cNvSpPr txBox="1"/>
          <p:nvPr/>
        </p:nvSpPr>
        <p:spPr>
          <a:xfrm>
            <a:off x="274320" y="960120"/>
            <a:ext cx="10972800" cy="502920"/>
          </a:xfrm>
          <a:prstGeom prst="rect">
            <a:avLst/>
          </a:prstGeom>
          <a:noFill/>
        </p:spPr>
        <p:txBody>
          <a:bodyPr wrap="square">
            <a:spAutoFit/>
          </a:bodyPr>
          <a:lstStyle/>
          <a:p>
            <a:pPr algn="l"/>
            <a:r>
              <a:rPr sz="2600" b="1" i="0">
                <a:solidFill>
                  <a:srgbClr val="0EA5E9"/>
                </a:solidFill>
              </a:rPr>
              <a:t>"INLAND", "NEAR BAY" e as outras zonas?</a:t>
            </a:r>
          </a:p>
        </p:txBody>
      </p:sp>
      <p:sp>
        <p:nvSpPr>
          <p:cNvPr id="6" name="Rectangle 5"/>
          <p:cNvSpPr/>
          <p:nvPr/>
        </p:nvSpPr>
        <p:spPr>
          <a:xfrm>
            <a:off x="274320" y="1554480"/>
            <a:ext cx="11612880" cy="3200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664208"/>
            <a:ext cx="11430000" cy="411480"/>
          </a:xfrm>
          <a:prstGeom prst="rect">
            <a:avLst/>
          </a:prstGeom>
          <a:noFill/>
        </p:spPr>
        <p:txBody>
          <a:bodyPr wrap="square">
            <a:spAutoFit/>
          </a:bodyPr>
          <a:lstStyle/>
          <a:p>
            <a:pPr algn="l"/>
            <a:r>
              <a:rPr sz="1100" b="0" i="0">
                <a:solidFill>
                  <a:srgbClr val="94A3B8"/>
                </a:solidFill>
              </a:rPr>
              <a:t>O dataset classifica cada distrito conforme sua proximidade geográfica à água. Entender essa classificação é fundamental para interpretar os preços.</a:t>
            </a:r>
          </a:p>
        </p:txBody>
      </p:sp>
      <p:sp>
        <p:nvSpPr>
          <p:cNvPr id="8" name="Rectangle 7"/>
          <p:cNvSpPr/>
          <p:nvPr/>
        </p:nvSpPr>
        <p:spPr>
          <a:xfrm>
            <a:off x="274320" y="2194560"/>
            <a:ext cx="11612880" cy="804672"/>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2194560"/>
            <a:ext cx="64008" cy="80467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258568"/>
            <a:ext cx="2011680" cy="685800"/>
          </a:xfrm>
          <a:prstGeom prst="rect">
            <a:avLst/>
          </a:prstGeom>
          <a:noFill/>
        </p:spPr>
        <p:txBody>
          <a:bodyPr wrap="square">
            <a:spAutoFit/>
          </a:bodyPr>
          <a:lstStyle/>
          <a:p>
            <a:pPr algn="l"/>
            <a:r>
              <a:rPr sz="900" b="1" i="0">
                <a:solidFill>
                  <a:srgbClr val="F43F5E"/>
                </a:solidFill>
              </a:rPr>
              <a:t>🏝️  ISLAND
Ilha</a:t>
            </a:r>
          </a:p>
        </p:txBody>
      </p:sp>
      <p:sp>
        <p:nvSpPr>
          <p:cNvPr id="11" name="TextBox 10"/>
          <p:cNvSpPr txBox="1"/>
          <p:nvPr/>
        </p:nvSpPr>
        <p:spPr>
          <a:xfrm>
            <a:off x="2514600" y="2258568"/>
            <a:ext cx="6675120" cy="685800"/>
          </a:xfrm>
          <a:prstGeom prst="rect">
            <a:avLst/>
          </a:prstGeom>
          <a:noFill/>
        </p:spPr>
        <p:txBody>
          <a:bodyPr wrap="square">
            <a:spAutoFit/>
          </a:bodyPr>
          <a:lstStyle/>
          <a:p>
            <a:pPr algn="l"/>
            <a:r>
              <a:rPr sz="850" b="0" i="0">
                <a:solidFill>
                  <a:srgbClr val="94A3B8"/>
                </a:solidFill>
              </a:rPr>
              <a:t>Os 5 distritos das Ilhas Channel, ao largo de Santa Bárbara. Território isolado, acessado por barco ou avião. Imóveis de luxo extremo, quase sem mercado de revenda. Uma curiosidade estatística mais do que uma opção real.</a:t>
            </a:r>
          </a:p>
        </p:txBody>
      </p:sp>
      <p:sp>
        <p:nvSpPr>
          <p:cNvPr id="12" name="TextBox 11"/>
          <p:cNvSpPr txBox="1"/>
          <p:nvPr/>
        </p:nvSpPr>
        <p:spPr>
          <a:xfrm>
            <a:off x="9235440" y="2258568"/>
            <a:ext cx="2560320" cy="685800"/>
          </a:xfrm>
          <a:prstGeom prst="rect">
            <a:avLst/>
          </a:prstGeom>
          <a:noFill/>
        </p:spPr>
        <p:txBody>
          <a:bodyPr wrap="square">
            <a:spAutoFit/>
          </a:bodyPr>
          <a:lstStyle/>
          <a:p>
            <a:pPr algn="l"/>
            <a:r>
              <a:rPr sz="850" b="1" i="0">
                <a:solidFill>
                  <a:srgbClr val="FFFFFF"/>
                </a:solidFill>
              </a:rPr>
              <a:t>Valor mediano: $414.700
5 distritos apenas</a:t>
            </a:r>
          </a:p>
        </p:txBody>
      </p:sp>
      <p:sp>
        <p:nvSpPr>
          <p:cNvPr id="13" name="Rectangle 12"/>
          <p:cNvSpPr/>
          <p:nvPr/>
        </p:nvSpPr>
        <p:spPr>
          <a:xfrm>
            <a:off x="274320" y="3081528"/>
            <a:ext cx="11612880" cy="804672"/>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3081528"/>
            <a:ext cx="64008" cy="80467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145536"/>
            <a:ext cx="2011680" cy="685800"/>
          </a:xfrm>
          <a:prstGeom prst="rect">
            <a:avLst/>
          </a:prstGeom>
          <a:noFill/>
        </p:spPr>
        <p:txBody>
          <a:bodyPr wrap="square">
            <a:spAutoFit/>
          </a:bodyPr>
          <a:lstStyle/>
          <a:p>
            <a:pPr algn="l"/>
            <a:r>
              <a:rPr sz="900" b="1" i="0">
                <a:solidFill>
                  <a:srgbClr val="A78BFA"/>
                </a:solidFill>
              </a:rPr>
              <a:t>🌉  NEAR BAY
Próximo à Baía</a:t>
            </a:r>
          </a:p>
        </p:txBody>
      </p:sp>
      <p:sp>
        <p:nvSpPr>
          <p:cNvPr id="16" name="TextBox 15"/>
          <p:cNvSpPr txBox="1"/>
          <p:nvPr/>
        </p:nvSpPr>
        <p:spPr>
          <a:xfrm>
            <a:off x="2514600" y="3145536"/>
            <a:ext cx="6675120" cy="685800"/>
          </a:xfrm>
          <a:prstGeom prst="rect">
            <a:avLst/>
          </a:prstGeom>
          <a:noFill/>
        </p:spPr>
        <p:txBody>
          <a:bodyPr wrap="square">
            <a:spAutoFit/>
          </a:bodyPr>
          <a:lstStyle/>
          <a:p>
            <a:pPr algn="l"/>
            <a:r>
              <a:rPr sz="850" b="0" i="0">
                <a:solidFill>
                  <a:srgbClr val="94A3B8"/>
                </a:solidFill>
              </a:rPr>
              <a:t>Distritos à beira da Baía de São Francisco — não do Oceano Pacífico. Inclui São Francisco, Oakland, Berkeley, Palo Alto e cidades do Vale do Silício. A região tecnológica mais cara dos EUA. Alta densidade, trânsito intenso, salários altíssimos.</a:t>
            </a:r>
          </a:p>
        </p:txBody>
      </p:sp>
      <p:sp>
        <p:nvSpPr>
          <p:cNvPr id="17" name="TextBox 16"/>
          <p:cNvSpPr txBox="1"/>
          <p:nvPr/>
        </p:nvSpPr>
        <p:spPr>
          <a:xfrm>
            <a:off x="9235440" y="3145536"/>
            <a:ext cx="2560320" cy="685800"/>
          </a:xfrm>
          <a:prstGeom prst="rect">
            <a:avLst/>
          </a:prstGeom>
          <a:noFill/>
        </p:spPr>
        <p:txBody>
          <a:bodyPr wrap="square">
            <a:spAutoFit/>
          </a:bodyPr>
          <a:lstStyle/>
          <a:p>
            <a:pPr algn="l"/>
            <a:r>
              <a:rPr sz="850" b="1" i="0">
                <a:solidFill>
                  <a:srgbClr val="FFFFFF"/>
                </a:solidFill>
              </a:rPr>
              <a:t>Valor mediano: $233.800
2.290 distritos — SF Bay Area</a:t>
            </a:r>
          </a:p>
        </p:txBody>
      </p:sp>
      <p:sp>
        <p:nvSpPr>
          <p:cNvPr id="18" name="Rectangle 17"/>
          <p:cNvSpPr/>
          <p:nvPr/>
        </p:nvSpPr>
        <p:spPr>
          <a:xfrm>
            <a:off x="274320" y="3968496"/>
            <a:ext cx="11612880" cy="804672"/>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968496"/>
            <a:ext cx="64008" cy="80467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032504"/>
            <a:ext cx="2011680" cy="685800"/>
          </a:xfrm>
          <a:prstGeom prst="rect">
            <a:avLst/>
          </a:prstGeom>
          <a:noFill/>
        </p:spPr>
        <p:txBody>
          <a:bodyPr wrap="square">
            <a:spAutoFit/>
          </a:bodyPr>
          <a:lstStyle/>
          <a:p>
            <a:pPr algn="l"/>
            <a:r>
              <a:rPr sz="900" b="1" i="0">
                <a:solidFill>
                  <a:srgbClr val="0EA5E9"/>
                </a:solidFill>
              </a:rPr>
              <a:t>🌊  NEAR OCEAN
Próximo ao Oceano</a:t>
            </a:r>
          </a:p>
        </p:txBody>
      </p:sp>
      <p:sp>
        <p:nvSpPr>
          <p:cNvPr id="21" name="TextBox 20"/>
          <p:cNvSpPr txBox="1"/>
          <p:nvPr/>
        </p:nvSpPr>
        <p:spPr>
          <a:xfrm>
            <a:off x="2514600" y="4032504"/>
            <a:ext cx="6675120" cy="685800"/>
          </a:xfrm>
          <a:prstGeom prst="rect">
            <a:avLst/>
          </a:prstGeom>
          <a:noFill/>
        </p:spPr>
        <p:txBody>
          <a:bodyPr wrap="square">
            <a:spAutoFit/>
          </a:bodyPr>
          <a:lstStyle/>
          <a:p>
            <a:pPr algn="l"/>
            <a:r>
              <a:rPr sz="850" b="0" i="0">
                <a:solidFill>
                  <a:srgbClr val="94A3B8"/>
                </a:solidFill>
              </a:rPr>
              <a:t>Distritos com acesso direto ao Oceano Pacífico: Santa Cruz, Monterey, Malibu, Santa Bárbara, Half Moon Bay. Paisagem deslumbrante, clima ameno o ano todo. Premium pela natureza, não pelo emprego — ideal para qualidade de vida.</a:t>
            </a:r>
          </a:p>
        </p:txBody>
      </p:sp>
      <p:sp>
        <p:nvSpPr>
          <p:cNvPr id="22" name="TextBox 21"/>
          <p:cNvSpPr txBox="1"/>
          <p:nvPr/>
        </p:nvSpPr>
        <p:spPr>
          <a:xfrm>
            <a:off x="9235440" y="4032504"/>
            <a:ext cx="2560320" cy="685800"/>
          </a:xfrm>
          <a:prstGeom prst="rect">
            <a:avLst/>
          </a:prstGeom>
          <a:noFill/>
        </p:spPr>
        <p:txBody>
          <a:bodyPr wrap="square">
            <a:spAutoFit/>
          </a:bodyPr>
          <a:lstStyle/>
          <a:p>
            <a:pPr algn="l"/>
            <a:r>
              <a:rPr sz="850" b="1" i="0">
                <a:solidFill>
                  <a:srgbClr val="FFFFFF"/>
                </a:solidFill>
              </a:rPr>
              <a:t>Valor mediano: $229.450
2.658 distritos — litoral pacífico</a:t>
            </a:r>
          </a:p>
        </p:txBody>
      </p:sp>
      <p:sp>
        <p:nvSpPr>
          <p:cNvPr id="23" name="Rectangle 22"/>
          <p:cNvSpPr/>
          <p:nvPr/>
        </p:nvSpPr>
        <p:spPr>
          <a:xfrm>
            <a:off x="274320" y="4855464"/>
            <a:ext cx="11612880" cy="804672"/>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4855464"/>
            <a:ext cx="64008" cy="80467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919472"/>
            <a:ext cx="2011680" cy="685800"/>
          </a:xfrm>
          <a:prstGeom prst="rect">
            <a:avLst/>
          </a:prstGeom>
          <a:noFill/>
        </p:spPr>
        <p:txBody>
          <a:bodyPr wrap="square">
            <a:spAutoFit/>
          </a:bodyPr>
          <a:lstStyle/>
          <a:p>
            <a:pPr algn="l"/>
            <a:r>
              <a:rPr sz="900" b="1" i="0">
                <a:solidFill>
                  <a:srgbClr val="34D399"/>
                </a:solidFill>
              </a:rPr>
              <a:t>🚗  &lt;1H OCEAN
Menos de 1h do Oceano</a:t>
            </a:r>
          </a:p>
        </p:txBody>
      </p:sp>
      <p:sp>
        <p:nvSpPr>
          <p:cNvPr id="26" name="TextBox 25"/>
          <p:cNvSpPr txBox="1"/>
          <p:nvPr/>
        </p:nvSpPr>
        <p:spPr>
          <a:xfrm>
            <a:off x="2514600" y="4919472"/>
            <a:ext cx="6675120" cy="685800"/>
          </a:xfrm>
          <a:prstGeom prst="rect">
            <a:avLst/>
          </a:prstGeom>
          <a:noFill/>
        </p:spPr>
        <p:txBody>
          <a:bodyPr wrap="square">
            <a:spAutoFit/>
          </a:bodyPr>
          <a:lstStyle/>
          <a:p>
            <a:pPr algn="l"/>
            <a:r>
              <a:rPr sz="850" b="0" i="0">
                <a:solidFill>
                  <a:srgbClr val="94A3B8"/>
                </a:solidFill>
              </a:rPr>
              <a:t>Distritos a até 60 minutos de carro da costa, mas sem acesso direto. A maior zona do dataset. Abrange subúrbios de Los Angeles (Riverside, San Bernardino), East Bay (Oakland, Fremont), Sacramento e Silicon Valley interior. O equilíbrio entre acesso e custo — a escolha da maioria das famílias californianas.</a:t>
            </a:r>
          </a:p>
        </p:txBody>
      </p:sp>
      <p:sp>
        <p:nvSpPr>
          <p:cNvPr id="27" name="TextBox 26"/>
          <p:cNvSpPr txBox="1"/>
          <p:nvPr/>
        </p:nvSpPr>
        <p:spPr>
          <a:xfrm>
            <a:off x="9235440" y="4919472"/>
            <a:ext cx="2560320" cy="685800"/>
          </a:xfrm>
          <a:prstGeom prst="rect">
            <a:avLst/>
          </a:prstGeom>
          <a:noFill/>
        </p:spPr>
        <p:txBody>
          <a:bodyPr wrap="square">
            <a:spAutoFit/>
          </a:bodyPr>
          <a:lstStyle/>
          <a:p>
            <a:pPr algn="l"/>
            <a:r>
              <a:rPr sz="850" b="1" i="0">
                <a:solidFill>
                  <a:srgbClr val="FFFFFF"/>
                </a:solidFill>
              </a:rPr>
              <a:t>Valor mediano: $214.850
9.136 distritos — a maior zona</a:t>
            </a:r>
          </a:p>
        </p:txBody>
      </p:sp>
      <p:sp>
        <p:nvSpPr>
          <p:cNvPr id="28" name="Rectangle 27"/>
          <p:cNvSpPr/>
          <p:nvPr/>
        </p:nvSpPr>
        <p:spPr>
          <a:xfrm>
            <a:off x="274320" y="5742431"/>
            <a:ext cx="11612880" cy="804672"/>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5742431"/>
            <a:ext cx="64008" cy="8046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806440"/>
            <a:ext cx="2011680" cy="685800"/>
          </a:xfrm>
          <a:prstGeom prst="rect">
            <a:avLst/>
          </a:prstGeom>
          <a:noFill/>
        </p:spPr>
        <p:txBody>
          <a:bodyPr wrap="square">
            <a:spAutoFit/>
          </a:bodyPr>
          <a:lstStyle/>
          <a:p>
            <a:pPr algn="l"/>
            <a:r>
              <a:rPr sz="900" b="1" i="0">
                <a:solidFill>
                  <a:srgbClr val="F5A623"/>
                </a:solidFill>
              </a:rPr>
              <a:t>🏜️  INLAND
Interior</a:t>
            </a:r>
          </a:p>
        </p:txBody>
      </p:sp>
      <p:sp>
        <p:nvSpPr>
          <p:cNvPr id="31" name="TextBox 30"/>
          <p:cNvSpPr txBox="1"/>
          <p:nvPr/>
        </p:nvSpPr>
        <p:spPr>
          <a:xfrm>
            <a:off x="2514600" y="5806440"/>
            <a:ext cx="6675120" cy="685800"/>
          </a:xfrm>
          <a:prstGeom prst="rect">
            <a:avLst/>
          </a:prstGeom>
          <a:noFill/>
        </p:spPr>
        <p:txBody>
          <a:bodyPr wrap="square">
            <a:spAutoFit/>
          </a:bodyPr>
          <a:lstStyle/>
          <a:p>
            <a:pPr algn="l"/>
            <a:r>
              <a:rPr sz="850" b="0" i="0">
                <a:solidFill>
                  <a:srgbClr val="94A3B8"/>
                </a:solidFill>
              </a:rPr>
              <a:t>Distritos a mais de 1 hora do oceano. O coração agrícola da Califórnia: Vale de San Joaquin, Vale Sacramento, Bakersfield, Fresno, Modesto, Stockton. Clima extremo (verões de 40°C+), menor IDH, mas o imóvel mais acessível do estado. O ponto de entrada para quem quer construir patrimônio com renda modesta.</a:t>
            </a:r>
          </a:p>
        </p:txBody>
      </p:sp>
      <p:sp>
        <p:nvSpPr>
          <p:cNvPr id="32" name="TextBox 31"/>
          <p:cNvSpPr txBox="1"/>
          <p:nvPr/>
        </p:nvSpPr>
        <p:spPr>
          <a:xfrm>
            <a:off x="9235440" y="5806440"/>
            <a:ext cx="2560320" cy="685800"/>
          </a:xfrm>
          <a:prstGeom prst="rect">
            <a:avLst/>
          </a:prstGeom>
          <a:noFill/>
        </p:spPr>
        <p:txBody>
          <a:bodyPr wrap="square">
            <a:spAutoFit/>
          </a:bodyPr>
          <a:lstStyle/>
          <a:p>
            <a:pPr algn="l"/>
            <a:r>
              <a:rPr sz="850" b="1" i="0">
                <a:solidFill>
                  <a:srgbClr val="FFFFFF"/>
                </a:solidFill>
              </a:rPr>
              <a:t>Valor mediano: $108.500
6.551 distritos — o interior agrícola</a:t>
            </a:r>
          </a:p>
        </p:txBody>
      </p:sp>
      <p:sp>
        <p:nvSpPr>
          <p:cNvPr id="33" name="Rectangle 32"/>
          <p:cNvSpPr/>
          <p:nvPr/>
        </p:nvSpPr>
        <p:spPr>
          <a:xfrm>
            <a:off x="274320"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364224"/>
            <a:ext cx="2249424" cy="256032"/>
          </a:xfrm>
          <a:prstGeom prst="rect">
            <a:avLst/>
          </a:prstGeom>
          <a:noFill/>
        </p:spPr>
        <p:txBody>
          <a:bodyPr wrap="square">
            <a:spAutoFit/>
          </a:bodyPr>
          <a:lstStyle/>
          <a:p>
            <a:pPr algn="ctr"/>
            <a:r>
              <a:rPr sz="700" b="0" i="0">
                <a:solidFill>
                  <a:srgbClr val="94A3B8"/>
                </a:solidFill>
              </a:rPr>
              <a:t>Interior</a:t>
            </a:r>
          </a:p>
        </p:txBody>
      </p:sp>
      <p:sp>
        <p:nvSpPr>
          <p:cNvPr id="35" name="Rectangle 34"/>
          <p:cNvSpPr/>
          <p:nvPr/>
        </p:nvSpPr>
        <p:spPr>
          <a:xfrm>
            <a:off x="2596896"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42615" y="6364224"/>
            <a:ext cx="2249424" cy="256032"/>
          </a:xfrm>
          <a:prstGeom prst="rect">
            <a:avLst/>
          </a:prstGeom>
          <a:noFill/>
        </p:spPr>
        <p:txBody>
          <a:bodyPr wrap="square">
            <a:spAutoFit/>
          </a:bodyPr>
          <a:lstStyle/>
          <a:p>
            <a:pPr algn="ctr"/>
            <a:r>
              <a:rPr sz="700" b="0" i="0">
                <a:solidFill>
                  <a:srgbClr val="94A3B8"/>
                </a:solidFill>
              </a:rPr>
              <a:t>&lt;1h Oceano</a:t>
            </a:r>
          </a:p>
        </p:txBody>
      </p:sp>
      <p:sp>
        <p:nvSpPr>
          <p:cNvPr id="37" name="Rectangle 36"/>
          <p:cNvSpPr/>
          <p:nvPr/>
        </p:nvSpPr>
        <p:spPr>
          <a:xfrm>
            <a:off x="4919472"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65192" y="6364224"/>
            <a:ext cx="2249424" cy="256032"/>
          </a:xfrm>
          <a:prstGeom prst="rect">
            <a:avLst/>
          </a:prstGeom>
          <a:noFill/>
        </p:spPr>
        <p:txBody>
          <a:bodyPr wrap="square">
            <a:spAutoFit/>
          </a:bodyPr>
          <a:lstStyle/>
          <a:p>
            <a:pPr algn="ctr"/>
            <a:r>
              <a:rPr sz="700" b="0" i="0">
                <a:solidFill>
                  <a:srgbClr val="94A3B8"/>
                </a:solidFill>
              </a:rPr>
              <a:t>Próx. Oceano</a:t>
            </a:r>
          </a:p>
        </p:txBody>
      </p:sp>
      <p:sp>
        <p:nvSpPr>
          <p:cNvPr id="39" name="Rectangle 38"/>
          <p:cNvSpPr/>
          <p:nvPr/>
        </p:nvSpPr>
        <p:spPr>
          <a:xfrm>
            <a:off x="7242048"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87768" y="6364224"/>
            <a:ext cx="2249424" cy="256032"/>
          </a:xfrm>
          <a:prstGeom prst="rect">
            <a:avLst/>
          </a:prstGeom>
          <a:noFill/>
        </p:spPr>
        <p:txBody>
          <a:bodyPr wrap="square">
            <a:spAutoFit/>
          </a:bodyPr>
          <a:lstStyle/>
          <a:p>
            <a:pPr algn="ctr"/>
            <a:r>
              <a:rPr sz="700" b="0" i="0">
                <a:solidFill>
                  <a:srgbClr val="94A3B8"/>
                </a:solidFill>
              </a:rPr>
              <a:t>Próx. Baía</a:t>
            </a:r>
          </a:p>
        </p:txBody>
      </p:sp>
      <p:sp>
        <p:nvSpPr>
          <p:cNvPr id="41" name="Rectangle 40"/>
          <p:cNvSpPr/>
          <p:nvPr/>
        </p:nvSpPr>
        <p:spPr>
          <a:xfrm>
            <a:off x="9564624"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10344" y="6364224"/>
            <a:ext cx="2249424" cy="256032"/>
          </a:xfrm>
          <a:prstGeom prst="rect">
            <a:avLst/>
          </a:prstGeom>
          <a:noFill/>
        </p:spPr>
        <p:txBody>
          <a:bodyPr wrap="square">
            <a:spAutoFit/>
          </a:bodyPr>
          <a:lstStyle/>
          <a:p>
            <a:pPr algn="ctr"/>
            <a:r>
              <a:rPr sz="700" b="0" i="0">
                <a:solidFill>
                  <a:srgbClr val="94A3B8"/>
                </a:solidFill>
              </a:rPr>
              <a:t>Ilha</a:t>
            </a:r>
          </a:p>
        </p:txBody>
      </p:sp>
      <p:sp>
        <p:nvSpPr>
          <p:cNvPr id="43" name="Rectangle 42"/>
          <p:cNvSpPr/>
          <p:nvPr/>
        </p:nvSpPr>
        <p:spPr>
          <a:xfrm>
            <a:off x="274320" y="6309360"/>
            <a:ext cx="11612880"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6309360"/>
            <a:ext cx="2322576"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0040" y="6364224"/>
            <a:ext cx="2249424" cy="256032"/>
          </a:xfrm>
          <a:prstGeom prst="rect">
            <a:avLst/>
          </a:prstGeom>
          <a:noFill/>
        </p:spPr>
        <p:txBody>
          <a:bodyPr wrap="square">
            <a:spAutoFit/>
          </a:bodyPr>
          <a:lstStyle/>
          <a:p>
            <a:pPr algn="ctr"/>
            <a:r>
              <a:rPr sz="800" b="1" i="0">
                <a:solidFill>
                  <a:srgbClr val="0E1117"/>
                </a:solidFill>
              </a:rPr>
              <a:t>Interior</a:t>
            </a:r>
          </a:p>
        </p:txBody>
      </p:sp>
      <p:sp>
        <p:nvSpPr>
          <p:cNvPr id="46" name="Rectangle 45"/>
          <p:cNvSpPr/>
          <p:nvPr/>
        </p:nvSpPr>
        <p:spPr>
          <a:xfrm>
            <a:off x="2596896" y="6309360"/>
            <a:ext cx="2322576" cy="34747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42616" y="6364224"/>
            <a:ext cx="2249424" cy="256032"/>
          </a:xfrm>
          <a:prstGeom prst="rect">
            <a:avLst/>
          </a:prstGeom>
          <a:noFill/>
        </p:spPr>
        <p:txBody>
          <a:bodyPr wrap="square">
            <a:spAutoFit/>
          </a:bodyPr>
          <a:lstStyle/>
          <a:p>
            <a:pPr algn="ctr"/>
            <a:r>
              <a:rPr sz="800" b="1" i="0">
                <a:solidFill>
                  <a:srgbClr val="0E1117"/>
                </a:solidFill>
              </a:rPr>
              <a:t>&lt;1h Oceano</a:t>
            </a:r>
          </a:p>
        </p:txBody>
      </p:sp>
      <p:sp>
        <p:nvSpPr>
          <p:cNvPr id="48" name="Rectangle 47"/>
          <p:cNvSpPr/>
          <p:nvPr/>
        </p:nvSpPr>
        <p:spPr>
          <a:xfrm>
            <a:off x="4919472" y="6309360"/>
            <a:ext cx="2322576" cy="34747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965192" y="6364224"/>
            <a:ext cx="2249424" cy="256032"/>
          </a:xfrm>
          <a:prstGeom prst="rect">
            <a:avLst/>
          </a:prstGeom>
          <a:noFill/>
        </p:spPr>
        <p:txBody>
          <a:bodyPr wrap="square">
            <a:spAutoFit/>
          </a:bodyPr>
          <a:lstStyle/>
          <a:p>
            <a:pPr algn="ctr"/>
            <a:r>
              <a:rPr sz="800" b="1" i="0">
                <a:solidFill>
                  <a:srgbClr val="0E1117"/>
                </a:solidFill>
              </a:rPr>
              <a:t>Próx. Oceano</a:t>
            </a:r>
          </a:p>
        </p:txBody>
      </p:sp>
      <p:sp>
        <p:nvSpPr>
          <p:cNvPr id="50" name="Rectangle 49"/>
          <p:cNvSpPr/>
          <p:nvPr/>
        </p:nvSpPr>
        <p:spPr>
          <a:xfrm>
            <a:off x="7242048" y="6309360"/>
            <a:ext cx="2322576" cy="34747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87768" y="6364224"/>
            <a:ext cx="2249424" cy="256032"/>
          </a:xfrm>
          <a:prstGeom prst="rect">
            <a:avLst/>
          </a:prstGeom>
          <a:noFill/>
        </p:spPr>
        <p:txBody>
          <a:bodyPr wrap="square">
            <a:spAutoFit/>
          </a:bodyPr>
          <a:lstStyle/>
          <a:p>
            <a:pPr algn="ctr"/>
            <a:r>
              <a:rPr sz="800" b="1" i="0">
                <a:solidFill>
                  <a:srgbClr val="0E1117"/>
                </a:solidFill>
              </a:rPr>
              <a:t>Próx. Baía</a:t>
            </a:r>
          </a:p>
        </p:txBody>
      </p:sp>
      <p:sp>
        <p:nvSpPr>
          <p:cNvPr id="52" name="Rectangle 51"/>
          <p:cNvSpPr/>
          <p:nvPr/>
        </p:nvSpPr>
        <p:spPr>
          <a:xfrm>
            <a:off x="9564624" y="6309360"/>
            <a:ext cx="2322576" cy="34747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10344" y="6364224"/>
            <a:ext cx="2249424" cy="256032"/>
          </a:xfrm>
          <a:prstGeom prst="rect">
            <a:avLst/>
          </a:prstGeom>
          <a:noFill/>
        </p:spPr>
        <p:txBody>
          <a:bodyPr wrap="square">
            <a:spAutoFit/>
          </a:bodyPr>
          <a:lstStyle/>
          <a:p>
            <a:pPr algn="ctr"/>
            <a:r>
              <a:rPr sz="800" b="1" i="0">
                <a:solidFill>
                  <a:srgbClr val="0E1117"/>
                </a:solidFill>
              </a:rPr>
              <a:t>Ilha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F97316"/>
                </a:solidFill>
              </a:rPr>
              <a:t>PANORAMA GERAL</a:t>
            </a:r>
          </a:p>
        </p:txBody>
      </p:sp>
      <p:sp>
        <p:nvSpPr>
          <p:cNvPr id="4" name="TextBox 3"/>
          <p:cNvSpPr txBox="1"/>
          <p:nvPr/>
        </p:nvSpPr>
        <p:spPr>
          <a:xfrm>
            <a:off x="274320" y="502920"/>
            <a:ext cx="7315200" cy="502920"/>
          </a:xfrm>
          <a:prstGeom prst="rect">
            <a:avLst/>
          </a:prstGeom>
          <a:noFill/>
        </p:spPr>
        <p:txBody>
          <a:bodyPr wrap="square">
            <a:spAutoFit/>
          </a:bodyPr>
          <a:lstStyle/>
          <a:p>
            <a:pPr algn="l"/>
            <a:r>
              <a:rPr sz="2600" b="1" i="0">
                <a:solidFill>
                  <a:srgbClr val="FFFFFF"/>
                </a:solidFill>
              </a:rPr>
              <a:t>20.640 distritos.</a:t>
            </a:r>
          </a:p>
        </p:txBody>
      </p:sp>
      <p:sp>
        <p:nvSpPr>
          <p:cNvPr id="5" name="TextBox 4"/>
          <p:cNvSpPr txBox="1"/>
          <p:nvPr/>
        </p:nvSpPr>
        <p:spPr>
          <a:xfrm>
            <a:off x="274320" y="960120"/>
            <a:ext cx="8229600" cy="457200"/>
          </a:xfrm>
          <a:prstGeom prst="rect">
            <a:avLst/>
          </a:prstGeom>
          <a:noFill/>
        </p:spPr>
        <p:txBody>
          <a:bodyPr wrap="square">
            <a:spAutoFit/>
          </a:bodyPr>
          <a:lstStyle/>
          <a:p>
            <a:pPr algn="l"/>
            <a:r>
              <a:rPr sz="2200" b="1" i="0">
                <a:solidFill>
                  <a:srgbClr val="F97316"/>
                </a:solidFill>
              </a:rPr>
              <a:t>O que os números revelam?</a:t>
            </a:r>
          </a:p>
        </p:txBody>
      </p:sp>
      <p:sp>
        <p:nvSpPr>
          <p:cNvPr id="6" name="Rectangle 5"/>
          <p:cNvSpPr/>
          <p:nvPr/>
        </p:nvSpPr>
        <p:spPr>
          <a:xfrm>
            <a:off x="274320" y="1536192"/>
            <a:ext cx="11612880" cy="3200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691640"/>
            <a:ext cx="2651760" cy="114300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691640"/>
            <a:ext cx="50292" cy="1143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764792"/>
            <a:ext cx="2468879" cy="502920"/>
          </a:xfrm>
          <a:prstGeom prst="rect">
            <a:avLst/>
          </a:prstGeom>
          <a:noFill/>
        </p:spPr>
        <p:txBody>
          <a:bodyPr wrap="square">
            <a:spAutoFit/>
          </a:bodyPr>
          <a:lstStyle/>
          <a:p>
            <a:pPr algn="l"/>
            <a:r>
              <a:rPr sz="2600" b="1" i="0">
                <a:solidFill>
                  <a:srgbClr val="F5A623"/>
                </a:solidFill>
              </a:rPr>
              <a:t>$179.700</a:t>
            </a:r>
          </a:p>
        </p:txBody>
      </p:sp>
      <p:sp>
        <p:nvSpPr>
          <p:cNvPr id="10" name="TextBox 9"/>
          <p:cNvSpPr txBox="1"/>
          <p:nvPr/>
        </p:nvSpPr>
        <p:spPr>
          <a:xfrm>
            <a:off x="402336" y="2258568"/>
            <a:ext cx="2468879" cy="292608"/>
          </a:xfrm>
          <a:prstGeom prst="rect">
            <a:avLst/>
          </a:prstGeom>
          <a:noFill/>
        </p:spPr>
        <p:txBody>
          <a:bodyPr wrap="square">
            <a:spAutoFit/>
          </a:bodyPr>
          <a:lstStyle/>
          <a:p>
            <a:pPr algn="l"/>
            <a:r>
              <a:rPr sz="900" b="0" i="0">
                <a:solidFill>
                  <a:srgbClr val="94A3B8"/>
                </a:solidFill>
              </a:rPr>
              <a:t>Valor mediano geral</a:t>
            </a:r>
          </a:p>
        </p:txBody>
      </p:sp>
      <p:sp>
        <p:nvSpPr>
          <p:cNvPr id="11" name="TextBox 10"/>
          <p:cNvSpPr txBox="1"/>
          <p:nvPr/>
        </p:nvSpPr>
        <p:spPr>
          <a:xfrm>
            <a:off x="402336" y="2514600"/>
            <a:ext cx="2468879" cy="256032"/>
          </a:xfrm>
          <a:prstGeom prst="rect">
            <a:avLst/>
          </a:prstGeom>
          <a:noFill/>
        </p:spPr>
        <p:txBody>
          <a:bodyPr wrap="square">
            <a:spAutoFit/>
          </a:bodyPr>
          <a:lstStyle/>
          <a:p>
            <a:pPr algn="l"/>
            <a:r>
              <a:rPr sz="800" b="0" i="1">
                <a:solidFill>
                  <a:srgbClr val="94A3B8"/>
                </a:solidFill>
              </a:rPr>
              <a:t>20.640 distritos</a:t>
            </a:r>
          </a:p>
        </p:txBody>
      </p:sp>
      <p:sp>
        <p:nvSpPr>
          <p:cNvPr id="12" name="Rectangle 11"/>
          <p:cNvSpPr/>
          <p:nvPr/>
        </p:nvSpPr>
        <p:spPr>
          <a:xfrm>
            <a:off x="3063240" y="1691640"/>
            <a:ext cx="2651760" cy="114300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63240" y="1691640"/>
            <a:ext cx="50292" cy="1143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91256" y="1764792"/>
            <a:ext cx="2468879" cy="502920"/>
          </a:xfrm>
          <a:prstGeom prst="rect">
            <a:avLst/>
          </a:prstGeom>
          <a:noFill/>
        </p:spPr>
        <p:txBody>
          <a:bodyPr wrap="square">
            <a:spAutoFit/>
          </a:bodyPr>
          <a:lstStyle/>
          <a:p>
            <a:pPr algn="l"/>
            <a:r>
              <a:rPr sz="2600" b="1" i="0">
                <a:solidFill>
                  <a:srgbClr val="34D399"/>
                </a:solidFill>
              </a:rPr>
              <a:t>$35.300</a:t>
            </a:r>
          </a:p>
        </p:txBody>
      </p:sp>
      <p:sp>
        <p:nvSpPr>
          <p:cNvPr id="15" name="TextBox 14"/>
          <p:cNvSpPr txBox="1"/>
          <p:nvPr/>
        </p:nvSpPr>
        <p:spPr>
          <a:xfrm>
            <a:off x="3191256" y="2258568"/>
            <a:ext cx="2468879" cy="292608"/>
          </a:xfrm>
          <a:prstGeom prst="rect">
            <a:avLst/>
          </a:prstGeom>
          <a:noFill/>
        </p:spPr>
        <p:txBody>
          <a:bodyPr wrap="square">
            <a:spAutoFit/>
          </a:bodyPr>
          <a:lstStyle/>
          <a:p>
            <a:pPr algn="l"/>
            <a:r>
              <a:rPr sz="900" b="0" i="0">
                <a:solidFill>
                  <a:srgbClr val="94A3B8"/>
                </a:solidFill>
              </a:rPr>
              <a:t>Renda familiar mediana/ano</a:t>
            </a:r>
          </a:p>
        </p:txBody>
      </p:sp>
      <p:sp>
        <p:nvSpPr>
          <p:cNvPr id="16" name="TextBox 15"/>
          <p:cNvSpPr txBox="1"/>
          <p:nvPr/>
        </p:nvSpPr>
        <p:spPr>
          <a:xfrm>
            <a:off x="3191256" y="2514600"/>
            <a:ext cx="2468879" cy="256032"/>
          </a:xfrm>
          <a:prstGeom prst="rect">
            <a:avLst/>
          </a:prstGeom>
          <a:noFill/>
        </p:spPr>
        <p:txBody>
          <a:bodyPr wrap="square">
            <a:spAutoFit/>
          </a:bodyPr>
          <a:lstStyle/>
          <a:p>
            <a:pPr algn="l"/>
            <a:r>
              <a:rPr sz="800" b="0" i="1">
                <a:solidFill>
                  <a:srgbClr val="94A3B8"/>
                </a:solidFill>
              </a:rPr>
              <a:t>3.53 × $10.000</a:t>
            </a:r>
          </a:p>
        </p:txBody>
      </p:sp>
      <p:sp>
        <p:nvSpPr>
          <p:cNvPr id="17" name="Rectangle 16"/>
          <p:cNvSpPr/>
          <p:nvPr/>
        </p:nvSpPr>
        <p:spPr>
          <a:xfrm>
            <a:off x="5852160" y="1691640"/>
            <a:ext cx="2651760" cy="114300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52160" y="1691640"/>
            <a:ext cx="50292" cy="1143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1764792"/>
            <a:ext cx="2468879" cy="502920"/>
          </a:xfrm>
          <a:prstGeom prst="rect">
            <a:avLst/>
          </a:prstGeom>
          <a:noFill/>
        </p:spPr>
        <p:txBody>
          <a:bodyPr wrap="square">
            <a:spAutoFit/>
          </a:bodyPr>
          <a:lstStyle/>
          <a:p>
            <a:pPr algn="l"/>
            <a:r>
              <a:rPr sz="2600" b="1" i="0">
                <a:solidFill>
                  <a:srgbClr val="F97316"/>
                </a:solidFill>
              </a:rPr>
              <a:t>$108.500</a:t>
            </a:r>
          </a:p>
        </p:txBody>
      </p:sp>
      <p:sp>
        <p:nvSpPr>
          <p:cNvPr id="20" name="TextBox 19"/>
          <p:cNvSpPr txBox="1"/>
          <p:nvPr/>
        </p:nvSpPr>
        <p:spPr>
          <a:xfrm>
            <a:off x="5980176" y="2258568"/>
            <a:ext cx="2468879" cy="292608"/>
          </a:xfrm>
          <a:prstGeom prst="rect">
            <a:avLst/>
          </a:prstGeom>
          <a:noFill/>
        </p:spPr>
        <p:txBody>
          <a:bodyPr wrap="square">
            <a:spAutoFit/>
          </a:bodyPr>
          <a:lstStyle/>
          <a:p>
            <a:pPr algn="l"/>
            <a:r>
              <a:rPr sz="900" b="0" i="0">
                <a:solidFill>
                  <a:srgbClr val="94A3B8"/>
                </a:solidFill>
              </a:rPr>
              <a:t>Menor mediana (INLAND)</a:t>
            </a:r>
          </a:p>
        </p:txBody>
      </p:sp>
      <p:sp>
        <p:nvSpPr>
          <p:cNvPr id="21" name="TextBox 20"/>
          <p:cNvSpPr txBox="1"/>
          <p:nvPr/>
        </p:nvSpPr>
        <p:spPr>
          <a:xfrm>
            <a:off x="5980176" y="2514600"/>
            <a:ext cx="2468879" cy="256032"/>
          </a:xfrm>
          <a:prstGeom prst="rect">
            <a:avLst/>
          </a:prstGeom>
          <a:noFill/>
        </p:spPr>
        <p:txBody>
          <a:bodyPr wrap="square">
            <a:spAutoFit/>
          </a:bodyPr>
          <a:lstStyle/>
          <a:p>
            <a:pPr algn="l"/>
            <a:r>
              <a:rPr sz="800" b="0" i="1">
                <a:solidFill>
                  <a:srgbClr val="94A3B8"/>
                </a:solidFill>
              </a:rPr>
              <a:t>entrada mais acessível</a:t>
            </a:r>
          </a:p>
        </p:txBody>
      </p:sp>
      <p:sp>
        <p:nvSpPr>
          <p:cNvPr id="22" name="Rectangle 21"/>
          <p:cNvSpPr/>
          <p:nvPr/>
        </p:nvSpPr>
        <p:spPr>
          <a:xfrm>
            <a:off x="8641080" y="1691640"/>
            <a:ext cx="2651760" cy="114300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41080" y="1691640"/>
            <a:ext cx="50292" cy="1143000"/>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69096" y="1764792"/>
            <a:ext cx="2468879" cy="502920"/>
          </a:xfrm>
          <a:prstGeom prst="rect">
            <a:avLst/>
          </a:prstGeom>
          <a:noFill/>
        </p:spPr>
        <p:txBody>
          <a:bodyPr wrap="square">
            <a:spAutoFit/>
          </a:bodyPr>
          <a:lstStyle/>
          <a:p>
            <a:pPr algn="l"/>
            <a:r>
              <a:rPr sz="2600" b="1" i="0">
                <a:solidFill>
                  <a:srgbClr val="F43F5E"/>
                </a:solidFill>
              </a:rPr>
              <a:t>$414.700</a:t>
            </a:r>
          </a:p>
        </p:txBody>
      </p:sp>
      <p:sp>
        <p:nvSpPr>
          <p:cNvPr id="25" name="TextBox 24"/>
          <p:cNvSpPr txBox="1"/>
          <p:nvPr/>
        </p:nvSpPr>
        <p:spPr>
          <a:xfrm>
            <a:off x="8769096" y="2258568"/>
            <a:ext cx="2468879" cy="292608"/>
          </a:xfrm>
          <a:prstGeom prst="rect">
            <a:avLst/>
          </a:prstGeom>
          <a:noFill/>
        </p:spPr>
        <p:txBody>
          <a:bodyPr wrap="square">
            <a:spAutoFit/>
          </a:bodyPr>
          <a:lstStyle/>
          <a:p>
            <a:pPr algn="l"/>
            <a:r>
              <a:rPr sz="900" b="0" i="0">
                <a:solidFill>
                  <a:srgbClr val="94A3B8"/>
                </a:solidFill>
              </a:rPr>
              <a:t>Maior mediana (ISLAND)</a:t>
            </a:r>
          </a:p>
        </p:txBody>
      </p:sp>
      <p:sp>
        <p:nvSpPr>
          <p:cNvPr id="26" name="TextBox 25"/>
          <p:cNvSpPr txBox="1"/>
          <p:nvPr/>
        </p:nvSpPr>
        <p:spPr>
          <a:xfrm>
            <a:off x="8769096" y="2514600"/>
            <a:ext cx="2468879" cy="256032"/>
          </a:xfrm>
          <a:prstGeom prst="rect">
            <a:avLst/>
          </a:prstGeom>
          <a:noFill/>
        </p:spPr>
        <p:txBody>
          <a:bodyPr wrap="square">
            <a:spAutoFit/>
          </a:bodyPr>
          <a:lstStyle/>
          <a:p>
            <a:pPr algn="l"/>
            <a:r>
              <a:rPr sz="800" b="0" i="1">
                <a:solidFill>
                  <a:srgbClr val="94A3B8"/>
                </a:solidFill>
              </a:rPr>
              <a:t>3.8× o valor do interior</a:t>
            </a:r>
          </a:p>
        </p:txBody>
      </p:sp>
      <p:sp>
        <p:nvSpPr>
          <p:cNvPr id="27" name="TextBox 26"/>
          <p:cNvSpPr txBox="1"/>
          <p:nvPr/>
        </p:nvSpPr>
        <p:spPr>
          <a:xfrm>
            <a:off x="274320" y="2971800"/>
            <a:ext cx="11430000" cy="475488"/>
          </a:xfrm>
          <a:prstGeom prst="rect">
            <a:avLst/>
          </a:prstGeom>
          <a:noFill/>
        </p:spPr>
        <p:txBody>
          <a:bodyPr wrap="square">
            <a:spAutoFit/>
          </a:bodyPr>
          <a:lstStyle/>
          <a:p>
            <a:pPr algn="l"/>
            <a:r>
              <a:rPr sz="1050" b="0" i="1">
                <a:solidFill>
                  <a:srgbClr val="94A3B8"/>
                </a:solidFill>
              </a:rPr>
              <a:t>💡  A amplitude de preços entre a zona mais cara e a mais barata é de 3,8×. O mesmo estado, com imóveis que variam de $77.500 a $500.000+. Zona e renda local explicam quase tudo.</a:t>
            </a:r>
          </a:p>
        </p:txBody>
      </p:sp>
      <p:pic>
        <p:nvPicPr>
          <p:cNvPr id="28" name="Picture 27" descr="image.png"/>
          <p:cNvPicPr>
            <a:picLocks noChangeAspect="1"/>
          </p:cNvPicPr>
          <p:nvPr/>
        </p:nvPicPr>
        <p:blipFill>
          <a:blip r:embed="rId2"/>
          <a:stretch>
            <a:fillRect/>
          </a:stretch>
        </p:blipFill>
        <p:spPr>
          <a:xfrm>
            <a:off x="274320" y="3566160"/>
            <a:ext cx="7772400" cy="2926080"/>
          </a:xfrm>
          <a:prstGeom prst="rect">
            <a:avLst/>
          </a:prstGeom>
        </p:spPr>
      </p:pic>
      <p:sp>
        <p:nvSpPr>
          <p:cNvPr id="29" name="Rectangle 28"/>
          <p:cNvSpPr/>
          <p:nvPr/>
        </p:nvSpPr>
        <p:spPr>
          <a:xfrm>
            <a:off x="8229600" y="3566160"/>
            <a:ext cx="3703320" cy="292608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639312"/>
            <a:ext cx="3474720" cy="292608"/>
          </a:xfrm>
          <a:prstGeom prst="rect">
            <a:avLst/>
          </a:prstGeom>
          <a:noFill/>
        </p:spPr>
        <p:txBody>
          <a:bodyPr wrap="square">
            <a:spAutoFit/>
          </a:bodyPr>
          <a:lstStyle/>
          <a:p>
            <a:pPr algn="l"/>
            <a:r>
              <a:rPr sz="900" b="1" i="0">
                <a:solidFill>
                  <a:srgbClr val="F5A623"/>
                </a:solidFill>
              </a:rPr>
              <a:t>MEDIANA POR ZONA</a:t>
            </a:r>
          </a:p>
        </p:txBody>
      </p:sp>
      <p:sp>
        <p:nvSpPr>
          <p:cNvPr id="31" name="TextBox 30"/>
          <p:cNvSpPr txBox="1"/>
          <p:nvPr/>
        </p:nvSpPr>
        <p:spPr>
          <a:xfrm>
            <a:off x="8275320" y="3950208"/>
            <a:ext cx="1051560" cy="201168"/>
          </a:xfrm>
          <a:prstGeom prst="rect">
            <a:avLst/>
          </a:prstGeom>
          <a:noFill/>
        </p:spPr>
        <p:txBody>
          <a:bodyPr wrap="square">
            <a:spAutoFit/>
          </a:bodyPr>
          <a:lstStyle/>
          <a:p>
            <a:pPr algn="l"/>
            <a:r>
              <a:rPr sz="750" b="1" i="0">
                <a:solidFill>
                  <a:srgbClr val="94A3B8"/>
                </a:solidFill>
              </a:rPr>
              <a:t>Zona</a:t>
            </a:r>
          </a:p>
        </p:txBody>
      </p:sp>
      <p:sp>
        <p:nvSpPr>
          <p:cNvPr id="32" name="TextBox 31"/>
          <p:cNvSpPr txBox="1"/>
          <p:nvPr/>
        </p:nvSpPr>
        <p:spPr>
          <a:xfrm>
            <a:off x="9372600" y="3950208"/>
            <a:ext cx="868680" cy="201168"/>
          </a:xfrm>
          <a:prstGeom prst="rect">
            <a:avLst/>
          </a:prstGeom>
          <a:noFill/>
        </p:spPr>
        <p:txBody>
          <a:bodyPr wrap="square">
            <a:spAutoFit/>
          </a:bodyPr>
          <a:lstStyle/>
          <a:p>
            <a:pPr algn="l"/>
            <a:r>
              <a:rPr sz="750" b="1" i="0">
                <a:solidFill>
                  <a:srgbClr val="94A3B8"/>
                </a:solidFill>
              </a:rPr>
              <a:t>Mediana</a:t>
            </a:r>
          </a:p>
        </p:txBody>
      </p:sp>
      <p:sp>
        <p:nvSpPr>
          <p:cNvPr id="33" name="TextBox 32"/>
          <p:cNvSpPr txBox="1"/>
          <p:nvPr/>
        </p:nvSpPr>
        <p:spPr>
          <a:xfrm>
            <a:off x="10287000" y="3950208"/>
            <a:ext cx="868680" cy="201168"/>
          </a:xfrm>
          <a:prstGeom prst="rect">
            <a:avLst/>
          </a:prstGeom>
          <a:noFill/>
        </p:spPr>
        <p:txBody>
          <a:bodyPr wrap="square">
            <a:spAutoFit/>
          </a:bodyPr>
          <a:lstStyle/>
          <a:p>
            <a:pPr algn="l"/>
            <a:r>
              <a:rPr sz="750" b="1" i="0">
                <a:solidFill>
                  <a:srgbClr val="94A3B8"/>
                </a:solidFill>
              </a:rPr>
              <a:t>Renda</a:t>
            </a:r>
          </a:p>
        </p:txBody>
      </p:sp>
      <p:sp>
        <p:nvSpPr>
          <p:cNvPr id="34" name="TextBox 33"/>
          <p:cNvSpPr txBox="1"/>
          <p:nvPr/>
        </p:nvSpPr>
        <p:spPr>
          <a:xfrm>
            <a:off x="11201400" y="3950208"/>
            <a:ext cx="685800" cy="201168"/>
          </a:xfrm>
          <a:prstGeom prst="rect">
            <a:avLst/>
          </a:prstGeom>
          <a:noFill/>
        </p:spPr>
        <p:txBody>
          <a:bodyPr wrap="square">
            <a:spAutoFit/>
          </a:bodyPr>
          <a:lstStyle/>
          <a:p>
            <a:pPr algn="l"/>
            <a:r>
              <a:rPr sz="750" b="1" i="0">
                <a:solidFill>
                  <a:srgbClr val="94A3B8"/>
                </a:solidFill>
              </a:rPr>
              <a:t>Score CB</a:t>
            </a:r>
          </a:p>
        </p:txBody>
      </p:sp>
      <p:sp>
        <p:nvSpPr>
          <p:cNvPr id="35" name="Rectangle 34"/>
          <p:cNvSpPr/>
          <p:nvPr/>
        </p:nvSpPr>
        <p:spPr>
          <a:xfrm>
            <a:off x="8275320" y="4151376"/>
            <a:ext cx="3566160" cy="2286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75320" y="4206240"/>
            <a:ext cx="3566160" cy="39319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75320" y="4206240"/>
            <a:ext cx="45720" cy="39319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30184" y="4270248"/>
            <a:ext cx="1051560" cy="274320"/>
          </a:xfrm>
          <a:prstGeom prst="rect">
            <a:avLst/>
          </a:prstGeom>
          <a:noFill/>
        </p:spPr>
        <p:txBody>
          <a:bodyPr wrap="square">
            <a:spAutoFit/>
          </a:bodyPr>
          <a:lstStyle/>
          <a:p>
            <a:pPr algn="l"/>
            <a:r>
              <a:rPr sz="800" b="1" i="0">
                <a:solidFill>
                  <a:srgbClr val="F5A623"/>
                </a:solidFill>
              </a:rPr>
              <a:t>INLAND</a:t>
            </a:r>
          </a:p>
        </p:txBody>
      </p:sp>
      <p:sp>
        <p:nvSpPr>
          <p:cNvPr id="39" name="TextBox 38"/>
          <p:cNvSpPr txBox="1"/>
          <p:nvPr/>
        </p:nvSpPr>
        <p:spPr>
          <a:xfrm>
            <a:off x="9427464" y="4270248"/>
            <a:ext cx="868680" cy="274320"/>
          </a:xfrm>
          <a:prstGeom prst="rect">
            <a:avLst/>
          </a:prstGeom>
          <a:noFill/>
        </p:spPr>
        <p:txBody>
          <a:bodyPr wrap="square">
            <a:spAutoFit/>
          </a:bodyPr>
          <a:lstStyle/>
          <a:p>
            <a:pPr algn="l"/>
            <a:r>
              <a:rPr sz="800" b="0" i="0">
                <a:solidFill>
                  <a:srgbClr val="FFFFFF"/>
                </a:solidFill>
              </a:rPr>
              <a:t>$108k</a:t>
            </a:r>
          </a:p>
        </p:txBody>
      </p:sp>
      <p:sp>
        <p:nvSpPr>
          <p:cNvPr id="40" name="TextBox 39"/>
          <p:cNvSpPr txBox="1"/>
          <p:nvPr/>
        </p:nvSpPr>
        <p:spPr>
          <a:xfrm>
            <a:off x="10341864" y="4270248"/>
            <a:ext cx="868680" cy="274320"/>
          </a:xfrm>
          <a:prstGeom prst="rect">
            <a:avLst/>
          </a:prstGeom>
          <a:noFill/>
        </p:spPr>
        <p:txBody>
          <a:bodyPr wrap="square">
            <a:spAutoFit/>
          </a:bodyPr>
          <a:lstStyle/>
          <a:p>
            <a:pPr algn="l"/>
            <a:r>
              <a:rPr sz="800" b="0" i="0">
                <a:solidFill>
                  <a:srgbClr val="FFFFFF"/>
                </a:solidFill>
              </a:rPr>
              <a:t>2.99×$10k</a:t>
            </a:r>
          </a:p>
        </p:txBody>
      </p:sp>
      <p:sp>
        <p:nvSpPr>
          <p:cNvPr id="41" name="TextBox 40"/>
          <p:cNvSpPr txBox="1"/>
          <p:nvPr/>
        </p:nvSpPr>
        <p:spPr>
          <a:xfrm>
            <a:off x="11256264" y="4270248"/>
            <a:ext cx="685800" cy="274320"/>
          </a:xfrm>
          <a:prstGeom prst="rect">
            <a:avLst/>
          </a:prstGeom>
          <a:noFill/>
        </p:spPr>
        <p:txBody>
          <a:bodyPr wrap="square">
            <a:spAutoFit/>
          </a:bodyPr>
          <a:lstStyle/>
          <a:p>
            <a:pPr algn="l"/>
            <a:r>
              <a:rPr sz="800" b="0" i="0">
                <a:solidFill>
                  <a:srgbClr val="FFFFFF"/>
                </a:solidFill>
              </a:rPr>
              <a:t>2.75</a:t>
            </a:r>
          </a:p>
        </p:txBody>
      </p:sp>
      <p:sp>
        <p:nvSpPr>
          <p:cNvPr id="42" name="Rectangle 41"/>
          <p:cNvSpPr/>
          <p:nvPr/>
        </p:nvSpPr>
        <p:spPr>
          <a:xfrm>
            <a:off x="8275320" y="4636007"/>
            <a:ext cx="3566160" cy="393192"/>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75320" y="4636007"/>
            <a:ext cx="45720" cy="3931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30184" y="4700016"/>
            <a:ext cx="1051560" cy="274320"/>
          </a:xfrm>
          <a:prstGeom prst="rect">
            <a:avLst/>
          </a:prstGeom>
          <a:noFill/>
        </p:spPr>
        <p:txBody>
          <a:bodyPr wrap="square">
            <a:spAutoFit/>
          </a:bodyPr>
          <a:lstStyle/>
          <a:p>
            <a:pPr algn="l"/>
            <a:r>
              <a:rPr sz="800" b="1" i="0">
                <a:solidFill>
                  <a:srgbClr val="34D399"/>
                </a:solidFill>
              </a:rPr>
              <a:t>&lt;1H OCEAN</a:t>
            </a:r>
          </a:p>
        </p:txBody>
      </p:sp>
      <p:sp>
        <p:nvSpPr>
          <p:cNvPr id="45" name="TextBox 44"/>
          <p:cNvSpPr txBox="1"/>
          <p:nvPr/>
        </p:nvSpPr>
        <p:spPr>
          <a:xfrm>
            <a:off x="9427464" y="4700016"/>
            <a:ext cx="868680" cy="274320"/>
          </a:xfrm>
          <a:prstGeom prst="rect">
            <a:avLst/>
          </a:prstGeom>
          <a:noFill/>
        </p:spPr>
        <p:txBody>
          <a:bodyPr wrap="square">
            <a:spAutoFit/>
          </a:bodyPr>
          <a:lstStyle/>
          <a:p>
            <a:pPr algn="l"/>
            <a:r>
              <a:rPr sz="800" b="0" i="0">
                <a:solidFill>
                  <a:srgbClr val="FFFFFF"/>
                </a:solidFill>
              </a:rPr>
              <a:t>$215k</a:t>
            </a:r>
          </a:p>
        </p:txBody>
      </p:sp>
      <p:sp>
        <p:nvSpPr>
          <p:cNvPr id="46" name="TextBox 45"/>
          <p:cNvSpPr txBox="1"/>
          <p:nvPr/>
        </p:nvSpPr>
        <p:spPr>
          <a:xfrm>
            <a:off x="10341864" y="4700016"/>
            <a:ext cx="868680" cy="274320"/>
          </a:xfrm>
          <a:prstGeom prst="rect">
            <a:avLst/>
          </a:prstGeom>
          <a:noFill/>
        </p:spPr>
        <p:txBody>
          <a:bodyPr wrap="square">
            <a:spAutoFit/>
          </a:bodyPr>
          <a:lstStyle/>
          <a:p>
            <a:pPr algn="l"/>
            <a:r>
              <a:rPr sz="800" b="0" i="0">
                <a:solidFill>
                  <a:srgbClr val="FFFFFF"/>
                </a:solidFill>
              </a:rPr>
              <a:t>3.88×$10k</a:t>
            </a:r>
          </a:p>
        </p:txBody>
      </p:sp>
      <p:sp>
        <p:nvSpPr>
          <p:cNvPr id="47" name="TextBox 46"/>
          <p:cNvSpPr txBox="1"/>
          <p:nvPr/>
        </p:nvSpPr>
        <p:spPr>
          <a:xfrm>
            <a:off x="11256264" y="4700016"/>
            <a:ext cx="685800" cy="274320"/>
          </a:xfrm>
          <a:prstGeom prst="rect">
            <a:avLst/>
          </a:prstGeom>
          <a:noFill/>
        </p:spPr>
        <p:txBody>
          <a:bodyPr wrap="square">
            <a:spAutoFit/>
          </a:bodyPr>
          <a:lstStyle/>
          <a:p>
            <a:pPr algn="l"/>
            <a:r>
              <a:rPr sz="800" b="0" i="0">
                <a:solidFill>
                  <a:srgbClr val="FFFFFF"/>
                </a:solidFill>
              </a:rPr>
              <a:t>1.84</a:t>
            </a:r>
          </a:p>
        </p:txBody>
      </p:sp>
      <p:sp>
        <p:nvSpPr>
          <p:cNvPr id="48" name="Rectangle 47"/>
          <p:cNvSpPr/>
          <p:nvPr/>
        </p:nvSpPr>
        <p:spPr>
          <a:xfrm>
            <a:off x="8275320" y="5065775"/>
            <a:ext cx="3566160" cy="39319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75320" y="5065775"/>
            <a:ext cx="45720" cy="39319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30184" y="5129783"/>
            <a:ext cx="1051560" cy="274320"/>
          </a:xfrm>
          <a:prstGeom prst="rect">
            <a:avLst/>
          </a:prstGeom>
          <a:noFill/>
        </p:spPr>
        <p:txBody>
          <a:bodyPr wrap="square">
            <a:spAutoFit/>
          </a:bodyPr>
          <a:lstStyle/>
          <a:p>
            <a:pPr algn="l"/>
            <a:r>
              <a:rPr sz="800" b="1" i="0">
                <a:solidFill>
                  <a:srgbClr val="0EA5E9"/>
                </a:solidFill>
              </a:rPr>
              <a:t>NEAR OCEAN</a:t>
            </a:r>
          </a:p>
        </p:txBody>
      </p:sp>
      <p:sp>
        <p:nvSpPr>
          <p:cNvPr id="51" name="TextBox 50"/>
          <p:cNvSpPr txBox="1"/>
          <p:nvPr/>
        </p:nvSpPr>
        <p:spPr>
          <a:xfrm>
            <a:off x="9427464" y="5129783"/>
            <a:ext cx="868680" cy="274320"/>
          </a:xfrm>
          <a:prstGeom prst="rect">
            <a:avLst/>
          </a:prstGeom>
          <a:noFill/>
        </p:spPr>
        <p:txBody>
          <a:bodyPr wrap="square">
            <a:spAutoFit/>
          </a:bodyPr>
          <a:lstStyle/>
          <a:p>
            <a:pPr algn="l"/>
            <a:r>
              <a:rPr sz="800" b="0" i="0">
                <a:solidFill>
                  <a:srgbClr val="FFFFFF"/>
                </a:solidFill>
              </a:rPr>
              <a:t>$229k</a:t>
            </a:r>
          </a:p>
        </p:txBody>
      </p:sp>
      <p:sp>
        <p:nvSpPr>
          <p:cNvPr id="52" name="TextBox 51"/>
          <p:cNvSpPr txBox="1"/>
          <p:nvPr/>
        </p:nvSpPr>
        <p:spPr>
          <a:xfrm>
            <a:off x="10341864" y="5129783"/>
            <a:ext cx="868680" cy="274320"/>
          </a:xfrm>
          <a:prstGeom prst="rect">
            <a:avLst/>
          </a:prstGeom>
          <a:noFill/>
        </p:spPr>
        <p:txBody>
          <a:bodyPr wrap="square">
            <a:spAutoFit/>
          </a:bodyPr>
          <a:lstStyle/>
          <a:p>
            <a:pPr algn="l"/>
            <a:r>
              <a:rPr sz="800" b="0" i="0">
                <a:solidFill>
                  <a:srgbClr val="FFFFFF"/>
                </a:solidFill>
              </a:rPr>
              <a:t>3.65×$10k</a:t>
            </a:r>
          </a:p>
        </p:txBody>
      </p:sp>
      <p:sp>
        <p:nvSpPr>
          <p:cNvPr id="53" name="TextBox 52"/>
          <p:cNvSpPr txBox="1"/>
          <p:nvPr/>
        </p:nvSpPr>
        <p:spPr>
          <a:xfrm>
            <a:off x="11256264" y="5129783"/>
            <a:ext cx="685800" cy="274320"/>
          </a:xfrm>
          <a:prstGeom prst="rect">
            <a:avLst/>
          </a:prstGeom>
          <a:noFill/>
        </p:spPr>
        <p:txBody>
          <a:bodyPr wrap="square">
            <a:spAutoFit/>
          </a:bodyPr>
          <a:lstStyle/>
          <a:p>
            <a:pPr algn="l"/>
            <a:r>
              <a:rPr sz="800" b="0" i="0">
                <a:solidFill>
                  <a:srgbClr val="FFFFFF"/>
                </a:solidFill>
              </a:rPr>
              <a:t>1.64</a:t>
            </a:r>
          </a:p>
        </p:txBody>
      </p:sp>
      <p:sp>
        <p:nvSpPr>
          <p:cNvPr id="54" name="Rectangle 53"/>
          <p:cNvSpPr/>
          <p:nvPr/>
        </p:nvSpPr>
        <p:spPr>
          <a:xfrm>
            <a:off x="8275320" y="5495544"/>
            <a:ext cx="3566160" cy="393192"/>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75320" y="5495544"/>
            <a:ext cx="45720" cy="39319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30184" y="5559552"/>
            <a:ext cx="1051560" cy="274320"/>
          </a:xfrm>
          <a:prstGeom prst="rect">
            <a:avLst/>
          </a:prstGeom>
          <a:noFill/>
        </p:spPr>
        <p:txBody>
          <a:bodyPr wrap="square">
            <a:spAutoFit/>
          </a:bodyPr>
          <a:lstStyle/>
          <a:p>
            <a:pPr algn="l"/>
            <a:r>
              <a:rPr sz="800" b="1" i="0">
                <a:solidFill>
                  <a:srgbClr val="A78BFA"/>
                </a:solidFill>
              </a:rPr>
              <a:t>NEAR BAY</a:t>
            </a:r>
          </a:p>
        </p:txBody>
      </p:sp>
      <p:sp>
        <p:nvSpPr>
          <p:cNvPr id="57" name="TextBox 56"/>
          <p:cNvSpPr txBox="1"/>
          <p:nvPr/>
        </p:nvSpPr>
        <p:spPr>
          <a:xfrm>
            <a:off x="9427464" y="5559552"/>
            <a:ext cx="868680" cy="274320"/>
          </a:xfrm>
          <a:prstGeom prst="rect">
            <a:avLst/>
          </a:prstGeom>
          <a:noFill/>
        </p:spPr>
        <p:txBody>
          <a:bodyPr wrap="square">
            <a:spAutoFit/>
          </a:bodyPr>
          <a:lstStyle/>
          <a:p>
            <a:pPr algn="l"/>
            <a:r>
              <a:rPr sz="800" b="0" i="0">
                <a:solidFill>
                  <a:srgbClr val="FFFFFF"/>
                </a:solidFill>
              </a:rPr>
              <a:t>$234k</a:t>
            </a:r>
          </a:p>
        </p:txBody>
      </p:sp>
      <p:sp>
        <p:nvSpPr>
          <p:cNvPr id="58" name="TextBox 57"/>
          <p:cNvSpPr txBox="1"/>
          <p:nvPr/>
        </p:nvSpPr>
        <p:spPr>
          <a:xfrm>
            <a:off x="10341864" y="5559552"/>
            <a:ext cx="868680" cy="274320"/>
          </a:xfrm>
          <a:prstGeom prst="rect">
            <a:avLst/>
          </a:prstGeom>
          <a:noFill/>
        </p:spPr>
        <p:txBody>
          <a:bodyPr wrap="square">
            <a:spAutoFit/>
          </a:bodyPr>
          <a:lstStyle/>
          <a:p>
            <a:pPr algn="l"/>
            <a:r>
              <a:rPr sz="800" b="0" i="0">
                <a:solidFill>
                  <a:srgbClr val="FFFFFF"/>
                </a:solidFill>
              </a:rPr>
              <a:t>3.82×$10k</a:t>
            </a:r>
          </a:p>
        </p:txBody>
      </p:sp>
      <p:sp>
        <p:nvSpPr>
          <p:cNvPr id="59" name="TextBox 58"/>
          <p:cNvSpPr txBox="1"/>
          <p:nvPr/>
        </p:nvSpPr>
        <p:spPr>
          <a:xfrm>
            <a:off x="11256264" y="5559552"/>
            <a:ext cx="685800" cy="274320"/>
          </a:xfrm>
          <a:prstGeom prst="rect">
            <a:avLst/>
          </a:prstGeom>
          <a:noFill/>
        </p:spPr>
        <p:txBody>
          <a:bodyPr wrap="square">
            <a:spAutoFit/>
          </a:bodyPr>
          <a:lstStyle/>
          <a:p>
            <a:pPr algn="l"/>
            <a:r>
              <a:rPr sz="800" b="0" i="0">
                <a:solidFill>
                  <a:srgbClr val="FFFFFF"/>
                </a:solidFill>
              </a:rPr>
              <a:t>1.71</a:t>
            </a:r>
          </a:p>
        </p:txBody>
      </p:sp>
      <p:sp>
        <p:nvSpPr>
          <p:cNvPr id="60" name="Rectangle 59"/>
          <p:cNvSpPr/>
          <p:nvPr/>
        </p:nvSpPr>
        <p:spPr>
          <a:xfrm>
            <a:off x="8275320" y="5925312"/>
            <a:ext cx="3566160" cy="39319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275320" y="5925312"/>
            <a:ext cx="45720" cy="393192"/>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30184" y="5989320"/>
            <a:ext cx="1051560" cy="274320"/>
          </a:xfrm>
          <a:prstGeom prst="rect">
            <a:avLst/>
          </a:prstGeom>
          <a:noFill/>
        </p:spPr>
        <p:txBody>
          <a:bodyPr wrap="square">
            <a:spAutoFit/>
          </a:bodyPr>
          <a:lstStyle/>
          <a:p>
            <a:pPr algn="l"/>
            <a:r>
              <a:rPr sz="800" b="1" i="0">
                <a:solidFill>
                  <a:srgbClr val="F43F5E"/>
                </a:solidFill>
              </a:rPr>
              <a:t>ISLAND</a:t>
            </a:r>
          </a:p>
        </p:txBody>
      </p:sp>
      <p:sp>
        <p:nvSpPr>
          <p:cNvPr id="63" name="TextBox 62"/>
          <p:cNvSpPr txBox="1"/>
          <p:nvPr/>
        </p:nvSpPr>
        <p:spPr>
          <a:xfrm>
            <a:off x="9427464" y="5989320"/>
            <a:ext cx="868680" cy="274320"/>
          </a:xfrm>
          <a:prstGeom prst="rect">
            <a:avLst/>
          </a:prstGeom>
          <a:noFill/>
        </p:spPr>
        <p:txBody>
          <a:bodyPr wrap="square">
            <a:spAutoFit/>
          </a:bodyPr>
          <a:lstStyle/>
          <a:p>
            <a:pPr algn="l"/>
            <a:r>
              <a:rPr sz="800" b="0" i="0">
                <a:solidFill>
                  <a:srgbClr val="FFFFFF"/>
                </a:solidFill>
              </a:rPr>
              <a:t>$415k</a:t>
            </a:r>
          </a:p>
        </p:txBody>
      </p:sp>
      <p:sp>
        <p:nvSpPr>
          <p:cNvPr id="64" name="TextBox 63"/>
          <p:cNvSpPr txBox="1"/>
          <p:nvPr/>
        </p:nvSpPr>
        <p:spPr>
          <a:xfrm>
            <a:off x="10341864" y="5989320"/>
            <a:ext cx="868680" cy="274320"/>
          </a:xfrm>
          <a:prstGeom prst="rect">
            <a:avLst/>
          </a:prstGeom>
          <a:noFill/>
        </p:spPr>
        <p:txBody>
          <a:bodyPr wrap="square">
            <a:spAutoFit/>
          </a:bodyPr>
          <a:lstStyle/>
          <a:p>
            <a:pPr algn="l"/>
            <a:r>
              <a:rPr sz="800" b="0" i="0">
                <a:solidFill>
                  <a:srgbClr val="FFFFFF"/>
                </a:solidFill>
              </a:rPr>
              <a:t>2.74×$10k</a:t>
            </a:r>
          </a:p>
        </p:txBody>
      </p:sp>
      <p:sp>
        <p:nvSpPr>
          <p:cNvPr id="65" name="TextBox 64"/>
          <p:cNvSpPr txBox="1"/>
          <p:nvPr/>
        </p:nvSpPr>
        <p:spPr>
          <a:xfrm>
            <a:off x="11256264" y="5989320"/>
            <a:ext cx="685800" cy="274320"/>
          </a:xfrm>
          <a:prstGeom prst="rect">
            <a:avLst/>
          </a:prstGeom>
          <a:noFill/>
        </p:spPr>
        <p:txBody>
          <a:bodyPr wrap="square">
            <a:spAutoFit/>
          </a:bodyPr>
          <a:lstStyle/>
          <a:p>
            <a:pPr algn="l"/>
            <a:r>
              <a:rPr sz="800" b="0" i="0">
                <a:solidFill>
                  <a:srgbClr val="FFFFFF"/>
                </a:solidFill>
              </a:rPr>
              <a:t>0.68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F5A623"/>
                </a:solidFill>
              </a:rPr>
              <a:t>O FATOR INVISÍVEL</a:t>
            </a:r>
          </a:p>
        </p:txBody>
      </p:sp>
      <p:sp>
        <p:nvSpPr>
          <p:cNvPr id="4" name="TextBox 3"/>
          <p:cNvSpPr txBox="1"/>
          <p:nvPr/>
        </p:nvSpPr>
        <p:spPr>
          <a:xfrm>
            <a:off x="274320" y="502920"/>
            <a:ext cx="9144000" cy="502920"/>
          </a:xfrm>
          <a:prstGeom prst="rect">
            <a:avLst/>
          </a:prstGeom>
          <a:noFill/>
        </p:spPr>
        <p:txBody>
          <a:bodyPr wrap="square">
            <a:spAutoFit/>
          </a:bodyPr>
          <a:lstStyle/>
          <a:p>
            <a:pPr algn="l"/>
            <a:r>
              <a:rPr sz="2400" b="1" i="0">
                <a:solidFill>
                  <a:srgbClr val="FFFFFF"/>
                </a:solidFill>
              </a:rPr>
              <a:t>A renda do bairro define o preço.</a:t>
            </a:r>
          </a:p>
        </p:txBody>
      </p:sp>
      <p:sp>
        <p:nvSpPr>
          <p:cNvPr id="5" name="TextBox 4"/>
          <p:cNvSpPr txBox="1"/>
          <p:nvPr/>
        </p:nvSpPr>
        <p:spPr>
          <a:xfrm>
            <a:off x="274320" y="960120"/>
            <a:ext cx="9144000" cy="457200"/>
          </a:xfrm>
          <a:prstGeom prst="rect">
            <a:avLst/>
          </a:prstGeom>
          <a:noFill/>
        </p:spPr>
        <p:txBody>
          <a:bodyPr wrap="square">
            <a:spAutoFit/>
          </a:bodyPr>
          <a:lstStyle/>
          <a:p>
            <a:pPr algn="l"/>
            <a:r>
              <a:rPr sz="2000" b="1" i="0">
                <a:solidFill>
                  <a:srgbClr val="F5A623"/>
                </a:solidFill>
              </a:rPr>
              <a:t>Não o tamanho, não a idade — a renda.</a:t>
            </a:r>
          </a:p>
        </p:txBody>
      </p:sp>
      <p:sp>
        <p:nvSpPr>
          <p:cNvPr id="6" name="Rectangle 5"/>
          <p:cNvSpPr/>
          <p:nvPr/>
        </p:nvSpPr>
        <p:spPr>
          <a:xfrm>
            <a:off x="274320" y="1536192"/>
            <a:ext cx="11612880" cy="32004"/>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4320" y="1691640"/>
            <a:ext cx="5943600" cy="4114800"/>
          </a:xfrm>
          <a:prstGeom prst="rect">
            <a:avLst/>
          </a:prstGeom>
        </p:spPr>
      </p:pic>
      <p:sp>
        <p:nvSpPr>
          <p:cNvPr id="8" name="Rectangle 7"/>
          <p:cNvSpPr/>
          <p:nvPr/>
        </p:nvSpPr>
        <p:spPr>
          <a:xfrm>
            <a:off x="6446520" y="1691640"/>
            <a:ext cx="5394960" cy="132588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691640"/>
            <a:ext cx="50292" cy="13258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4536" y="1783080"/>
            <a:ext cx="5193792" cy="292608"/>
          </a:xfrm>
          <a:prstGeom prst="rect">
            <a:avLst/>
          </a:prstGeom>
          <a:noFill/>
        </p:spPr>
        <p:txBody>
          <a:bodyPr wrap="square">
            <a:spAutoFit/>
          </a:bodyPr>
          <a:lstStyle/>
          <a:p>
            <a:pPr algn="l"/>
            <a:r>
              <a:rPr sz="1000" b="1" i="0">
                <a:solidFill>
                  <a:srgbClr val="F5A623"/>
                </a:solidFill>
              </a:rPr>
              <a:t>Spearman ρ = +0.68 — Renda × Valor</a:t>
            </a:r>
          </a:p>
        </p:txBody>
      </p:sp>
      <p:sp>
        <p:nvSpPr>
          <p:cNvPr id="11" name="TextBox 10"/>
          <p:cNvSpPr txBox="1"/>
          <p:nvPr/>
        </p:nvSpPr>
        <p:spPr>
          <a:xfrm>
            <a:off x="6574536" y="2130552"/>
            <a:ext cx="5193792" cy="795528"/>
          </a:xfrm>
          <a:prstGeom prst="rect">
            <a:avLst/>
          </a:prstGeom>
          <a:noFill/>
        </p:spPr>
        <p:txBody>
          <a:bodyPr wrap="square">
            <a:spAutoFit/>
          </a:bodyPr>
          <a:lstStyle/>
          <a:p>
            <a:pPr algn="l"/>
            <a:r>
              <a:rPr sz="950" b="0" i="0">
                <a:solidFill>
                  <a:srgbClr val="94A3B8"/>
                </a:solidFill>
              </a:rPr>
              <a:t>A correlação mais forte do dataset. IC 95% Bootstrap: [0.67, 0.69]. Onde a renda é alta, o valor é alto — sempre.</a:t>
            </a:r>
          </a:p>
        </p:txBody>
      </p:sp>
      <p:sp>
        <p:nvSpPr>
          <p:cNvPr id="12" name="Rectangle 11"/>
          <p:cNvSpPr/>
          <p:nvPr/>
        </p:nvSpPr>
        <p:spPr>
          <a:xfrm>
            <a:off x="6446520" y="3154680"/>
            <a:ext cx="5394960" cy="132588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3154680"/>
            <a:ext cx="50292" cy="13258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74536" y="3246120"/>
            <a:ext cx="5193792" cy="292608"/>
          </a:xfrm>
          <a:prstGeom prst="rect">
            <a:avLst/>
          </a:prstGeom>
          <a:noFill/>
        </p:spPr>
        <p:txBody>
          <a:bodyPr wrap="square">
            <a:spAutoFit/>
          </a:bodyPr>
          <a:lstStyle/>
          <a:p>
            <a:pPr algn="l"/>
            <a:r>
              <a:rPr sz="1000" b="1" i="0">
                <a:solidFill>
                  <a:srgbClr val="34D399"/>
                </a:solidFill>
              </a:rPr>
              <a:t>IC 95%: [0.67, 0.69] — Intervalo de Confiança</a:t>
            </a:r>
          </a:p>
        </p:txBody>
      </p:sp>
      <p:sp>
        <p:nvSpPr>
          <p:cNvPr id="15" name="TextBox 14"/>
          <p:cNvSpPr txBox="1"/>
          <p:nvPr/>
        </p:nvSpPr>
        <p:spPr>
          <a:xfrm>
            <a:off x="6574536" y="3593592"/>
            <a:ext cx="5193792" cy="795528"/>
          </a:xfrm>
          <a:prstGeom prst="rect">
            <a:avLst/>
          </a:prstGeom>
          <a:noFill/>
        </p:spPr>
        <p:txBody>
          <a:bodyPr wrap="square">
            <a:spAutoFit/>
          </a:bodyPr>
          <a:lstStyle/>
          <a:p>
            <a:pPr algn="l"/>
            <a:r>
              <a:rPr sz="950" b="0" i="0">
                <a:solidFill>
                  <a:srgbClr val="94A3B8"/>
                </a:solidFill>
              </a:rPr>
              <a:t>Calculado com 2.000 reamostras Bootstrap. A correlação é robusta e não é fruto do acaso.</a:t>
            </a:r>
          </a:p>
        </p:txBody>
      </p:sp>
      <p:sp>
        <p:nvSpPr>
          <p:cNvPr id="16" name="Rectangle 15"/>
          <p:cNvSpPr/>
          <p:nvPr/>
        </p:nvSpPr>
        <p:spPr>
          <a:xfrm>
            <a:off x="6446520" y="4617720"/>
            <a:ext cx="5394960" cy="132588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4617720"/>
            <a:ext cx="50292" cy="132588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4709160"/>
            <a:ext cx="5193792" cy="292608"/>
          </a:xfrm>
          <a:prstGeom prst="rect">
            <a:avLst/>
          </a:prstGeom>
          <a:noFill/>
        </p:spPr>
        <p:txBody>
          <a:bodyPr wrap="square">
            <a:spAutoFit/>
          </a:bodyPr>
          <a:lstStyle/>
          <a:p>
            <a:pPr algn="l"/>
            <a:r>
              <a:rPr sz="1000" b="1" i="0">
                <a:solidFill>
                  <a:srgbClr val="F97316"/>
                </a:solidFill>
              </a:rPr>
              <a:t>Renda &gt; Localização — O que mais importa</a:t>
            </a:r>
          </a:p>
        </p:txBody>
      </p:sp>
      <p:sp>
        <p:nvSpPr>
          <p:cNvPr id="19" name="TextBox 18"/>
          <p:cNvSpPr txBox="1"/>
          <p:nvPr/>
        </p:nvSpPr>
        <p:spPr>
          <a:xfrm>
            <a:off x="6574536" y="5056632"/>
            <a:ext cx="5193792" cy="795528"/>
          </a:xfrm>
          <a:prstGeom prst="rect">
            <a:avLst/>
          </a:prstGeom>
          <a:noFill/>
        </p:spPr>
        <p:txBody>
          <a:bodyPr wrap="square">
            <a:spAutoFit/>
          </a:bodyPr>
          <a:lstStyle/>
          <a:p>
            <a:pPr algn="l"/>
            <a:r>
              <a:rPr sz="950" b="0" i="0">
                <a:solidFill>
                  <a:srgbClr val="94A3B8"/>
                </a:solidFill>
              </a:rPr>
              <a:t>Um imóvel no interior com renda alta vale mais do que um imóvel costeiro em região de baixa renda. O bairro define o preço.</a:t>
            </a:r>
          </a:p>
        </p:txBody>
      </p:sp>
      <p:sp>
        <p:nvSpPr>
          <p:cNvPr id="20" name="TextBox 19"/>
          <p:cNvSpPr txBox="1"/>
          <p:nvPr/>
        </p:nvSpPr>
        <p:spPr>
          <a:xfrm>
            <a:off x="274320" y="5943600"/>
            <a:ext cx="11430000" cy="411480"/>
          </a:xfrm>
          <a:prstGeom prst="rect">
            <a:avLst/>
          </a:prstGeom>
          <a:noFill/>
        </p:spPr>
        <p:txBody>
          <a:bodyPr wrap="square">
            <a:spAutoFit/>
          </a:bodyPr>
          <a:lstStyle/>
          <a:p>
            <a:pPr algn="l"/>
            <a:r>
              <a:rPr sz="1000" b="0" i="1">
                <a:solidFill>
                  <a:srgbClr val="94A3B8"/>
                </a:solidFill>
              </a:rPr>
              <a:t>📊  O modelo de Gradient Boosting com renda como feature principal atingiu R²=0.83 — explicando 83% da variação de preços.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6309360"/>
            <a:ext cx="2322576"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64224"/>
            <a:ext cx="2249424" cy="256032"/>
          </a:xfrm>
          <a:prstGeom prst="rect">
            <a:avLst/>
          </a:prstGeom>
          <a:noFill/>
        </p:spPr>
        <p:txBody>
          <a:bodyPr wrap="square">
            <a:spAutoFit/>
          </a:bodyPr>
          <a:lstStyle/>
          <a:p>
            <a:pPr algn="ctr"/>
            <a:r>
              <a:rPr sz="800" b="1" i="0">
                <a:solidFill>
                  <a:srgbClr val="0E1117"/>
                </a:solidFill>
              </a:rPr>
              <a:t>Interior</a:t>
            </a:r>
          </a:p>
        </p:txBody>
      </p:sp>
      <p:sp>
        <p:nvSpPr>
          <p:cNvPr id="5" name="Rectangle 4"/>
          <p:cNvSpPr/>
          <p:nvPr/>
        </p:nvSpPr>
        <p:spPr>
          <a:xfrm>
            <a:off x="2596896"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42615" y="6364224"/>
            <a:ext cx="2249424" cy="256032"/>
          </a:xfrm>
          <a:prstGeom prst="rect">
            <a:avLst/>
          </a:prstGeom>
          <a:noFill/>
        </p:spPr>
        <p:txBody>
          <a:bodyPr wrap="square">
            <a:spAutoFit/>
          </a:bodyPr>
          <a:lstStyle/>
          <a:p>
            <a:pPr algn="ctr"/>
            <a:r>
              <a:rPr sz="700" b="0" i="0">
                <a:solidFill>
                  <a:srgbClr val="94A3B8"/>
                </a:solidFill>
              </a:rPr>
              <a:t>&lt;1h Oceano</a:t>
            </a:r>
          </a:p>
        </p:txBody>
      </p:sp>
      <p:sp>
        <p:nvSpPr>
          <p:cNvPr id="7" name="Rectangle 6"/>
          <p:cNvSpPr/>
          <p:nvPr/>
        </p:nvSpPr>
        <p:spPr>
          <a:xfrm>
            <a:off x="4919472"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6364224"/>
            <a:ext cx="2249424" cy="256032"/>
          </a:xfrm>
          <a:prstGeom prst="rect">
            <a:avLst/>
          </a:prstGeom>
          <a:noFill/>
        </p:spPr>
        <p:txBody>
          <a:bodyPr wrap="square">
            <a:spAutoFit/>
          </a:bodyPr>
          <a:lstStyle/>
          <a:p>
            <a:pPr algn="ctr"/>
            <a:r>
              <a:rPr sz="700" b="0" i="0">
                <a:solidFill>
                  <a:srgbClr val="94A3B8"/>
                </a:solidFill>
              </a:rPr>
              <a:t>Próx. Oceano</a:t>
            </a:r>
          </a:p>
        </p:txBody>
      </p:sp>
      <p:sp>
        <p:nvSpPr>
          <p:cNvPr id="9" name="Rectangle 8"/>
          <p:cNvSpPr/>
          <p:nvPr/>
        </p:nvSpPr>
        <p:spPr>
          <a:xfrm>
            <a:off x="7242048"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87768" y="6364224"/>
            <a:ext cx="2249424" cy="256032"/>
          </a:xfrm>
          <a:prstGeom prst="rect">
            <a:avLst/>
          </a:prstGeom>
          <a:noFill/>
        </p:spPr>
        <p:txBody>
          <a:bodyPr wrap="square">
            <a:spAutoFit/>
          </a:bodyPr>
          <a:lstStyle/>
          <a:p>
            <a:pPr algn="ctr"/>
            <a:r>
              <a:rPr sz="700" b="0" i="0">
                <a:solidFill>
                  <a:srgbClr val="94A3B8"/>
                </a:solidFill>
              </a:rPr>
              <a:t>Próx. Baía</a:t>
            </a:r>
          </a:p>
        </p:txBody>
      </p:sp>
      <p:sp>
        <p:nvSpPr>
          <p:cNvPr id="11" name="Rectangle 10"/>
          <p:cNvSpPr/>
          <p:nvPr/>
        </p:nvSpPr>
        <p:spPr>
          <a:xfrm>
            <a:off x="9564624"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10344" y="6364224"/>
            <a:ext cx="2249424" cy="256032"/>
          </a:xfrm>
          <a:prstGeom prst="rect">
            <a:avLst/>
          </a:prstGeom>
          <a:noFill/>
        </p:spPr>
        <p:txBody>
          <a:bodyPr wrap="square">
            <a:spAutoFit/>
          </a:bodyPr>
          <a:lstStyle/>
          <a:p>
            <a:pPr algn="ctr"/>
            <a:r>
              <a:rPr sz="700" b="0" i="0">
                <a:solidFill>
                  <a:srgbClr val="94A3B8"/>
                </a:solidFill>
              </a:rPr>
              <a:t>Ilha</a:t>
            </a:r>
          </a:p>
        </p:txBody>
      </p:sp>
      <p:sp>
        <p:nvSpPr>
          <p:cNvPr id="13" name="Rectangle 12"/>
          <p:cNvSpPr/>
          <p:nvPr/>
        </p:nvSpPr>
        <p:spPr>
          <a:xfrm>
            <a:off x="274320" y="201168"/>
            <a:ext cx="1490472" cy="24688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 y="228600"/>
            <a:ext cx="1399031" cy="219456"/>
          </a:xfrm>
          <a:prstGeom prst="rect">
            <a:avLst/>
          </a:prstGeom>
          <a:noFill/>
        </p:spPr>
        <p:txBody>
          <a:bodyPr wrap="square">
            <a:spAutoFit/>
          </a:bodyPr>
          <a:lstStyle/>
          <a:p>
            <a:pPr algn="ctr"/>
            <a:r>
              <a:rPr sz="900" b="1" i="0">
                <a:solidFill>
                  <a:srgbClr val="0E1117"/>
                </a:solidFill>
              </a:rPr>
              <a:t>ZONA EM DETALHE</a:t>
            </a:r>
          </a:p>
        </p:txBody>
      </p:sp>
      <p:sp>
        <p:nvSpPr>
          <p:cNvPr id="15" name="TextBox 14"/>
          <p:cNvSpPr txBox="1"/>
          <p:nvPr/>
        </p:nvSpPr>
        <p:spPr>
          <a:xfrm>
            <a:off x="274320" y="502920"/>
            <a:ext cx="8229600" cy="548640"/>
          </a:xfrm>
          <a:prstGeom prst="rect">
            <a:avLst/>
          </a:prstGeom>
          <a:noFill/>
        </p:spPr>
        <p:txBody>
          <a:bodyPr wrap="square">
            <a:spAutoFit/>
          </a:bodyPr>
          <a:lstStyle/>
          <a:p>
            <a:pPr algn="l"/>
            <a:r>
              <a:rPr sz="2400" b="1" i="0">
                <a:solidFill>
                  <a:srgbClr val="F5A623"/>
                </a:solidFill>
              </a:rPr>
              <a:t>🏜️  INLAND — Interior</a:t>
            </a:r>
          </a:p>
        </p:txBody>
      </p:sp>
      <p:sp>
        <p:nvSpPr>
          <p:cNvPr id="16" name="TextBox 15"/>
          <p:cNvSpPr txBox="1"/>
          <p:nvPr/>
        </p:nvSpPr>
        <p:spPr>
          <a:xfrm>
            <a:off x="274320" y="1024128"/>
            <a:ext cx="8229600" cy="384048"/>
          </a:xfrm>
          <a:prstGeom prst="rect">
            <a:avLst/>
          </a:prstGeom>
          <a:noFill/>
        </p:spPr>
        <p:txBody>
          <a:bodyPr wrap="square">
            <a:spAutoFit/>
          </a:bodyPr>
          <a:lstStyle/>
          <a:p>
            <a:pPr algn="l"/>
            <a:r>
              <a:rPr sz="1400" b="0" i="0">
                <a:solidFill>
                  <a:srgbClr val="FFFFFF"/>
                </a:solidFill>
              </a:rPr>
              <a:t>Mais de 1 hora de carro até o oceano. O coração agrícola da Califórnia.</a:t>
            </a:r>
          </a:p>
        </p:txBody>
      </p:sp>
      <p:sp>
        <p:nvSpPr>
          <p:cNvPr id="17" name="Rectangle 16"/>
          <p:cNvSpPr/>
          <p:nvPr/>
        </p:nvSpPr>
        <p:spPr>
          <a:xfrm>
            <a:off x="274320" y="1508760"/>
            <a:ext cx="11612880" cy="3200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664208"/>
            <a:ext cx="50292"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 y="1737360"/>
            <a:ext cx="2148839" cy="502920"/>
          </a:xfrm>
          <a:prstGeom prst="rect">
            <a:avLst/>
          </a:prstGeom>
          <a:noFill/>
        </p:spPr>
        <p:txBody>
          <a:bodyPr wrap="square">
            <a:spAutoFit/>
          </a:bodyPr>
          <a:lstStyle/>
          <a:p>
            <a:pPr algn="l"/>
            <a:r>
              <a:rPr sz="2600" b="1" i="0">
                <a:solidFill>
                  <a:srgbClr val="F5A623"/>
                </a:solidFill>
              </a:rPr>
              <a:t>$108k</a:t>
            </a:r>
          </a:p>
        </p:txBody>
      </p:sp>
      <p:sp>
        <p:nvSpPr>
          <p:cNvPr id="21" name="TextBox 20"/>
          <p:cNvSpPr txBox="1"/>
          <p:nvPr/>
        </p:nvSpPr>
        <p:spPr>
          <a:xfrm>
            <a:off x="402336" y="2231136"/>
            <a:ext cx="2148839" cy="292608"/>
          </a:xfrm>
          <a:prstGeom prst="rect">
            <a:avLst/>
          </a:prstGeom>
          <a:noFill/>
        </p:spPr>
        <p:txBody>
          <a:bodyPr wrap="square">
            <a:spAutoFit/>
          </a:bodyPr>
          <a:lstStyle/>
          <a:p>
            <a:pPr algn="l"/>
            <a:r>
              <a:rPr sz="900" b="0" i="0">
                <a:solidFill>
                  <a:srgbClr val="94A3B8"/>
                </a:solidFill>
              </a:rPr>
              <a:t>Valor Mediano</a:t>
            </a:r>
          </a:p>
        </p:txBody>
      </p:sp>
      <p:sp>
        <p:nvSpPr>
          <p:cNvPr id="22" name="TextBox 21"/>
          <p:cNvSpPr txBox="1"/>
          <p:nvPr/>
        </p:nvSpPr>
        <p:spPr>
          <a:xfrm>
            <a:off x="402336" y="2487168"/>
            <a:ext cx="2148839" cy="256032"/>
          </a:xfrm>
          <a:prstGeom prst="rect">
            <a:avLst/>
          </a:prstGeom>
          <a:noFill/>
        </p:spPr>
        <p:txBody>
          <a:bodyPr wrap="square">
            <a:spAutoFit/>
          </a:bodyPr>
          <a:lstStyle/>
          <a:p>
            <a:pPr algn="l"/>
            <a:r>
              <a:rPr sz="800" b="0" i="1">
                <a:solidFill>
                  <a:srgbClr val="94A3B8"/>
                </a:solidFill>
              </a:rPr>
              <a:t>P25: $78k / P75: $149k</a:t>
            </a:r>
          </a:p>
        </p:txBody>
      </p:sp>
      <p:sp>
        <p:nvSpPr>
          <p:cNvPr id="23" name="Rectangle 22"/>
          <p:cNvSpPr/>
          <p:nvPr/>
        </p:nvSpPr>
        <p:spPr>
          <a:xfrm>
            <a:off x="274320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1664208"/>
            <a:ext cx="50292"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71216" y="1737360"/>
            <a:ext cx="2148839" cy="502920"/>
          </a:xfrm>
          <a:prstGeom prst="rect">
            <a:avLst/>
          </a:prstGeom>
          <a:noFill/>
        </p:spPr>
        <p:txBody>
          <a:bodyPr wrap="square">
            <a:spAutoFit/>
          </a:bodyPr>
          <a:lstStyle/>
          <a:p>
            <a:pPr algn="l"/>
            <a:r>
              <a:rPr sz="2600" b="1" i="0">
                <a:solidFill>
                  <a:srgbClr val="F5A623"/>
                </a:solidFill>
              </a:rPr>
              <a:t>2.99×$10k</a:t>
            </a:r>
          </a:p>
        </p:txBody>
      </p:sp>
      <p:sp>
        <p:nvSpPr>
          <p:cNvPr id="26" name="TextBox 25"/>
          <p:cNvSpPr txBox="1"/>
          <p:nvPr/>
        </p:nvSpPr>
        <p:spPr>
          <a:xfrm>
            <a:off x="2871216" y="2231136"/>
            <a:ext cx="2148839" cy="292608"/>
          </a:xfrm>
          <a:prstGeom prst="rect">
            <a:avLst/>
          </a:prstGeom>
          <a:noFill/>
        </p:spPr>
        <p:txBody>
          <a:bodyPr wrap="square">
            <a:spAutoFit/>
          </a:bodyPr>
          <a:lstStyle/>
          <a:p>
            <a:pPr algn="l"/>
            <a:r>
              <a:rPr sz="900" b="0" i="0">
                <a:solidFill>
                  <a:srgbClr val="94A3B8"/>
                </a:solidFill>
              </a:rPr>
              <a:t>Renda Mediana</a:t>
            </a:r>
          </a:p>
        </p:txBody>
      </p:sp>
      <p:sp>
        <p:nvSpPr>
          <p:cNvPr id="27" name="TextBox 26"/>
          <p:cNvSpPr txBox="1"/>
          <p:nvPr/>
        </p:nvSpPr>
        <p:spPr>
          <a:xfrm>
            <a:off x="2871216" y="2487168"/>
            <a:ext cx="2148839" cy="256032"/>
          </a:xfrm>
          <a:prstGeom prst="rect">
            <a:avLst/>
          </a:prstGeom>
          <a:noFill/>
        </p:spPr>
        <p:txBody>
          <a:bodyPr wrap="square">
            <a:spAutoFit/>
          </a:bodyPr>
          <a:lstStyle/>
          <a:p>
            <a:pPr algn="l"/>
            <a:r>
              <a:rPr sz="800" b="0" i="1">
                <a:solidFill>
                  <a:srgbClr val="94A3B8"/>
                </a:solidFill>
              </a:rPr>
              <a:t>$29,877/ano</a:t>
            </a:r>
          </a:p>
        </p:txBody>
      </p:sp>
      <p:sp>
        <p:nvSpPr>
          <p:cNvPr id="28" name="Rectangle 27"/>
          <p:cNvSpPr/>
          <p:nvPr/>
        </p:nvSpPr>
        <p:spPr>
          <a:xfrm>
            <a:off x="521208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12080" y="1664208"/>
            <a:ext cx="50292" cy="10058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0096" y="1737360"/>
            <a:ext cx="2148839" cy="502920"/>
          </a:xfrm>
          <a:prstGeom prst="rect">
            <a:avLst/>
          </a:prstGeom>
          <a:noFill/>
        </p:spPr>
        <p:txBody>
          <a:bodyPr wrap="square">
            <a:spAutoFit/>
          </a:bodyPr>
          <a:lstStyle/>
          <a:p>
            <a:pPr algn="l"/>
            <a:r>
              <a:rPr sz="2600" b="1" i="0">
                <a:solidFill>
                  <a:srgbClr val="34D399"/>
                </a:solidFill>
              </a:rPr>
              <a:t>2.75</a:t>
            </a:r>
          </a:p>
        </p:txBody>
      </p:sp>
      <p:sp>
        <p:nvSpPr>
          <p:cNvPr id="31" name="TextBox 30"/>
          <p:cNvSpPr txBox="1"/>
          <p:nvPr/>
        </p:nvSpPr>
        <p:spPr>
          <a:xfrm>
            <a:off x="5340096" y="2231136"/>
            <a:ext cx="2148839" cy="292608"/>
          </a:xfrm>
          <a:prstGeom prst="rect">
            <a:avLst/>
          </a:prstGeom>
          <a:noFill/>
        </p:spPr>
        <p:txBody>
          <a:bodyPr wrap="square">
            <a:spAutoFit/>
          </a:bodyPr>
          <a:lstStyle/>
          <a:p>
            <a:pPr algn="l"/>
            <a:r>
              <a:rPr sz="900" b="0" i="0">
                <a:solidFill>
                  <a:srgbClr val="94A3B8"/>
                </a:solidFill>
              </a:rPr>
              <a:t>Score C/B</a:t>
            </a:r>
          </a:p>
        </p:txBody>
      </p:sp>
      <p:sp>
        <p:nvSpPr>
          <p:cNvPr id="32" name="TextBox 31"/>
          <p:cNvSpPr txBox="1"/>
          <p:nvPr/>
        </p:nvSpPr>
        <p:spPr>
          <a:xfrm>
            <a:off x="5340096" y="2487168"/>
            <a:ext cx="2148839" cy="256032"/>
          </a:xfrm>
          <a:prstGeom prst="rect">
            <a:avLst/>
          </a:prstGeom>
          <a:noFill/>
        </p:spPr>
        <p:txBody>
          <a:bodyPr wrap="square">
            <a:spAutoFit/>
          </a:bodyPr>
          <a:lstStyle/>
          <a:p>
            <a:pPr algn="l"/>
            <a:r>
              <a:rPr sz="800" b="0" i="1">
                <a:solidFill>
                  <a:srgbClr val="94A3B8"/>
                </a:solidFill>
              </a:rPr>
              <a:t>renda ÷ (valor/$100k)</a:t>
            </a:r>
          </a:p>
        </p:txBody>
      </p:sp>
      <p:sp>
        <p:nvSpPr>
          <p:cNvPr id="33" name="Rectangle 32"/>
          <p:cNvSpPr/>
          <p:nvPr/>
        </p:nvSpPr>
        <p:spPr>
          <a:xfrm>
            <a:off x="768096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80960" y="1664208"/>
            <a:ext cx="50292" cy="10058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08976" y="1737360"/>
            <a:ext cx="2148839" cy="502920"/>
          </a:xfrm>
          <a:prstGeom prst="rect">
            <a:avLst/>
          </a:prstGeom>
          <a:noFill/>
        </p:spPr>
        <p:txBody>
          <a:bodyPr wrap="square">
            <a:spAutoFit/>
          </a:bodyPr>
          <a:lstStyle/>
          <a:p>
            <a:pPr algn="l"/>
            <a:r>
              <a:rPr sz="2600" b="1" i="0">
                <a:solidFill>
                  <a:srgbClr val="94A3B8"/>
                </a:solidFill>
              </a:rPr>
              <a:t>23 anos</a:t>
            </a:r>
          </a:p>
        </p:txBody>
      </p:sp>
      <p:sp>
        <p:nvSpPr>
          <p:cNvPr id="36" name="TextBox 35"/>
          <p:cNvSpPr txBox="1"/>
          <p:nvPr/>
        </p:nvSpPr>
        <p:spPr>
          <a:xfrm>
            <a:off x="7808976" y="2231136"/>
            <a:ext cx="2148839" cy="292608"/>
          </a:xfrm>
          <a:prstGeom prst="rect">
            <a:avLst/>
          </a:prstGeom>
          <a:noFill/>
        </p:spPr>
        <p:txBody>
          <a:bodyPr wrap="square">
            <a:spAutoFit/>
          </a:bodyPr>
          <a:lstStyle/>
          <a:p>
            <a:pPr algn="l"/>
            <a:r>
              <a:rPr sz="900" b="0" i="0">
                <a:solidFill>
                  <a:srgbClr val="94A3B8"/>
                </a:solidFill>
              </a:rPr>
              <a:t>Idade Mediana</a:t>
            </a:r>
          </a:p>
        </p:txBody>
      </p:sp>
      <p:sp>
        <p:nvSpPr>
          <p:cNvPr id="37" name="TextBox 36"/>
          <p:cNvSpPr txBox="1"/>
          <p:nvPr/>
        </p:nvSpPr>
        <p:spPr>
          <a:xfrm>
            <a:off x="7808976" y="2487168"/>
            <a:ext cx="2148839" cy="256032"/>
          </a:xfrm>
          <a:prstGeom prst="rect">
            <a:avLst/>
          </a:prstGeom>
          <a:noFill/>
        </p:spPr>
        <p:txBody>
          <a:bodyPr wrap="square">
            <a:spAutoFit/>
          </a:bodyPr>
          <a:lstStyle/>
          <a:p>
            <a:pPr algn="l"/>
            <a:r>
              <a:rPr sz="800" b="0" i="1">
                <a:solidFill>
                  <a:srgbClr val="94A3B8"/>
                </a:solidFill>
              </a:rPr>
              <a:t>6,551.0 distritos</a:t>
            </a:r>
          </a:p>
        </p:txBody>
      </p:sp>
      <p:sp>
        <p:nvSpPr>
          <p:cNvPr id="38" name="Rectangle 37"/>
          <p:cNvSpPr/>
          <p:nvPr/>
        </p:nvSpPr>
        <p:spPr>
          <a:xfrm>
            <a:off x="10149840" y="1664208"/>
            <a:ext cx="178308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49840" y="1664208"/>
            <a:ext cx="50292" cy="10058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77856" y="1737360"/>
            <a:ext cx="1600200" cy="502920"/>
          </a:xfrm>
          <a:prstGeom prst="rect">
            <a:avLst/>
          </a:prstGeom>
          <a:noFill/>
        </p:spPr>
        <p:txBody>
          <a:bodyPr wrap="square">
            <a:spAutoFit/>
          </a:bodyPr>
          <a:lstStyle/>
          <a:p>
            <a:pPr algn="l"/>
            <a:r>
              <a:rPr sz="2600" b="1" i="0">
                <a:solidFill>
                  <a:srgbClr val="F97316"/>
                </a:solidFill>
              </a:rPr>
              <a:t>5.5</a:t>
            </a:r>
          </a:p>
        </p:txBody>
      </p:sp>
      <p:sp>
        <p:nvSpPr>
          <p:cNvPr id="41" name="TextBox 40"/>
          <p:cNvSpPr txBox="1"/>
          <p:nvPr/>
        </p:nvSpPr>
        <p:spPr>
          <a:xfrm>
            <a:off x="10277856" y="2231136"/>
            <a:ext cx="1600200" cy="292608"/>
          </a:xfrm>
          <a:prstGeom prst="rect">
            <a:avLst/>
          </a:prstGeom>
          <a:noFill/>
        </p:spPr>
        <p:txBody>
          <a:bodyPr wrap="square">
            <a:spAutoFit/>
          </a:bodyPr>
          <a:lstStyle/>
          <a:p>
            <a:pPr algn="l"/>
            <a:r>
              <a:rPr sz="900" b="0" i="0">
                <a:solidFill>
                  <a:srgbClr val="94A3B8"/>
                </a:solidFill>
              </a:rPr>
              <a:t>Quartos/Dom.</a:t>
            </a:r>
          </a:p>
        </p:txBody>
      </p:sp>
      <p:sp>
        <p:nvSpPr>
          <p:cNvPr id="42" name="TextBox 41"/>
          <p:cNvSpPr txBox="1"/>
          <p:nvPr/>
        </p:nvSpPr>
        <p:spPr>
          <a:xfrm>
            <a:off x="10277856" y="2487168"/>
            <a:ext cx="1600200" cy="256032"/>
          </a:xfrm>
          <a:prstGeom prst="rect">
            <a:avLst/>
          </a:prstGeom>
          <a:noFill/>
        </p:spPr>
        <p:txBody>
          <a:bodyPr wrap="square">
            <a:spAutoFit/>
          </a:bodyPr>
          <a:lstStyle/>
          <a:p>
            <a:pPr algn="l"/>
            <a:r>
              <a:rPr sz="800" b="0" i="1">
                <a:solidFill>
                  <a:srgbClr val="94A3B8"/>
                </a:solidFill>
              </a:rPr>
              <a:t>média da zona</a:t>
            </a:r>
          </a:p>
        </p:txBody>
      </p:sp>
      <p:sp>
        <p:nvSpPr>
          <p:cNvPr id="43" name="Rectangle 42"/>
          <p:cNvSpPr/>
          <p:nvPr/>
        </p:nvSpPr>
        <p:spPr>
          <a:xfrm>
            <a:off x="274320" y="2834640"/>
            <a:ext cx="5943600" cy="141732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2834640"/>
            <a:ext cx="64008" cy="14173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2907792"/>
            <a:ext cx="5577840" cy="1280160"/>
          </a:xfrm>
          <a:prstGeom prst="rect">
            <a:avLst/>
          </a:prstGeom>
          <a:noFill/>
        </p:spPr>
        <p:txBody>
          <a:bodyPr wrap="square">
            <a:spAutoFit/>
          </a:bodyPr>
          <a:lstStyle/>
          <a:p>
            <a:pPr algn="l"/>
            <a:r>
              <a:rPr sz="950" b="0" i="0">
                <a:solidFill>
                  <a:srgbClr val="94A3B8"/>
                </a:solidFill>
              </a:rPr>
              <a:t>O INLAND é a Califórnia que os turistas não veem. São os vales agrícolas que abastecem os EUA — algodão, amêndoas, uvas. As cidades cresceram rápido nos anos 80 e 90 impulsionadas por famílias que não podiam pagar a costa. Hoje, é onde a classe trabalhadora construiu patrimônio. Verões de 38–42°C são a principal desvantagem. A infraestrutura melhora a cada década.</a:t>
            </a:r>
          </a:p>
        </p:txBody>
      </p:sp>
      <p:pic>
        <p:nvPicPr>
          <p:cNvPr id="46" name="Picture 45" descr="image.png"/>
          <p:cNvPicPr>
            <a:picLocks noChangeAspect="1"/>
          </p:cNvPicPr>
          <p:nvPr/>
        </p:nvPicPr>
        <p:blipFill>
          <a:blip r:embed="rId2"/>
          <a:stretch>
            <a:fillRect/>
          </a:stretch>
        </p:blipFill>
        <p:spPr>
          <a:xfrm>
            <a:off x="6400800" y="2788920"/>
            <a:ext cx="5440680" cy="2377440"/>
          </a:xfrm>
          <a:prstGeom prst="rect">
            <a:avLst/>
          </a:prstGeom>
        </p:spPr>
      </p:pic>
      <p:sp>
        <p:nvSpPr>
          <p:cNvPr id="47" name="TextBox 46"/>
          <p:cNvSpPr txBox="1"/>
          <p:nvPr/>
        </p:nvSpPr>
        <p:spPr>
          <a:xfrm>
            <a:off x="320040" y="4407408"/>
            <a:ext cx="2743200" cy="274320"/>
          </a:xfrm>
          <a:prstGeom prst="rect">
            <a:avLst/>
          </a:prstGeom>
          <a:noFill/>
        </p:spPr>
        <p:txBody>
          <a:bodyPr wrap="square">
            <a:spAutoFit/>
          </a:bodyPr>
          <a:lstStyle/>
          <a:p>
            <a:pPr algn="l"/>
            <a:r>
              <a:rPr sz="900" b="1" i="0">
                <a:solidFill>
                  <a:srgbClr val="34D399"/>
                </a:solidFill>
              </a:rPr>
              <a:t>✅  IDEAL PARA:</a:t>
            </a:r>
          </a:p>
        </p:txBody>
      </p:sp>
      <p:sp>
        <p:nvSpPr>
          <p:cNvPr id="48" name="TextBox 47"/>
          <p:cNvSpPr txBox="1"/>
          <p:nvPr/>
        </p:nvSpPr>
        <p:spPr>
          <a:xfrm>
            <a:off x="320040" y="4700016"/>
            <a:ext cx="5760720" cy="256032"/>
          </a:xfrm>
          <a:prstGeom prst="rect">
            <a:avLst/>
          </a:prstGeom>
          <a:noFill/>
        </p:spPr>
        <p:txBody>
          <a:bodyPr wrap="square">
            <a:spAutoFit/>
          </a:bodyPr>
          <a:lstStyle/>
          <a:p>
            <a:pPr algn="l"/>
            <a:r>
              <a:rPr sz="900" b="0" i="0">
                <a:solidFill>
                  <a:srgbClr val="FFFFFF"/>
                </a:solidFill>
              </a:rPr>
              <a:t>  ✅  Primeira moradia com renda modesta (&lt; $45k/ano)</a:t>
            </a:r>
          </a:p>
        </p:txBody>
      </p:sp>
      <p:sp>
        <p:nvSpPr>
          <p:cNvPr id="49" name="TextBox 48"/>
          <p:cNvSpPr txBox="1"/>
          <p:nvPr/>
        </p:nvSpPr>
        <p:spPr>
          <a:xfrm>
            <a:off x="320040" y="4992624"/>
            <a:ext cx="5760720" cy="256032"/>
          </a:xfrm>
          <a:prstGeom prst="rect">
            <a:avLst/>
          </a:prstGeom>
          <a:noFill/>
        </p:spPr>
        <p:txBody>
          <a:bodyPr wrap="square">
            <a:spAutoFit/>
          </a:bodyPr>
          <a:lstStyle/>
          <a:p>
            <a:pPr algn="l"/>
            <a:r>
              <a:rPr sz="900" b="0" i="0">
                <a:solidFill>
                  <a:srgbClr val="FFFFFF"/>
                </a:solidFill>
              </a:rPr>
              <a:t>  ✅  Famílias grandes que precisam de espaço por menos</a:t>
            </a:r>
          </a:p>
        </p:txBody>
      </p:sp>
      <p:sp>
        <p:nvSpPr>
          <p:cNvPr id="50" name="TextBox 49"/>
          <p:cNvSpPr txBox="1"/>
          <p:nvPr/>
        </p:nvSpPr>
        <p:spPr>
          <a:xfrm>
            <a:off x="320040" y="5285232"/>
            <a:ext cx="5760720" cy="256032"/>
          </a:xfrm>
          <a:prstGeom prst="rect">
            <a:avLst/>
          </a:prstGeom>
          <a:noFill/>
        </p:spPr>
        <p:txBody>
          <a:bodyPr wrap="square">
            <a:spAutoFit/>
          </a:bodyPr>
          <a:lstStyle/>
          <a:p>
            <a:pPr algn="l"/>
            <a:r>
              <a:rPr sz="900" b="0" i="0">
                <a:solidFill>
                  <a:srgbClr val="FFFFFF"/>
                </a:solidFill>
              </a:rPr>
              <a:t>  ✅  Investidores buscando imóveis abaixo de $150k</a:t>
            </a:r>
          </a:p>
        </p:txBody>
      </p:sp>
      <p:sp>
        <p:nvSpPr>
          <p:cNvPr id="51" name="TextBox 50"/>
          <p:cNvSpPr txBox="1"/>
          <p:nvPr/>
        </p:nvSpPr>
        <p:spPr>
          <a:xfrm>
            <a:off x="320040" y="5577840"/>
            <a:ext cx="5760720" cy="256032"/>
          </a:xfrm>
          <a:prstGeom prst="rect">
            <a:avLst/>
          </a:prstGeom>
          <a:noFill/>
        </p:spPr>
        <p:txBody>
          <a:bodyPr wrap="square">
            <a:spAutoFit/>
          </a:bodyPr>
          <a:lstStyle/>
          <a:p>
            <a:pPr algn="l"/>
            <a:r>
              <a:rPr sz="900" b="0" i="0">
                <a:solidFill>
                  <a:srgbClr val="FFFFFF"/>
                </a:solidFill>
              </a:rPr>
              <a:t>  ✅  Aposentados com renda fixa que querem patrimônio</a:t>
            </a:r>
          </a:p>
        </p:txBody>
      </p:sp>
      <p:sp>
        <p:nvSpPr>
          <p:cNvPr id="52" name="TextBox 51"/>
          <p:cNvSpPr txBox="1"/>
          <p:nvPr/>
        </p:nvSpPr>
        <p:spPr>
          <a:xfrm>
            <a:off x="6035040" y="4407408"/>
            <a:ext cx="2743200" cy="274320"/>
          </a:xfrm>
          <a:prstGeom prst="rect">
            <a:avLst/>
          </a:prstGeom>
          <a:noFill/>
        </p:spPr>
        <p:txBody>
          <a:bodyPr wrap="square">
            <a:spAutoFit/>
          </a:bodyPr>
          <a:lstStyle/>
          <a:p>
            <a:pPr algn="l"/>
            <a:r>
              <a:rPr sz="900" b="1" i="0">
                <a:solidFill>
                  <a:srgbClr val="F97316"/>
                </a:solidFill>
              </a:rPr>
              <a:t>⚠️  ATENÇÃO:</a:t>
            </a:r>
          </a:p>
        </p:txBody>
      </p:sp>
      <p:sp>
        <p:nvSpPr>
          <p:cNvPr id="53" name="TextBox 52"/>
          <p:cNvSpPr txBox="1"/>
          <p:nvPr/>
        </p:nvSpPr>
        <p:spPr>
          <a:xfrm>
            <a:off x="6035040" y="4700016"/>
            <a:ext cx="5669280" cy="256032"/>
          </a:xfrm>
          <a:prstGeom prst="rect">
            <a:avLst/>
          </a:prstGeom>
          <a:noFill/>
        </p:spPr>
        <p:txBody>
          <a:bodyPr wrap="square">
            <a:spAutoFit/>
          </a:bodyPr>
          <a:lstStyle/>
          <a:p>
            <a:pPr algn="l"/>
            <a:r>
              <a:rPr sz="900" b="0" i="0">
                <a:solidFill>
                  <a:srgbClr val="94A3B8"/>
                </a:solidFill>
              </a:rPr>
              <a:t>  ⚠️  Verões extremamente quentes (38–42°C)</a:t>
            </a:r>
          </a:p>
        </p:txBody>
      </p:sp>
      <p:sp>
        <p:nvSpPr>
          <p:cNvPr id="54" name="TextBox 53"/>
          <p:cNvSpPr txBox="1"/>
          <p:nvPr/>
        </p:nvSpPr>
        <p:spPr>
          <a:xfrm>
            <a:off x="6035040" y="4992624"/>
            <a:ext cx="5669280" cy="256032"/>
          </a:xfrm>
          <a:prstGeom prst="rect">
            <a:avLst/>
          </a:prstGeom>
          <a:noFill/>
        </p:spPr>
        <p:txBody>
          <a:bodyPr wrap="square">
            <a:spAutoFit/>
          </a:bodyPr>
          <a:lstStyle/>
          <a:p>
            <a:pPr algn="l"/>
            <a:r>
              <a:rPr sz="900" b="0" i="0">
                <a:solidFill>
                  <a:srgbClr val="94A3B8"/>
                </a:solidFill>
              </a:rPr>
              <a:t>  ⚠️  Dependência total do carro — sem transporte público</a:t>
            </a:r>
          </a:p>
        </p:txBody>
      </p:sp>
      <p:sp>
        <p:nvSpPr>
          <p:cNvPr id="55" name="TextBox 54"/>
          <p:cNvSpPr txBox="1"/>
          <p:nvPr/>
        </p:nvSpPr>
        <p:spPr>
          <a:xfrm>
            <a:off x="6035040" y="5285232"/>
            <a:ext cx="5669280" cy="256032"/>
          </a:xfrm>
          <a:prstGeom prst="rect">
            <a:avLst/>
          </a:prstGeom>
          <a:noFill/>
        </p:spPr>
        <p:txBody>
          <a:bodyPr wrap="square">
            <a:spAutoFit/>
          </a:bodyPr>
          <a:lstStyle/>
          <a:p>
            <a:pPr algn="l"/>
            <a:r>
              <a:rPr sz="900" b="0" i="0">
                <a:solidFill>
                  <a:srgbClr val="94A3B8"/>
                </a:solidFill>
              </a:rPr>
              <a:t>  ⚠️  Menor valorização histórica vs. zona costeira</a:t>
            </a:r>
          </a:p>
        </p:txBody>
      </p:sp>
      <p:sp>
        <p:nvSpPr>
          <p:cNvPr id="56" name="TextBox 55"/>
          <p:cNvSpPr txBox="1"/>
          <p:nvPr/>
        </p:nvSpPr>
        <p:spPr>
          <a:xfrm>
            <a:off x="6035040" y="5577840"/>
            <a:ext cx="5669280" cy="256032"/>
          </a:xfrm>
          <a:prstGeom prst="rect">
            <a:avLst/>
          </a:prstGeom>
          <a:noFill/>
        </p:spPr>
        <p:txBody>
          <a:bodyPr wrap="square">
            <a:spAutoFit/>
          </a:bodyPr>
          <a:lstStyle/>
          <a:p>
            <a:pPr algn="l"/>
            <a:r>
              <a:rPr sz="900" b="0" i="0">
                <a:solidFill>
                  <a:srgbClr val="94A3B8"/>
                </a:solidFill>
              </a:rPr>
              <a:t>  ⚠️  Mercado de trabalho mais restrito</a:t>
            </a:r>
          </a:p>
        </p:txBody>
      </p:sp>
      <p:sp>
        <p:nvSpPr>
          <p:cNvPr id="57" name="Rectangle 56"/>
          <p:cNvSpPr/>
          <p:nvPr/>
        </p:nvSpPr>
        <p:spPr>
          <a:xfrm>
            <a:off x="274320" y="5760720"/>
            <a:ext cx="11612880" cy="4754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5833872"/>
            <a:ext cx="2194560" cy="310896"/>
          </a:xfrm>
          <a:prstGeom prst="rect">
            <a:avLst/>
          </a:prstGeom>
          <a:noFill/>
        </p:spPr>
        <p:txBody>
          <a:bodyPr wrap="square">
            <a:spAutoFit/>
          </a:bodyPr>
          <a:lstStyle/>
          <a:p>
            <a:pPr algn="l"/>
            <a:r>
              <a:rPr sz="900" b="1" i="0">
                <a:solidFill>
                  <a:srgbClr val="F5A623"/>
                </a:solidFill>
              </a:rPr>
              <a:t>📍  Cidades referência: </a:t>
            </a:r>
          </a:p>
        </p:txBody>
      </p:sp>
      <p:sp>
        <p:nvSpPr>
          <p:cNvPr id="59" name="TextBox 58"/>
          <p:cNvSpPr txBox="1"/>
          <p:nvPr/>
        </p:nvSpPr>
        <p:spPr>
          <a:xfrm>
            <a:off x="2606040" y="5833872"/>
            <a:ext cx="9144000" cy="310896"/>
          </a:xfrm>
          <a:prstGeom prst="rect">
            <a:avLst/>
          </a:prstGeom>
          <a:noFill/>
        </p:spPr>
        <p:txBody>
          <a:bodyPr wrap="square">
            <a:spAutoFit/>
          </a:bodyPr>
          <a:lstStyle/>
          <a:p>
            <a:pPr algn="l"/>
            <a:r>
              <a:rPr sz="900" b="0" i="0">
                <a:solidFill>
                  <a:srgbClr val="FFFFFF"/>
                </a:solidFill>
              </a:rPr>
              <a:t>Bakersfield · Fresno · Modesto · Stockton · Visalia · Merced · Sacramento (periferia)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64224"/>
            <a:ext cx="2249424" cy="256032"/>
          </a:xfrm>
          <a:prstGeom prst="rect">
            <a:avLst/>
          </a:prstGeom>
          <a:noFill/>
        </p:spPr>
        <p:txBody>
          <a:bodyPr wrap="square">
            <a:spAutoFit/>
          </a:bodyPr>
          <a:lstStyle/>
          <a:p>
            <a:pPr algn="ctr"/>
            <a:r>
              <a:rPr sz="700" b="0" i="0">
                <a:solidFill>
                  <a:srgbClr val="94A3B8"/>
                </a:solidFill>
              </a:rPr>
              <a:t>Interior</a:t>
            </a:r>
          </a:p>
        </p:txBody>
      </p:sp>
      <p:sp>
        <p:nvSpPr>
          <p:cNvPr id="5" name="Rectangle 4"/>
          <p:cNvSpPr/>
          <p:nvPr/>
        </p:nvSpPr>
        <p:spPr>
          <a:xfrm>
            <a:off x="2596896" y="6309360"/>
            <a:ext cx="2322576" cy="34747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42615" y="6364224"/>
            <a:ext cx="2249424" cy="256032"/>
          </a:xfrm>
          <a:prstGeom prst="rect">
            <a:avLst/>
          </a:prstGeom>
          <a:noFill/>
        </p:spPr>
        <p:txBody>
          <a:bodyPr wrap="square">
            <a:spAutoFit/>
          </a:bodyPr>
          <a:lstStyle/>
          <a:p>
            <a:pPr algn="ctr"/>
            <a:r>
              <a:rPr sz="800" b="1" i="0">
                <a:solidFill>
                  <a:srgbClr val="0E1117"/>
                </a:solidFill>
              </a:rPr>
              <a:t>&lt;1h Oceano</a:t>
            </a:r>
          </a:p>
        </p:txBody>
      </p:sp>
      <p:sp>
        <p:nvSpPr>
          <p:cNvPr id="7" name="Rectangle 6"/>
          <p:cNvSpPr/>
          <p:nvPr/>
        </p:nvSpPr>
        <p:spPr>
          <a:xfrm>
            <a:off x="4919472"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6364224"/>
            <a:ext cx="2249424" cy="256032"/>
          </a:xfrm>
          <a:prstGeom prst="rect">
            <a:avLst/>
          </a:prstGeom>
          <a:noFill/>
        </p:spPr>
        <p:txBody>
          <a:bodyPr wrap="square">
            <a:spAutoFit/>
          </a:bodyPr>
          <a:lstStyle/>
          <a:p>
            <a:pPr algn="ctr"/>
            <a:r>
              <a:rPr sz="700" b="0" i="0">
                <a:solidFill>
                  <a:srgbClr val="94A3B8"/>
                </a:solidFill>
              </a:rPr>
              <a:t>Próx. Oceano</a:t>
            </a:r>
          </a:p>
        </p:txBody>
      </p:sp>
      <p:sp>
        <p:nvSpPr>
          <p:cNvPr id="9" name="Rectangle 8"/>
          <p:cNvSpPr/>
          <p:nvPr/>
        </p:nvSpPr>
        <p:spPr>
          <a:xfrm>
            <a:off x="7242048"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87768" y="6364224"/>
            <a:ext cx="2249424" cy="256032"/>
          </a:xfrm>
          <a:prstGeom prst="rect">
            <a:avLst/>
          </a:prstGeom>
          <a:noFill/>
        </p:spPr>
        <p:txBody>
          <a:bodyPr wrap="square">
            <a:spAutoFit/>
          </a:bodyPr>
          <a:lstStyle/>
          <a:p>
            <a:pPr algn="ctr"/>
            <a:r>
              <a:rPr sz="700" b="0" i="0">
                <a:solidFill>
                  <a:srgbClr val="94A3B8"/>
                </a:solidFill>
              </a:rPr>
              <a:t>Próx. Baía</a:t>
            </a:r>
          </a:p>
        </p:txBody>
      </p:sp>
      <p:sp>
        <p:nvSpPr>
          <p:cNvPr id="11" name="Rectangle 10"/>
          <p:cNvSpPr/>
          <p:nvPr/>
        </p:nvSpPr>
        <p:spPr>
          <a:xfrm>
            <a:off x="9564624"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10344" y="6364224"/>
            <a:ext cx="2249424" cy="256032"/>
          </a:xfrm>
          <a:prstGeom prst="rect">
            <a:avLst/>
          </a:prstGeom>
          <a:noFill/>
        </p:spPr>
        <p:txBody>
          <a:bodyPr wrap="square">
            <a:spAutoFit/>
          </a:bodyPr>
          <a:lstStyle/>
          <a:p>
            <a:pPr algn="ctr"/>
            <a:r>
              <a:rPr sz="700" b="0" i="0">
                <a:solidFill>
                  <a:srgbClr val="94A3B8"/>
                </a:solidFill>
              </a:rPr>
              <a:t>Ilha</a:t>
            </a:r>
          </a:p>
        </p:txBody>
      </p:sp>
      <p:sp>
        <p:nvSpPr>
          <p:cNvPr id="13" name="Rectangle 12"/>
          <p:cNvSpPr/>
          <p:nvPr/>
        </p:nvSpPr>
        <p:spPr>
          <a:xfrm>
            <a:off x="274320" y="201168"/>
            <a:ext cx="1490472" cy="2468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 y="228600"/>
            <a:ext cx="1399031" cy="219456"/>
          </a:xfrm>
          <a:prstGeom prst="rect">
            <a:avLst/>
          </a:prstGeom>
          <a:noFill/>
        </p:spPr>
        <p:txBody>
          <a:bodyPr wrap="square">
            <a:spAutoFit/>
          </a:bodyPr>
          <a:lstStyle/>
          <a:p>
            <a:pPr algn="ctr"/>
            <a:r>
              <a:rPr sz="900" b="1" i="0">
                <a:solidFill>
                  <a:srgbClr val="0E1117"/>
                </a:solidFill>
              </a:rPr>
              <a:t>ZONA EM DETALHE</a:t>
            </a:r>
          </a:p>
        </p:txBody>
      </p:sp>
      <p:sp>
        <p:nvSpPr>
          <p:cNvPr id="15" name="TextBox 14"/>
          <p:cNvSpPr txBox="1"/>
          <p:nvPr/>
        </p:nvSpPr>
        <p:spPr>
          <a:xfrm>
            <a:off x="274320" y="502920"/>
            <a:ext cx="8229600" cy="548640"/>
          </a:xfrm>
          <a:prstGeom prst="rect">
            <a:avLst/>
          </a:prstGeom>
          <a:noFill/>
        </p:spPr>
        <p:txBody>
          <a:bodyPr wrap="square">
            <a:spAutoFit/>
          </a:bodyPr>
          <a:lstStyle/>
          <a:p>
            <a:pPr algn="l"/>
            <a:r>
              <a:rPr sz="2400" b="1" i="0">
                <a:solidFill>
                  <a:srgbClr val="34D399"/>
                </a:solidFill>
              </a:rPr>
              <a:t>🚗  &lt;1H OCEAN — Subúrbio Conectado</a:t>
            </a:r>
          </a:p>
        </p:txBody>
      </p:sp>
      <p:sp>
        <p:nvSpPr>
          <p:cNvPr id="16" name="TextBox 15"/>
          <p:cNvSpPr txBox="1"/>
          <p:nvPr/>
        </p:nvSpPr>
        <p:spPr>
          <a:xfrm>
            <a:off x="274320" y="1024128"/>
            <a:ext cx="8229600" cy="384048"/>
          </a:xfrm>
          <a:prstGeom prst="rect">
            <a:avLst/>
          </a:prstGeom>
          <a:noFill/>
        </p:spPr>
        <p:txBody>
          <a:bodyPr wrap="square">
            <a:spAutoFit/>
          </a:bodyPr>
          <a:lstStyle/>
          <a:p>
            <a:pPr algn="l"/>
            <a:r>
              <a:rPr sz="1400" b="0" i="0">
                <a:solidFill>
                  <a:srgbClr val="FFFFFF"/>
                </a:solidFill>
              </a:rPr>
              <a:t>Até 60 minutos do oceano. O endereço da classe média californiana.</a:t>
            </a:r>
          </a:p>
        </p:txBody>
      </p:sp>
      <p:sp>
        <p:nvSpPr>
          <p:cNvPr id="17" name="Rectangle 16"/>
          <p:cNvSpPr/>
          <p:nvPr/>
        </p:nvSpPr>
        <p:spPr>
          <a:xfrm>
            <a:off x="274320" y="1508760"/>
            <a:ext cx="11612880" cy="3200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664208"/>
            <a:ext cx="50292" cy="10058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 y="1737360"/>
            <a:ext cx="2148839" cy="502920"/>
          </a:xfrm>
          <a:prstGeom prst="rect">
            <a:avLst/>
          </a:prstGeom>
          <a:noFill/>
        </p:spPr>
        <p:txBody>
          <a:bodyPr wrap="square">
            <a:spAutoFit/>
          </a:bodyPr>
          <a:lstStyle/>
          <a:p>
            <a:pPr algn="l"/>
            <a:r>
              <a:rPr sz="2600" b="1" i="0">
                <a:solidFill>
                  <a:srgbClr val="34D399"/>
                </a:solidFill>
              </a:rPr>
              <a:t>$215k</a:t>
            </a:r>
          </a:p>
        </p:txBody>
      </p:sp>
      <p:sp>
        <p:nvSpPr>
          <p:cNvPr id="21" name="TextBox 20"/>
          <p:cNvSpPr txBox="1"/>
          <p:nvPr/>
        </p:nvSpPr>
        <p:spPr>
          <a:xfrm>
            <a:off x="402336" y="2231136"/>
            <a:ext cx="2148839" cy="292608"/>
          </a:xfrm>
          <a:prstGeom prst="rect">
            <a:avLst/>
          </a:prstGeom>
          <a:noFill/>
        </p:spPr>
        <p:txBody>
          <a:bodyPr wrap="square">
            <a:spAutoFit/>
          </a:bodyPr>
          <a:lstStyle/>
          <a:p>
            <a:pPr algn="l"/>
            <a:r>
              <a:rPr sz="900" b="0" i="0">
                <a:solidFill>
                  <a:srgbClr val="94A3B8"/>
                </a:solidFill>
              </a:rPr>
              <a:t>Valor Mediano</a:t>
            </a:r>
          </a:p>
        </p:txBody>
      </p:sp>
      <p:sp>
        <p:nvSpPr>
          <p:cNvPr id="22" name="TextBox 21"/>
          <p:cNvSpPr txBox="1"/>
          <p:nvPr/>
        </p:nvSpPr>
        <p:spPr>
          <a:xfrm>
            <a:off x="402336" y="2487168"/>
            <a:ext cx="2148839" cy="256032"/>
          </a:xfrm>
          <a:prstGeom prst="rect">
            <a:avLst/>
          </a:prstGeom>
          <a:noFill/>
        </p:spPr>
        <p:txBody>
          <a:bodyPr wrap="square">
            <a:spAutoFit/>
          </a:bodyPr>
          <a:lstStyle/>
          <a:p>
            <a:pPr algn="l"/>
            <a:r>
              <a:rPr sz="800" b="0" i="1">
                <a:solidFill>
                  <a:srgbClr val="94A3B8"/>
                </a:solidFill>
              </a:rPr>
              <a:t>P25: $164k / P75: $289k</a:t>
            </a:r>
          </a:p>
        </p:txBody>
      </p:sp>
      <p:sp>
        <p:nvSpPr>
          <p:cNvPr id="23" name="Rectangle 22"/>
          <p:cNvSpPr/>
          <p:nvPr/>
        </p:nvSpPr>
        <p:spPr>
          <a:xfrm>
            <a:off x="274320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1664208"/>
            <a:ext cx="50292"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71216" y="1737360"/>
            <a:ext cx="2148839" cy="502920"/>
          </a:xfrm>
          <a:prstGeom prst="rect">
            <a:avLst/>
          </a:prstGeom>
          <a:noFill/>
        </p:spPr>
        <p:txBody>
          <a:bodyPr wrap="square">
            <a:spAutoFit/>
          </a:bodyPr>
          <a:lstStyle/>
          <a:p>
            <a:pPr algn="l"/>
            <a:r>
              <a:rPr sz="2600" b="1" i="0">
                <a:solidFill>
                  <a:srgbClr val="F5A623"/>
                </a:solidFill>
              </a:rPr>
              <a:t>3.88×$10k</a:t>
            </a:r>
          </a:p>
        </p:txBody>
      </p:sp>
      <p:sp>
        <p:nvSpPr>
          <p:cNvPr id="26" name="TextBox 25"/>
          <p:cNvSpPr txBox="1"/>
          <p:nvPr/>
        </p:nvSpPr>
        <p:spPr>
          <a:xfrm>
            <a:off x="2871216" y="2231136"/>
            <a:ext cx="2148839" cy="292608"/>
          </a:xfrm>
          <a:prstGeom prst="rect">
            <a:avLst/>
          </a:prstGeom>
          <a:noFill/>
        </p:spPr>
        <p:txBody>
          <a:bodyPr wrap="square">
            <a:spAutoFit/>
          </a:bodyPr>
          <a:lstStyle/>
          <a:p>
            <a:pPr algn="l"/>
            <a:r>
              <a:rPr sz="900" b="0" i="0">
                <a:solidFill>
                  <a:srgbClr val="94A3B8"/>
                </a:solidFill>
              </a:rPr>
              <a:t>Renda Mediana</a:t>
            </a:r>
          </a:p>
        </p:txBody>
      </p:sp>
      <p:sp>
        <p:nvSpPr>
          <p:cNvPr id="27" name="TextBox 26"/>
          <p:cNvSpPr txBox="1"/>
          <p:nvPr/>
        </p:nvSpPr>
        <p:spPr>
          <a:xfrm>
            <a:off x="2871216" y="2487168"/>
            <a:ext cx="2148839" cy="256032"/>
          </a:xfrm>
          <a:prstGeom prst="rect">
            <a:avLst/>
          </a:prstGeom>
          <a:noFill/>
        </p:spPr>
        <p:txBody>
          <a:bodyPr wrap="square">
            <a:spAutoFit/>
          </a:bodyPr>
          <a:lstStyle/>
          <a:p>
            <a:pPr algn="l"/>
            <a:r>
              <a:rPr sz="800" b="0" i="1">
                <a:solidFill>
                  <a:srgbClr val="94A3B8"/>
                </a:solidFill>
              </a:rPr>
              <a:t>$38,750/ano</a:t>
            </a:r>
          </a:p>
        </p:txBody>
      </p:sp>
      <p:sp>
        <p:nvSpPr>
          <p:cNvPr id="28" name="Rectangle 27"/>
          <p:cNvSpPr/>
          <p:nvPr/>
        </p:nvSpPr>
        <p:spPr>
          <a:xfrm>
            <a:off x="521208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12080" y="1664208"/>
            <a:ext cx="50292" cy="10058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0096" y="1737360"/>
            <a:ext cx="2148839" cy="502920"/>
          </a:xfrm>
          <a:prstGeom prst="rect">
            <a:avLst/>
          </a:prstGeom>
          <a:noFill/>
        </p:spPr>
        <p:txBody>
          <a:bodyPr wrap="square">
            <a:spAutoFit/>
          </a:bodyPr>
          <a:lstStyle/>
          <a:p>
            <a:pPr algn="l"/>
            <a:r>
              <a:rPr sz="2600" b="1" i="0">
                <a:solidFill>
                  <a:srgbClr val="34D399"/>
                </a:solidFill>
              </a:rPr>
              <a:t>1.84</a:t>
            </a:r>
          </a:p>
        </p:txBody>
      </p:sp>
      <p:sp>
        <p:nvSpPr>
          <p:cNvPr id="31" name="TextBox 30"/>
          <p:cNvSpPr txBox="1"/>
          <p:nvPr/>
        </p:nvSpPr>
        <p:spPr>
          <a:xfrm>
            <a:off x="5340096" y="2231136"/>
            <a:ext cx="2148839" cy="292608"/>
          </a:xfrm>
          <a:prstGeom prst="rect">
            <a:avLst/>
          </a:prstGeom>
          <a:noFill/>
        </p:spPr>
        <p:txBody>
          <a:bodyPr wrap="square">
            <a:spAutoFit/>
          </a:bodyPr>
          <a:lstStyle/>
          <a:p>
            <a:pPr algn="l"/>
            <a:r>
              <a:rPr sz="900" b="0" i="0">
                <a:solidFill>
                  <a:srgbClr val="94A3B8"/>
                </a:solidFill>
              </a:rPr>
              <a:t>Score C/B</a:t>
            </a:r>
          </a:p>
        </p:txBody>
      </p:sp>
      <p:sp>
        <p:nvSpPr>
          <p:cNvPr id="32" name="TextBox 31"/>
          <p:cNvSpPr txBox="1"/>
          <p:nvPr/>
        </p:nvSpPr>
        <p:spPr>
          <a:xfrm>
            <a:off x="5340096" y="2487168"/>
            <a:ext cx="2148839" cy="256032"/>
          </a:xfrm>
          <a:prstGeom prst="rect">
            <a:avLst/>
          </a:prstGeom>
          <a:noFill/>
        </p:spPr>
        <p:txBody>
          <a:bodyPr wrap="square">
            <a:spAutoFit/>
          </a:bodyPr>
          <a:lstStyle/>
          <a:p>
            <a:pPr algn="l"/>
            <a:r>
              <a:rPr sz="800" b="0" i="1">
                <a:solidFill>
                  <a:srgbClr val="94A3B8"/>
                </a:solidFill>
              </a:rPr>
              <a:t>renda ÷ (valor/$100k)</a:t>
            </a:r>
          </a:p>
        </p:txBody>
      </p:sp>
      <p:sp>
        <p:nvSpPr>
          <p:cNvPr id="33" name="Rectangle 32"/>
          <p:cNvSpPr/>
          <p:nvPr/>
        </p:nvSpPr>
        <p:spPr>
          <a:xfrm>
            <a:off x="768096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80960" y="1664208"/>
            <a:ext cx="50292" cy="10058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08976" y="1737360"/>
            <a:ext cx="2148839" cy="502920"/>
          </a:xfrm>
          <a:prstGeom prst="rect">
            <a:avLst/>
          </a:prstGeom>
          <a:noFill/>
        </p:spPr>
        <p:txBody>
          <a:bodyPr wrap="square">
            <a:spAutoFit/>
          </a:bodyPr>
          <a:lstStyle/>
          <a:p>
            <a:pPr algn="l"/>
            <a:r>
              <a:rPr sz="2600" b="1" i="0">
                <a:solidFill>
                  <a:srgbClr val="94A3B8"/>
                </a:solidFill>
              </a:rPr>
              <a:t>30 anos</a:t>
            </a:r>
          </a:p>
        </p:txBody>
      </p:sp>
      <p:sp>
        <p:nvSpPr>
          <p:cNvPr id="36" name="TextBox 35"/>
          <p:cNvSpPr txBox="1"/>
          <p:nvPr/>
        </p:nvSpPr>
        <p:spPr>
          <a:xfrm>
            <a:off x="7808976" y="2231136"/>
            <a:ext cx="2148839" cy="292608"/>
          </a:xfrm>
          <a:prstGeom prst="rect">
            <a:avLst/>
          </a:prstGeom>
          <a:noFill/>
        </p:spPr>
        <p:txBody>
          <a:bodyPr wrap="square">
            <a:spAutoFit/>
          </a:bodyPr>
          <a:lstStyle/>
          <a:p>
            <a:pPr algn="l"/>
            <a:r>
              <a:rPr sz="900" b="0" i="0">
                <a:solidFill>
                  <a:srgbClr val="94A3B8"/>
                </a:solidFill>
              </a:rPr>
              <a:t>Idade Mediana</a:t>
            </a:r>
          </a:p>
        </p:txBody>
      </p:sp>
      <p:sp>
        <p:nvSpPr>
          <p:cNvPr id="37" name="TextBox 36"/>
          <p:cNvSpPr txBox="1"/>
          <p:nvPr/>
        </p:nvSpPr>
        <p:spPr>
          <a:xfrm>
            <a:off x="7808976" y="2487168"/>
            <a:ext cx="2148839" cy="256032"/>
          </a:xfrm>
          <a:prstGeom prst="rect">
            <a:avLst/>
          </a:prstGeom>
          <a:noFill/>
        </p:spPr>
        <p:txBody>
          <a:bodyPr wrap="square">
            <a:spAutoFit/>
          </a:bodyPr>
          <a:lstStyle/>
          <a:p>
            <a:pPr algn="l"/>
            <a:r>
              <a:rPr sz="800" b="0" i="1">
                <a:solidFill>
                  <a:srgbClr val="94A3B8"/>
                </a:solidFill>
              </a:rPr>
              <a:t>9,136.0 distritos</a:t>
            </a:r>
          </a:p>
        </p:txBody>
      </p:sp>
      <p:sp>
        <p:nvSpPr>
          <p:cNvPr id="38" name="Rectangle 37"/>
          <p:cNvSpPr/>
          <p:nvPr/>
        </p:nvSpPr>
        <p:spPr>
          <a:xfrm>
            <a:off x="10149840" y="1664208"/>
            <a:ext cx="178308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49840" y="1664208"/>
            <a:ext cx="50292" cy="10058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77856" y="1737360"/>
            <a:ext cx="1600200" cy="502920"/>
          </a:xfrm>
          <a:prstGeom prst="rect">
            <a:avLst/>
          </a:prstGeom>
          <a:noFill/>
        </p:spPr>
        <p:txBody>
          <a:bodyPr wrap="square">
            <a:spAutoFit/>
          </a:bodyPr>
          <a:lstStyle/>
          <a:p>
            <a:pPr algn="l"/>
            <a:r>
              <a:rPr sz="2600" b="1" i="0">
                <a:solidFill>
                  <a:srgbClr val="F97316"/>
                </a:solidFill>
              </a:rPr>
              <a:t>5.1</a:t>
            </a:r>
          </a:p>
        </p:txBody>
      </p:sp>
      <p:sp>
        <p:nvSpPr>
          <p:cNvPr id="41" name="TextBox 40"/>
          <p:cNvSpPr txBox="1"/>
          <p:nvPr/>
        </p:nvSpPr>
        <p:spPr>
          <a:xfrm>
            <a:off x="10277856" y="2231136"/>
            <a:ext cx="1600200" cy="292608"/>
          </a:xfrm>
          <a:prstGeom prst="rect">
            <a:avLst/>
          </a:prstGeom>
          <a:noFill/>
        </p:spPr>
        <p:txBody>
          <a:bodyPr wrap="square">
            <a:spAutoFit/>
          </a:bodyPr>
          <a:lstStyle/>
          <a:p>
            <a:pPr algn="l"/>
            <a:r>
              <a:rPr sz="900" b="0" i="0">
                <a:solidFill>
                  <a:srgbClr val="94A3B8"/>
                </a:solidFill>
              </a:rPr>
              <a:t>Quartos/Dom.</a:t>
            </a:r>
          </a:p>
        </p:txBody>
      </p:sp>
      <p:sp>
        <p:nvSpPr>
          <p:cNvPr id="42" name="TextBox 41"/>
          <p:cNvSpPr txBox="1"/>
          <p:nvPr/>
        </p:nvSpPr>
        <p:spPr>
          <a:xfrm>
            <a:off x="10277856" y="2487168"/>
            <a:ext cx="1600200" cy="256032"/>
          </a:xfrm>
          <a:prstGeom prst="rect">
            <a:avLst/>
          </a:prstGeom>
          <a:noFill/>
        </p:spPr>
        <p:txBody>
          <a:bodyPr wrap="square">
            <a:spAutoFit/>
          </a:bodyPr>
          <a:lstStyle/>
          <a:p>
            <a:pPr algn="l"/>
            <a:r>
              <a:rPr sz="800" b="0" i="1">
                <a:solidFill>
                  <a:srgbClr val="94A3B8"/>
                </a:solidFill>
              </a:rPr>
              <a:t>média da zona</a:t>
            </a:r>
          </a:p>
        </p:txBody>
      </p:sp>
      <p:sp>
        <p:nvSpPr>
          <p:cNvPr id="43" name="Rectangle 42"/>
          <p:cNvSpPr/>
          <p:nvPr/>
        </p:nvSpPr>
        <p:spPr>
          <a:xfrm>
            <a:off x="274320" y="2834640"/>
            <a:ext cx="5943600" cy="141732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2834640"/>
            <a:ext cx="64008" cy="14173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2907792"/>
            <a:ext cx="5577840" cy="1280160"/>
          </a:xfrm>
          <a:prstGeom prst="rect">
            <a:avLst/>
          </a:prstGeom>
          <a:noFill/>
        </p:spPr>
        <p:txBody>
          <a:bodyPr wrap="square">
            <a:spAutoFit/>
          </a:bodyPr>
          <a:lstStyle/>
          <a:p>
            <a:pPr algn="l"/>
            <a:r>
              <a:rPr sz="950" b="0" i="0">
                <a:solidFill>
                  <a:srgbClr val="94A3B8"/>
                </a:solidFill>
              </a:rPr>
              <a:t>É a zona mais populosa do dataset — 9.136 distritos, 44% do total. Abrange os subúrbios que cresceram quando SF e LA ficaram inacessíveis. Riverside e San Bernardino explodiram nos anos 2000. O East Bay virou alternativa à San Francisco pós-2010. Boa infraestrutura, acesso a empregos tech por BART ou rodovia, e praias a um fim de semana de distância.</a:t>
            </a:r>
          </a:p>
        </p:txBody>
      </p:sp>
      <p:pic>
        <p:nvPicPr>
          <p:cNvPr id="46" name="Picture 45" descr="image.png"/>
          <p:cNvPicPr>
            <a:picLocks noChangeAspect="1"/>
          </p:cNvPicPr>
          <p:nvPr/>
        </p:nvPicPr>
        <p:blipFill>
          <a:blip r:embed="rId2"/>
          <a:stretch>
            <a:fillRect/>
          </a:stretch>
        </p:blipFill>
        <p:spPr>
          <a:xfrm>
            <a:off x="6400800" y="2788920"/>
            <a:ext cx="5440680" cy="2377440"/>
          </a:xfrm>
          <a:prstGeom prst="rect">
            <a:avLst/>
          </a:prstGeom>
        </p:spPr>
      </p:pic>
      <p:sp>
        <p:nvSpPr>
          <p:cNvPr id="47" name="TextBox 46"/>
          <p:cNvSpPr txBox="1"/>
          <p:nvPr/>
        </p:nvSpPr>
        <p:spPr>
          <a:xfrm>
            <a:off x="320040" y="4407408"/>
            <a:ext cx="2743200" cy="274320"/>
          </a:xfrm>
          <a:prstGeom prst="rect">
            <a:avLst/>
          </a:prstGeom>
          <a:noFill/>
        </p:spPr>
        <p:txBody>
          <a:bodyPr wrap="square">
            <a:spAutoFit/>
          </a:bodyPr>
          <a:lstStyle/>
          <a:p>
            <a:pPr algn="l"/>
            <a:r>
              <a:rPr sz="900" b="1" i="0">
                <a:solidFill>
                  <a:srgbClr val="34D399"/>
                </a:solidFill>
              </a:rPr>
              <a:t>✅  IDEAL PARA:</a:t>
            </a:r>
          </a:p>
        </p:txBody>
      </p:sp>
      <p:sp>
        <p:nvSpPr>
          <p:cNvPr id="48" name="TextBox 47"/>
          <p:cNvSpPr txBox="1"/>
          <p:nvPr/>
        </p:nvSpPr>
        <p:spPr>
          <a:xfrm>
            <a:off x="320040" y="4700016"/>
            <a:ext cx="5760720" cy="256032"/>
          </a:xfrm>
          <a:prstGeom prst="rect">
            <a:avLst/>
          </a:prstGeom>
          <a:noFill/>
        </p:spPr>
        <p:txBody>
          <a:bodyPr wrap="square">
            <a:spAutoFit/>
          </a:bodyPr>
          <a:lstStyle/>
          <a:p>
            <a:pPr algn="l"/>
            <a:r>
              <a:rPr sz="900" b="0" i="0">
                <a:solidFill>
                  <a:srgbClr val="FFFFFF"/>
                </a:solidFill>
              </a:rPr>
              <a:t>  ✅  Famílias que trabalham em SF ou LA mas não podem pagar a cidade</a:t>
            </a:r>
          </a:p>
        </p:txBody>
      </p:sp>
      <p:sp>
        <p:nvSpPr>
          <p:cNvPr id="49" name="TextBox 48"/>
          <p:cNvSpPr txBox="1"/>
          <p:nvPr/>
        </p:nvSpPr>
        <p:spPr>
          <a:xfrm>
            <a:off x="320040" y="4992624"/>
            <a:ext cx="5760720" cy="256032"/>
          </a:xfrm>
          <a:prstGeom prst="rect">
            <a:avLst/>
          </a:prstGeom>
          <a:noFill/>
        </p:spPr>
        <p:txBody>
          <a:bodyPr wrap="square">
            <a:spAutoFit/>
          </a:bodyPr>
          <a:lstStyle/>
          <a:p>
            <a:pPr algn="l"/>
            <a:r>
              <a:rPr sz="900" b="0" i="0">
                <a:solidFill>
                  <a:srgbClr val="FFFFFF"/>
                </a:solidFill>
              </a:rPr>
              <a:t>  ✅  Jovens profissionais de tech em crescimento de carreira</a:t>
            </a:r>
          </a:p>
        </p:txBody>
      </p:sp>
      <p:sp>
        <p:nvSpPr>
          <p:cNvPr id="50" name="TextBox 49"/>
          <p:cNvSpPr txBox="1"/>
          <p:nvPr/>
        </p:nvSpPr>
        <p:spPr>
          <a:xfrm>
            <a:off x="320040" y="5285232"/>
            <a:ext cx="5760720" cy="256032"/>
          </a:xfrm>
          <a:prstGeom prst="rect">
            <a:avLst/>
          </a:prstGeom>
          <a:noFill/>
        </p:spPr>
        <p:txBody>
          <a:bodyPr wrap="square">
            <a:spAutoFit/>
          </a:bodyPr>
          <a:lstStyle/>
          <a:p>
            <a:pPr algn="l"/>
            <a:r>
              <a:rPr sz="900" b="0" i="0">
                <a:solidFill>
                  <a:srgbClr val="FFFFFF"/>
                </a:solidFill>
              </a:rPr>
              <a:t>  ✅  Quem quer escola pública boa + espaço + custo controlado</a:t>
            </a:r>
          </a:p>
        </p:txBody>
      </p:sp>
      <p:sp>
        <p:nvSpPr>
          <p:cNvPr id="51" name="TextBox 50"/>
          <p:cNvSpPr txBox="1"/>
          <p:nvPr/>
        </p:nvSpPr>
        <p:spPr>
          <a:xfrm>
            <a:off x="320040" y="5577840"/>
            <a:ext cx="5760720" cy="256032"/>
          </a:xfrm>
          <a:prstGeom prst="rect">
            <a:avLst/>
          </a:prstGeom>
          <a:noFill/>
        </p:spPr>
        <p:txBody>
          <a:bodyPr wrap="square">
            <a:spAutoFit/>
          </a:bodyPr>
          <a:lstStyle/>
          <a:p>
            <a:pPr algn="l"/>
            <a:r>
              <a:rPr sz="900" b="0" i="0">
                <a:solidFill>
                  <a:srgbClr val="FFFFFF"/>
                </a:solidFill>
              </a:rPr>
              <a:t>  ✅  Primeira compra com renda entre $50–80k/ano</a:t>
            </a:r>
          </a:p>
        </p:txBody>
      </p:sp>
      <p:sp>
        <p:nvSpPr>
          <p:cNvPr id="52" name="TextBox 51"/>
          <p:cNvSpPr txBox="1"/>
          <p:nvPr/>
        </p:nvSpPr>
        <p:spPr>
          <a:xfrm>
            <a:off x="6035040" y="4407408"/>
            <a:ext cx="2743200" cy="274320"/>
          </a:xfrm>
          <a:prstGeom prst="rect">
            <a:avLst/>
          </a:prstGeom>
          <a:noFill/>
        </p:spPr>
        <p:txBody>
          <a:bodyPr wrap="square">
            <a:spAutoFit/>
          </a:bodyPr>
          <a:lstStyle/>
          <a:p>
            <a:pPr algn="l"/>
            <a:r>
              <a:rPr sz="900" b="1" i="0">
                <a:solidFill>
                  <a:srgbClr val="F97316"/>
                </a:solidFill>
              </a:rPr>
              <a:t>⚠️  ATENÇÃO:</a:t>
            </a:r>
          </a:p>
        </p:txBody>
      </p:sp>
      <p:sp>
        <p:nvSpPr>
          <p:cNvPr id="53" name="TextBox 52"/>
          <p:cNvSpPr txBox="1"/>
          <p:nvPr/>
        </p:nvSpPr>
        <p:spPr>
          <a:xfrm>
            <a:off x="6035040" y="4700016"/>
            <a:ext cx="5669280" cy="256032"/>
          </a:xfrm>
          <a:prstGeom prst="rect">
            <a:avLst/>
          </a:prstGeom>
          <a:noFill/>
        </p:spPr>
        <p:txBody>
          <a:bodyPr wrap="square">
            <a:spAutoFit/>
          </a:bodyPr>
          <a:lstStyle/>
          <a:p>
            <a:pPr algn="l"/>
            <a:r>
              <a:rPr sz="900" b="0" i="0">
                <a:solidFill>
                  <a:srgbClr val="94A3B8"/>
                </a:solidFill>
              </a:rPr>
              <a:t>  ⚠️  Commute longo — 45min a 1h30 por dia</a:t>
            </a:r>
          </a:p>
        </p:txBody>
      </p:sp>
      <p:sp>
        <p:nvSpPr>
          <p:cNvPr id="54" name="TextBox 53"/>
          <p:cNvSpPr txBox="1"/>
          <p:nvPr/>
        </p:nvSpPr>
        <p:spPr>
          <a:xfrm>
            <a:off x="6035040" y="4992624"/>
            <a:ext cx="5669280" cy="256032"/>
          </a:xfrm>
          <a:prstGeom prst="rect">
            <a:avLst/>
          </a:prstGeom>
          <a:noFill/>
        </p:spPr>
        <p:txBody>
          <a:bodyPr wrap="square">
            <a:spAutoFit/>
          </a:bodyPr>
          <a:lstStyle/>
          <a:p>
            <a:pPr algn="l"/>
            <a:r>
              <a:rPr sz="900" b="0" i="0">
                <a:solidFill>
                  <a:srgbClr val="94A3B8"/>
                </a:solidFill>
              </a:rPr>
              <a:t>  ⚠️  Mercado competitivo — demanda alta, estoque baixo</a:t>
            </a:r>
          </a:p>
        </p:txBody>
      </p:sp>
      <p:sp>
        <p:nvSpPr>
          <p:cNvPr id="55" name="TextBox 54"/>
          <p:cNvSpPr txBox="1"/>
          <p:nvPr/>
        </p:nvSpPr>
        <p:spPr>
          <a:xfrm>
            <a:off x="6035040" y="5285232"/>
            <a:ext cx="5669280" cy="256032"/>
          </a:xfrm>
          <a:prstGeom prst="rect">
            <a:avLst/>
          </a:prstGeom>
          <a:noFill/>
        </p:spPr>
        <p:txBody>
          <a:bodyPr wrap="square">
            <a:spAutoFit/>
          </a:bodyPr>
          <a:lstStyle/>
          <a:p>
            <a:pPr algn="l"/>
            <a:r>
              <a:rPr sz="900" b="0" i="0">
                <a:solidFill>
                  <a:srgbClr val="94A3B8"/>
                </a:solidFill>
              </a:rPr>
              <a:t>  ⚠️  Alta variação interna: $100k a $400k+ na mesma zona</a:t>
            </a:r>
          </a:p>
        </p:txBody>
      </p:sp>
      <p:sp>
        <p:nvSpPr>
          <p:cNvPr id="56" name="TextBox 55"/>
          <p:cNvSpPr txBox="1"/>
          <p:nvPr/>
        </p:nvSpPr>
        <p:spPr>
          <a:xfrm>
            <a:off x="6035040" y="5577840"/>
            <a:ext cx="5669280" cy="256032"/>
          </a:xfrm>
          <a:prstGeom prst="rect">
            <a:avLst/>
          </a:prstGeom>
          <a:noFill/>
        </p:spPr>
        <p:txBody>
          <a:bodyPr wrap="square">
            <a:spAutoFit/>
          </a:bodyPr>
          <a:lstStyle/>
          <a:p>
            <a:pPr algn="l"/>
            <a:r>
              <a:rPr sz="900" b="0" i="0">
                <a:solidFill>
                  <a:srgbClr val="94A3B8"/>
                </a:solidFill>
              </a:rPr>
              <a:t>  ⚠️  Risco de congestionamento crônico</a:t>
            </a:r>
          </a:p>
        </p:txBody>
      </p:sp>
      <p:sp>
        <p:nvSpPr>
          <p:cNvPr id="57" name="Rectangle 56"/>
          <p:cNvSpPr/>
          <p:nvPr/>
        </p:nvSpPr>
        <p:spPr>
          <a:xfrm>
            <a:off x="274320" y="5760720"/>
            <a:ext cx="11612880" cy="4754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5833872"/>
            <a:ext cx="2194560" cy="310896"/>
          </a:xfrm>
          <a:prstGeom prst="rect">
            <a:avLst/>
          </a:prstGeom>
          <a:noFill/>
        </p:spPr>
        <p:txBody>
          <a:bodyPr wrap="square">
            <a:spAutoFit/>
          </a:bodyPr>
          <a:lstStyle/>
          <a:p>
            <a:pPr algn="l"/>
            <a:r>
              <a:rPr sz="900" b="1" i="0">
                <a:solidFill>
                  <a:srgbClr val="34D399"/>
                </a:solidFill>
              </a:rPr>
              <a:t>📍  Cidades referência: </a:t>
            </a:r>
          </a:p>
        </p:txBody>
      </p:sp>
      <p:sp>
        <p:nvSpPr>
          <p:cNvPr id="59" name="TextBox 58"/>
          <p:cNvSpPr txBox="1"/>
          <p:nvPr/>
        </p:nvSpPr>
        <p:spPr>
          <a:xfrm>
            <a:off x="2606040" y="5833872"/>
            <a:ext cx="9144000" cy="310896"/>
          </a:xfrm>
          <a:prstGeom prst="rect">
            <a:avLst/>
          </a:prstGeom>
          <a:noFill/>
        </p:spPr>
        <p:txBody>
          <a:bodyPr wrap="square">
            <a:spAutoFit/>
          </a:bodyPr>
          <a:lstStyle/>
          <a:p>
            <a:pPr algn="l"/>
            <a:r>
              <a:rPr sz="900" b="0" i="0">
                <a:solidFill>
                  <a:srgbClr val="FFFFFF"/>
                </a:solidFill>
              </a:rPr>
              <a:t>Riverside · San Bernardino · Fremont · Oakland (periferia) · Concord · Stockton · Sacramento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64224"/>
            <a:ext cx="2249424" cy="256032"/>
          </a:xfrm>
          <a:prstGeom prst="rect">
            <a:avLst/>
          </a:prstGeom>
          <a:noFill/>
        </p:spPr>
        <p:txBody>
          <a:bodyPr wrap="square">
            <a:spAutoFit/>
          </a:bodyPr>
          <a:lstStyle/>
          <a:p>
            <a:pPr algn="ctr"/>
            <a:r>
              <a:rPr sz="700" b="0" i="0">
                <a:solidFill>
                  <a:srgbClr val="94A3B8"/>
                </a:solidFill>
              </a:rPr>
              <a:t>Interior</a:t>
            </a:r>
          </a:p>
        </p:txBody>
      </p:sp>
      <p:sp>
        <p:nvSpPr>
          <p:cNvPr id="5" name="Rectangle 4"/>
          <p:cNvSpPr/>
          <p:nvPr/>
        </p:nvSpPr>
        <p:spPr>
          <a:xfrm>
            <a:off x="2596896"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42615" y="6364224"/>
            <a:ext cx="2249424" cy="256032"/>
          </a:xfrm>
          <a:prstGeom prst="rect">
            <a:avLst/>
          </a:prstGeom>
          <a:noFill/>
        </p:spPr>
        <p:txBody>
          <a:bodyPr wrap="square">
            <a:spAutoFit/>
          </a:bodyPr>
          <a:lstStyle/>
          <a:p>
            <a:pPr algn="ctr"/>
            <a:r>
              <a:rPr sz="700" b="0" i="0">
                <a:solidFill>
                  <a:srgbClr val="94A3B8"/>
                </a:solidFill>
              </a:rPr>
              <a:t>&lt;1h Oceano</a:t>
            </a:r>
          </a:p>
        </p:txBody>
      </p:sp>
      <p:sp>
        <p:nvSpPr>
          <p:cNvPr id="7" name="Rectangle 6"/>
          <p:cNvSpPr/>
          <p:nvPr/>
        </p:nvSpPr>
        <p:spPr>
          <a:xfrm>
            <a:off x="4919472"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6364224"/>
            <a:ext cx="2249424" cy="256032"/>
          </a:xfrm>
          <a:prstGeom prst="rect">
            <a:avLst/>
          </a:prstGeom>
          <a:noFill/>
        </p:spPr>
        <p:txBody>
          <a:bodyPr wrap="square">
            <a:spAutoFit/>
          </a:bodyPr>
          <a:lstStyle/>
          <a:p>
            <a:pPr algn="ctr"/>
            <a:r>
              <a:rPr sz="700" b="0" i="0">
                <a:solidFill>
                  <a:srgbClr val="94A3B8"/>
                </a:solidFill>
              </a:rPr>
              <a:t>Próx. Oceano</a:t>
            </a:r>
          </a:p>
        </p:txBody>
      </p:sp>
      <p:sp>
        <p:nvSpPr>
          <p:cNvPr id="9" name="Rectangle 8"/>
          <p:cNvSpPr/>
          <p:nvPr/>
        </p:nvSpPr>
        <p:spPr>
          <a:xfrm>
            <a:off x="7242048" y="6309360"/>
            <a:ext cx="2322576" cy="34747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87768" y="6364224"/>
            <a:ext cx="2249424" cy="256032"/>
          </a:xfrm>
          <a:prstGeom prst="rect">
            <a:avLst/>
          </a:prstGeom>
          <a:noFill/>
        </p:spPr>
        <p:txBody>
          <a:bodyPr wrap="square">
            <a:spAutoFit/>
          </a:bodyPr>
          <a:lstStyle/>
          <a:p>
            <a:pPr algn="ctr"/>
            <a:r>
              <a:rPr sz="800" b="1" i="0">
                <a:solidFill>
                  <a:srgbClr val="0E1117"/>
                </a:solidFill>
              </a:rPr>
              <a:t>Próx. Baía</a:t>
            </a:r>
          </a:p>
        </p:txBody>
      </p:sp>
      <p:sp>
        <p:nvSpPr>
          <p:cNvPr id="11" name="Rectangle 10"/>
          <p:cNvSpPr/>
          <p:nvPr/>
        </p:nvSpPr>
        <p:spPr>
          <a:xfrm>
            <a:off x="9564624"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10344" y="6364224"/>
            <a:ext cx="2249424" cy="256032"/>
          </a:xfrm>
          <a:prstGeom prst="rect">
            <a:avLst/>
          </a:prstGeom>
          <a:noFill/>
        </p:spPr>
        <p:txBody>
          <a:bodyPr wrap="square">
            <a:spAutoFit/>
          </a:bodyPr>
          <a:lstStyle/>
          <a:p>
            <a:pPr algn="ctr"/>
            <a:r>
              <a:rPr sz="700" b="0" i="0">
                <a:solidFill>
                  <a:srgbClr val="94A3B8"/>
                </a:solidFill>
              </a:rPr>
              <a:t>Ilha</a:t>
            </a:r>
          </a:p>
        </p:txBody>
      </p:sp>
      <p:sp>
        <p:nvSpPr>
          <p:cNvPr id="13" name="Rectangle 12"/>
          <p:cNvSpPr/>
          <p:nvPr/>
        </p:nvSpPr>
        <p:spPr>
          <a:xfrm>
            <a:off x="274320" y="201168"/>
            <a:ext cx="1490472" cy="24688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 y="228600"/>
            <a:ext cx="1399031" cy="219456"/>
          </a:xfrm>
          <a:prstGeom prst="rect">
            <a:avLst/>
          </a:prstGeom>
          <a:noFill/>
        </p:spPr>
        <p:txBody>
          <a:bodyPr wrap="square">
            <a:spAutoFit/>
          </a:bodyPr>
          <a:lstStyle/>
          <a:p>
            <a:pPr algn="ctr"/>
            <a:r>
              <a:rPr sz="900" b="1" i="0">
                <a:solidFill>
                  <a:srgbClr val="0E1117"/>
                </a:solidFill>
              </a:rPr>
              <a:t>ZONA EM DETALHE</a:t>
            </a:r>
          </a:p>
        </p:txBody>
      </p:sp>
      <p:sp>
        <p:nvSpPr>
          <p:cNvPr id="15" name="TextBox 14"/>
          <p:cNvSpPr txBox="1"/>
          <p:nvPr/>
        </p:nvSpPr>
        <p:spPr>
          <a:xfrm>
            <a:off x="274320" y="502920"/>
            <a:ext cx="8229600" cy="548640"/>
          </a:xfrm>
          <a:prstGeom prst="rect">
            <a:avLst/>
          </a:prstGeom>
          <a:noFill/>
        </p:spPr>
        <p:txBody>
          <a:bodyPr wrap="square">
            <a:spAutoFit/>
          </a:bodyPr>
          <a:lstStyle/>
          <a:p>
            <a:pPr algn="l"/>
            <a:r>
              <a:rPr sz="2400" b="1" i="0">
                <a:solidFill>
                  <a:srgbClr val="A78BFA"/>
                </a:solidFill>
              </a:rPr>
              <a:t>🌉  NEAR BAY — Baía de São Francisco</a:t>
            </a:r>
          </a:p>
        </p:txBody>
      </p:sp>
      <p:sp>
        <p:nvSpPr>
          <p:cNvPr id="16" name="TextBox 15"/>
          <p:cNvSpPr txBox="1"/>
          <p:nvPr/>
        </p:nvSpPr>
        <p:spPr>
          <a:xfrm>
            <a:off x="274320" y="1024128"/>
            <a:ext cx="8229600" cy="384048"/>
          </a:xfrm>
          <a:prstGeom prst="rect">
            <a:avLst/>
          </a:prstGeom>
          <a:noFill/>
        </p:spPr>
        <p:txBody>
          <a:bodyPr wrap="square">
            <a:spAutoFit/>
          </a:bodyPr>
          <a:lstStyle/>
          <a:p>
            <a:pPr algn="l"/>
            <a:r>
              <a:rPr sz="1400" b="0" i="0">
                <a:solidFill>
                  <a:srgbClr val="FFFFFF"/>
                </a:solidFill>
              </a:rPr>
              <a:t>Às margens da Baía de SF. O epicentro da tecnologia e do custo de vida americano.</a:t>
            </a:r>
          </a:p>
        </p:txBody>
      </p:sp>
      <p:sp>
        <p:nvSpPr>
          <p:cNvPr id="17" name="Rectangle 16"/>
          <p:cNvSpPr/>
          <p:nvPr/>
        </p:nvSpPr>
        <p:spPr>
          <a:xfrm>
            <a:off x="274320" y="1508760"/>
            <a:ext cx="11612880" cy="3200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664208"/>
            <a:ext cx="50292" cy="100584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 y="1737360"/>
            <a:ext cx="2148839" cy="502920"/>
          </a:xfrm>
          <a:prstGeom prst="rect">
            <a:avLst/>
          </a:prstGeom>
          <a:noFill/>
        </p:spPr>
        <p:txBody>
          <a:bodyPr wrap="square">
            <a:spAutoFit/>
          </a:bodyPr>
          <a:lstStyle/>
          <a:p>
            <a:pPr algn="l"/>
            <a:r>
              <a:rPr sz="2600" b="1" i="0">
                <a:solidFill>
                  <a:srgbClr val="A78BFA"/>
                </a:solidFill>
              </a:rPr>
              <a:t>$234k</a:t>
            </a:r>
          </a:p>
        </p:txBody>
      </p:sp>
      <p:sp>
        <p:nvSpPr>
          <p:cNvPr id="21" name="TextBox 20"/>
          <p:cNvSpPr txBox="1"/>
          <p:nvPr/>
        </p:nvSpPr>
        <p:spPr>
          <a:xfrm>
            <a:off x="402336" y="2231136"/>
            <a:ext cx="2148839" cy="292608"/>
          </a:xfrm>
          <a:prstGeom prst="rect">
            <a:avLst/>
          </a:prstGeom>
          <a:noFill/>
        </p:spPr>
        <p:txBody>
          <a:bodyPr wrap="square">
            <a:spAutoFit/>
          </a:bodyPr>
          <a:lstStyle/>
          <a:p>
            <a:pPr algn="l"/>
            <a:r>
              <a:rPr sz="900" b="0" i="0">
                <a:solidFill>
                  <a:srgbClr val="94A3B8"/>
                </a:solidFill>
              </a:rPr>
              <a:t>Valor Mediano</a:t>
            </a:r>
          </a:p>
        </p:txBody>
      </p:sp>
      <p:sp>
        <p:nvSpPr>
          <p:cNvPr id="22" name="TextBox 21"/>
          <p:cNvSpPr txBox="1"/>
          <p:nvPr/>
        </p:nvSpPr>
        <p:spPr>
          <a:xfrm>
            <a:off x="402336" y="2487168"/>
            <a:ext cx="2148839" cy="256032"/>
          </a:xfrm>
          <a:prstGeom prst="rect">
            <a:avLst/>
          </a:prstGeom>
          <a:noFill/>
        </p:spPr>
        <p:txBody>
          <a:bodyPr wrap="square">
            <a:spAutoFit/>
          </a:bodyPr>
          <a:lstStyle/>
          <a:p>
            <a:pPr algn="l"/>
            <a:r>
              <a:rPr sz="800" b="0" i="1">
                <a:solidFill>
                  <a:srgbClr val="94A3B8"/>
                </a:solidFill>
              </a:rPr>
              <a:t>P25: $162k / P75: $346k</a:t>
            </a:r>
          </a:p>
        </p:txBody>
      </p:sp>
      <p:sp>
        <p:nvSpPr>
          <p:cNvPr id="23" name="Rectangle 22"/>
          <p:cNvSpPr/>
          <p:nvPr/>
        </p:nvSpPr>
        <p:spPr>
          <a:xfrm>
            <a:off x="274320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1664208"/>
            <a:ext cx="50292"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71216" y="1737360"/>
            <a:ext cx="2148839" cy="502920"/>
          </a:xfrm>
          <a:prstGeom prst="rect">
            <a:avLst/>
          </a:prstGeom>
          <a:noFill/>
        </p:spPr>
        <p:txBody>
          <a:bodyPr wrap="square">
            <a:spAutoFit/>
          </a:bodyPr>
          <a:lstStyle/>
          <a:p>
            <a:pPr algn="l"/>
            <a:r>
              <a:rPr sz="2600" b="1" i="0">
                <a:solidFill>
                  <a:srgbClr val="F5A623"/>
                </a:solidFill>
              </a:rPr>
              <a:t>3.82×$10k</a:t>
            </a:r>
          </a:p>
        </p:txBody>
      </p:sp>
      <p:sp>
        <p:nvSpPr>
          <p:cNvPr id="26" name="TextBox 25"/>
          <p:cNvSpPr txBox="1"/>
          <p:nvPr/>
        </p:nvSpPr>
        <p:spPr>
          <a:xfrm>
            <a:off x="2871216" y="2231136"/>
            <a:ext cx="2148839" cy="292608"/>
          </a:xfrm>
          <a:prstGeom prst="rect">
            <a:avLst/>
          </a:prstGeom>
          <a:noFill/>
        </p:spPr>
        <p:txBody>
          <a:bodyPr wrap="square">
            <a:spAutoFit/>
          </a:bodyPr>
          <a:lstStyle/>
          <a:p>
            <a:pPr algn="l"/>
            <a:r>
              <a:rPr sz="900" b="0" i="0">
                <a:solidFill>
                  <a:srgbClr val="94A3B8"/>
                </a:solidFill>
              </a:rPr>
              <a:t>Renda Mediana</a:t>
            </a:r>
          </a:p>
        </p:txBody>
      </p:sp>
      <p:sp>
        <p:nvSpPr>
          <p:cNvPr id="27" name="TextBox 26"/>
          <p:cNvSpPr txBox="1"/>
          <p:nvPr/>
        </p:nvSpPr>
        <p:spPr>
          <a:xfrm>
            <a:off x="2871216" y="2487168"/>
            <a:ext cx="2148839" cy="256032"/>
          </a:xfrm>
          <a:prstGeom prst="rect">
            <a:avLst/>
          </a:prstGeom>
          <a:noFill/>
        </p:spPr>
        <p:txBody>
          <a:bodyPr wrap="square">
            <a:spAutoFit/>
          </a:bodyPr>
          <a:lstStyle/>
          <a:p>
            <a:pPr algn="l"/>
            <a:r>
              <a:rPr sz="800" b="0" i="1">
                <a:solidFill>
                  <a:srgbClr val="94A3B8"/>
                </a:solidFill>
              </a:rPr>
              <a:t>$38,186/ano</a:t>
            </a:r>
          </a:p>
        </p:txBody>
      </p:sp>
      <p:sp>
        <p:nvSpPr>
          <p:cNvPr id="28" name="Rectangle 27"/>
          <p:cNvSpPr/>
          <p:nvPr/>
        </p:nvSpPr>
        <p:spPr>
          <a:xfrm>
            <a:off x="521208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12080" y="1664208"/>
            <a:ext cx="50292" cy="10058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0096" y="1737360"/>
            <a:ext cx="2148839" cy="502920"/>
          </a:xfrm>
          <a:prstGeom prst="rect">
            <a:avLst/>
          </a:prstGeom>
          <a:noFill/>
        </p:spPr>
        <p:txBody>
          <a:bodyPr wrap="square">
            <a:spAutoFit/>
          </a:bodyPr>
          <a:lstStyle/>
          <a:p>
            <a:pPr algn="l"/>
            <a:r>
              <a:rPr sz="2600" b="1" i="0">
                <a:solidFill>
                  <a:srgbClr val="34D399"/>
                </a:solidFill>
              </a:rPr>
              <a:t>1.71</a:t>
            </a:r>
          </a:p>
        </p:txBody>
      </p:sp>
      <p:sp>
        <p:nvSpPr>
          <p:cNvPr id="31" name="TextBox 30"/>
          <p:cNvSpPr txBox="1"/>
          <p:nvPr/>
        </p:nvSpPr>
        <p:spPr>
          <a:xfrm>
            <a:off x="5340096" y="2231136"/>
            <a:ext cx="2148839" cy="292608"/>
          </a:xfrm>
          <a:prstGeom prst="rect">
            <a:avLst/>
          </a:prstGeom>
          <a:noFill/>
        </p:spPr>
        <p:txBody>
          <a:bodyPr wrap="square">
            <a:spAutoFit/>
          </a:bodyPr>
          <a:lstStyle/>
          <a:p>
            <a:pPr algn="l"/>
            <a:r>
              <a:rPr sz="900" b="0" i="0">
                <a:solidFill>
                  <a:srgbClr val="94A3B8"/>
                </a:solidFill>
              </a:rPr>
              <a:t>Score C/B</a:t>
            </a:r>
          </a:p>
        </p:txBody>
      </p:sp>
      <p:sp>
        <p:nvSpPr>
          <p:cNvPr id="32" name="TextBox 31"/>
          <p:cNvSpPr txBox="1"/>
          <p:nvPr/>
        </p:nvSpPr>
        <p:spPr>
          <a:xfrm>
            <a:off x="5340096" y="2487168"/>
            <a:ext cx="2148839" cy="256032"/>
          </a:xfrm>
          <a:prstGeom prst="rect">
            <a:avLst/>
          </a:prstGeom>
          <a:noFill/>
        </p:spPr>
        <p:txBody>
          <a:bodyPr wrap="square">
            <a:spAutoFit/>
          </a:bodyPr>
          <a:lstStyle/>
          <a:p>
            <a:pPr algn="l"/>
            <a:r>
              <a:rPr sz="800" b="0" i="1">
                <a:solidFill>
                  <a:srgbClr val="94A3B8"/>
                </a:solidFill>
              </a:rPr>
              <a:t>renda ÷ (valor/$100k)</a:t>
            </a:r>
          </a:p>
        </p:txBody>
      </p:sp>
      <p:sp>
        <p:nvSpPr>
          <p:cNvPr id="33" name="Rectangle 32"/>
          <p:cNvSpPr/>
          <p:nvPr/>
        </p:nvSpPr>
        <p:spPr>
          <a:xfrm>
            <a:off x="768096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80960" y="1664208"/>
            <a:ext cx="50292" cy="10058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08976" y="1737360"/>
            <a:ext cx="2148839" cy="502920"/>
          </a:xfrm>
          <a:prstGeom prst="rect">
            <a:avLst/>
          </a:prstGeom>
          <a:noFill/>
        </p:spPr>
        <p:txBody>
          <a:bodyPr wrap="square">
            <a:spAutoFit/>
          </a:bodyPr>
          <a:lstStyle/>
          <a:p>
            <a:pPr algn="l"/>
            <a:r>
              <a:rPr sz="2600" b="1" i="0">
                <a:solidFill>
                  <a:srgbClr val="94A3B8"/>
                </a:solidFill>
              </a:rPr>
              <a:t>39 anos</a:t>
            </a:r>
          </a:p>
        </p:txBody>
      </p:sp>
      <p:sp>
        <p:nvSpPr>
          <p:cNvPr id="36" name="TextBox 35"/>
          <p:cNvSpPr txBox="1"/>
          <p:nvPr/>
        </p:nvSpPr>
        <p:spPr>
          <a:xfrm>
            <a:off x="7808976" y="2231136"/>
            <a:ext cx="2148839" cy="292608"/>
          </a:xfrm>
          <a:prstGeom prst="rect">
            <a:avLst/>
          </a:prstGeom>
          <a:noFill/>
        </p:spPr>
        <p:txBody>
          <a:bodyPr wrap="square">
            <a:spAutoFit/>
          </a:bodyPr>
          <a:lstStyle/>
          <a:p>
            <a:pPr algn="l"/>
            <a:r>
              <a:rPr sz="900" b="0" i="0">
                <a:solidFill>
                  <a:srgbClr val="94A3B8"/>
                </a:solidFill>
              </a:rPr>
              <a:t>Idade Mediana</a:t>
            </a:r>
          </a:p>
        </p:txBody>
      </p:sp>
      <p:sp>
        <p:nvSpPr>
          <p:cNvPr id="37" name="TextBox 36"/>
          <p:cNvSpPr txBox="1"/>
          <p:nvPr/>
        </p:nvSpPr>
        <p:spPr>
          <a:xfrm>
            <a:off x="7808976" y="2487168"/>
            <a:ext cx="2148839" cy="256032"/>
          </a:xfrm>
          <a:prstGeom prst="rect">
            <a:avLst/>
          </a:prstGeom>
          <a:noFill/>
        </p:spPr>
        <p:txBody>
          <a:bodyPr wrap="square">
            <a:spAutoFit/>
          </a:bodyPr>
          <a:lstStyle/>
          <a:p>
            <a:pPr algn="l"/>
            <a:r>
              <a:rPr sz="800" b="0" i="1">
                <a:solidFill>
                  <a:srgbClr val="94A3B8"/>
                </a:solidFill>
              </a:rPr>
              <a:t>2,290.0 distritos</a:t>
            </a:r>
          </a:p>
        </p:txBody>
      </p:sp>
      <p:sp>
        <p:nvSpPr>
          <p:cNvPr id="38" name="Rectangle 37"/>
          <p:cNvSpPr/>
          <p:nvPr/>
        </p:nvSpPr>
        <p:spPr>
          <a:xfrm>
            <a:off x="10149840" y="1664208"/>
            <a:ext cx="178308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49840" y="1664208"/>
            <a:ext cx="50292" cy="10058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77856" y="1737360"/>
            <a:ext cx="1600200" cy="502920"/>
          </a:xfrm>
          <a:prstGeom prst="rect">
            <a:avLst/>
          </a:prstGeom>
          <a:noFill/>
        </p:spPr>
        <p:txBody>
          <a:bodyPr wrap="square">
            <a:spAutoFit/>
          </a:bodyPr>
          <a:lstStyle/>
          <a:p>
            <a:pPr algn="l"/>
            <a:r>
              <a:rPr sz="2600" b="1" i="0">
                <a:solidFill>
                  <a:srgbClr val="F97316"/>
                </a:solidFill>
              </a:rPr>
              <a:t>5.1</a:t>
            </a:r>
          </a:p>
        </p:txBody>
      </p:sp>
      <p:sp>
        <p:nvSpPr>
          <p:cNvPr id="41" name="TextBox 40"/>
          <p:cNvSpPr txBox="1"/>
          <p:nvPr/>
        </p:nvSpPr>
        <p:spPr>
          <a:xfrm>
            <a:off x="10277856" y="2231136"/>
            <a:ext cx="1600200" cy="292608"/>
          </a:xfrm>
          <a:prstGeom prst="rect">
            <a:avLst/>
          </a:prstGeom>
          <a:noFill/>
        </p:spPr>
        <p:txBody>
          <a:bodyPr wrap="square">
            <a:spAutoFit/>
          </a:bodyPr>
          <a:lstStyle/>
          <a:p>
            <a:pPr algn="l"/>
            <a:r>
              <a:rPr sz="900" b="0" i="0">
                <a:solidFill>
                  <a:srgbClr val="94A3B8"/>
                </a:solidFill>
              </a:rPr>
              <a:t>Quartos/Dom.</a:t>
            </a:r>
          </a:p>
        </p:txBody>
      </p:sp>
      <p:sp>
        <p:nvSpPr>
          <p:cNvPr id="42" name="TextBox 41"/>
          <p:cNvSpPr txBox="1"/>
          <p:nvPr/>
        </p:nvSpPr>
        <p:spPr>
          <a:xfrm>
            <a:off x="10277856" y="2487168"/>
            <a:ext cx="1600200" cy="256032"/>
          </a:xfrm>
          <a:prstGeom prst="rect">
            <a:avLst/>
          </a:prstGeom>
          <a:noFill/>
        </p:spPr>
        <p:txBody>
          <a:bodyPr wrap="square">
            <a:spAutoFit/>
          </a:bodyPr>
          <a:lstStyle/>
          <a:p>
            <a:pPr algn="l"/>
            <a:r>
              <a:rPr sz="800" b="0" i="1">
                <a:solidFill>
                  <a:srgbClr val="94A3B8"/>
                </a:solidFill>
              </a:rPr>
              <a:t>média da zona</a:t>
            </a:r>
          </a:p>
        </p:txBody>
      </p:sp>
      <p:sp>
        <p:nvSpPr>
          <p:cNvPr id="43" name="Rectangle 42"/>
          <p:cNvSpPr/>
          <p:nvPr/>
        </p:nvSpPr>
        <p:spPr>
          <a:xfrm>
            <a:off x="274320" y="2834640"/>
            <a:ext cx="5943600" cy="141732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2834640"/>
            <a:ext cx="64008" cy="14173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2907792"/>
            <a:ext cx="5577840" cy="1280160"/>
          </a:xfrm>
          <a:prstGeom prst="rect">
            <a:avLst/>
          </a:prstGeom>
          <a:noFill/>
        </p:spPr>
        <p:txBody>
          <a:bodyPr wrap="square">
            <a:spAutoFit/>
          </a:bodyPr>
          <a:lstStyle/>
          <a:p>
            <a:pPr algn="l"/>
            <a:r>
              <a:rPr sz="950" b="0" i="0">
                <a:solidFill>
                  <a:srgbClr val="94A3B8"/>
                </a:solidFill>
              </a:rPr>
              <a:t>NEAR BAY não é o Pacífico — é a Baía de São Francisco. Uma distinção importante. São Francisco, Oakland, Berkeley, Palo Alto, San Jose. O Vale do Silício mora aqui. A mediana de $233.800 é "barata" para os padrões de 2024, mas em 1990 era premium. A idade mediana dos imóveis é 39 anos — as casas são antigas, o que encarece manutenção. O mercado de trabalho é o mais competitivo do planeta.</a:t>
            </a:r>
          </a:p>
        </p:txBody>
      </p:sp>
      <p:pic>
        <p:nvPicPr>
          <p:cNvPr id="46" name="Picture 45" descr="image.png"/>
          <p:cNvPicPr>
            <a:picLocks noChangeAspect="1"/>
          </p:cNvPicPr>
          <p:nvPr/>
        </p:nvPicPr>
        <p:blipFill>
          <a:blip r:embed="rId2"/>
          <a:stretch>
            <a:fillRect/>
          </a:stretch>
        </p:blipFill>
        <p:spPr>
          <a:xfrm>
            <a:off x="6400800" y="2788920"/>
            <a:ext cx="5440680" cy="2377440"/>
          </a:xfrm>
          <a:prstGeom prst="rect">
            <a:avLst/>
          </a:prstGeom>
        </p:spPr>
      </p:pic>
      <p:sp>
        <p:nvSpPr>
          <p:cNvPr id="47" name="TextBox 46"/>
          <p:cNvSpPr txBox="1"/>
          <p:nvPr/>
        </p:nvSpPr>
        <p:spPr>
          <a:xfrm>
            <a:off x="320040" y="4407408"/>
            <a:ext cx="2743200" cy="274320"/>
          </a:xfrm>
          <a:prstGeom prst="rect">
            <a:avLst/>
          </a:prstGeom>
          <a:noFill/>
        </p:spPr>
        <p:txBody>
          <a:bodyPr wrap="square">
            <a:spAutoFit/>
          </a:bodyPr>
          <a:lstStyle/>
          <a:p>
            <a:pPr algn="l"/>
            <a:r>
              <a:rPr sz="900" b="1" i="0">
                <a:solidFill>
                  <a:srgbClr val="34D399"/>
                </a:solidFill>
              </a:rPr>
              <a:t>✅  IDEAL PARA:</a:t>
            </a:r>
          </a:p>
        </p:txBody>
      </p:sp>
      <p:sp>
        <p:nvSpPr>
          <p:cNvPr id="48" name="TextBox 47"/>
          <p:cNvSpPr txBox="1"/>
          <p:nvPr/>
        </p:nvSpPr>
        <p:spPr>
          <a:xfrm>
            <a:off x="320040" y="4700016"/>
            <a:ext cx="5760720" cy="256032"/>
          </a:xfrm>
          <a:prstGeom prst="rect">
            <a:avLst/>
          </a:prstGeom>
          <a:noFill/>
        </p:spPr>
        <p:txBody>
          <a:bodyPr wrap="square">
            <a:spAutoFit/>
          </a:bodyPr>
          <a:lstStyle/>
          <a:p>
            <a:pPr algn="l"/>
            <a:r>
              <a:rPr sz="900" b="0" i="0">
                <a:solidFill>
                  <a:srgbClr val="FFFFFF"/>
                </a:solidFill>
              </a:rPr>
              <a:t>  ✅  Profissionais de tecnologia com salário de $100k+</a:t>
            </a:r>
          </a:p>
        </p:txBody>
      </p:sp>
      <p:sp>
        <p:nvSpPr>
          <p:cNvPr id="49" name="TextBox 48"/>
          <p:cNvSpPr txBox="1"/>
          <p:nvPr/>
        </p:nvSpPr>
        <p:spPr>
          <a:xfrm>
            <a:off x="320040" y="4992624"/>
            <a:ext cx="5760720" cy="256032"/>
          </a:xfrm>
          <a:prstGeom prst="rect">
            <a:avLst/>
          </a:prstGeom>
          <a:noFill/>
        </p:spPr>
        <p:txBody>
          <a:bodyPr wrap="square">
            <a:spAutoFit/>
          </a:bodyPr>
          <a:lstStyle/>
          <a:p>
            <a:pPr algn="l"/>
            <a:r>
              <a:rPr sz="900" b="0" i="0">
                <a:solidFill>
                  <a:srgbClr val="FFFFFF"/>
                </a:solidFill>
              </a:rPr>
              <a:t>  ✅  Investimento de longo prazo (30+ anos de valorização histórica)</a:t>
            </a:r>
          </a:p>
        </p:txBody>
      </p:sp>
      <p:sp>
        <p:nvSpPr>
          <p:cNvPr id="50" name="TextBox 49"/>
          <p:cNvSpPr txBox="1"/>
          <p:nvPr/>
        </p:nvSpPr>
        <p:spPr>
          <a:xfrm>
            <a:off x="320040" y="5285232"/>
            <a:ext cx="5760720" cy="256032"/>
          </a:xfrm>
          <a:prstGeom prst="rect">
            <a:avLst/>
          </a:prstGeom>
          <a:noFill/>
        </p:spPr>
        <p:txBody>
          <a:bodyPr wrap="square">
            <a:spAutoFit/>
          </a:bodyPr>
          <a:lstStyle/>
          <a:p>
            <a:pPr algn="l"/>
            <a:r>
              <a:rPr sz="900" b="0" i="0">
                <a:solidFill>
                  <a:srgbClr val="FFFFFF"/>
                </a:solidFill>
              </a:rPr>
              <a:t>  ✅  Quem prioriza acesso a transporte público (BART)</a:t>
            </a:r>
          </a:p>
        </p:txBody>
      </p:sp>
      <p:sp>
        <p:nvSpPr>
          <p:cNvPr id="51" name="TextBox 50"/>
          <p:cNvSpPr txBox="1"/>
          <p:nvPr/>
        </p:nvSpPr>
        <p:spPr>
          <a:xfrm>
            <a:off x="320040" y="5577840"/>
            <a:ext cx="5760720" cy="256032"/>
          </a:xfrm>
          <a:prstGeom prst="rect">
            <a:avLst/>
          </a:prstGeom>
          <a:noFill/>
        </p:spPr>
        <p:txBody>
          <a:bodyPr wrap="square">
            <a:spAutoFit/>
          </a:bodyPr>
          <a:lstStyle/>
          <a:p>
            <a:pPr algn="l"/>
            <a:r>
              <a:rPr sz="900" b="0" i="0">
                <a:solidFill>
                  <a:srgbClr val="FFFFFF"/>
                </a:solidFill>
              </a:rPr>
              <a:t>  ✅  Perfil urbano — sem dependência de carro</a:t>
            </a:r>
          </a:p>
        </p:txBody>
      </p:sp>
      <p:sp>
        <p:nvSpPr>
          <p:cNvPr id="52" name="TextBox 51"/>
          <p:cNvSpPr txBox="1"/>
          <p:nvPr/>
        </p:nvSpPr>
        <p:spPr>
          <a:xfrm>
            <a:off x="6035040" y="4407408"/>
            <a:ext cx="2743200" cy="274320"/>
          </a:xfrm>
          <a:prstGeom prst="rect">
            <a:avLst/>
          </a:prstGeom>
          <a:noFill/>
        </p:spPr>
        <p:txBody>
          <a:bodyPr wrap="square">
            <a:spAutoFit/>
          </a:bodyPr>
          <a:lstStyle/>
          <a:p>
            <a:pPr algn="l"/>
            <a:r>
              <a:rPr sz="900" b="1" i="0">
                <a:solidFill>
                  <a:srgbClr val="F97316"/>
                </a:solidFill>
              </a:rPr>
              <a:t>⚠️  ATENÇÃO:</a:t>
            </a:r>
          </a:p>
        </p:txBody>
      </p:sp>
      <p:sp>
        <p:nvSpPr>
          <p:cNvPr id="53" name="TextBox 52"/>
          <p:cNvSpPr txBox="1"/>
          <p:nvPr/>
        </p:nvSpPr>
        <p:spPr>
          <a:xfrm>
            <a:off x="6035040" y="4700016"/>
            <a:ext cx="5669280" cy="256032"/>
          </a:xfrm>
          <a:prstGeom prst="rect">
            <a:avLst/>
          </a:prstGeom>
          <a:noFill/>
        </p:spPr>
        <p:txBody>
          <a:bodyPr wrap="square">
            <a:spAutoFit/>
          </a:bodyPr>
          <a:lstStyle/>
          <a:p>
            <a:pPr algn="l"/>
            <a:r>
              <a:rPr sz="900" b="0" i="0">
                <a:solidFill>
                  <a:srgbClr val="94A3B8"/>
                </a:solidFill>
              </a:rPr>
              <a:t>  ⚠️  Custo de vida altíssimo em tudo (não só o imóvel)</a:t>
            </a:r>
          </a:p>
        </p:txBody>
      </p:sp>
      <p:sp>
        <p:nvSpPr>
          <p:cNvPr id="54" name="TextBox 53"/>
          <p:cNvSpPr txBox="1"/>
          <p:nvPr/>
        </p:nvSpPr>
        <p:spPr>
          <a:xfrm>
            <a:off x="6035040" y="4992624"/>
            <a:ext cx="5669280" cy="256032"/>
          </a:xfrm>
          <a:prstGeom prst="rect">
            <a:avLst/>
          </a:prstGeom>
          <a:noFill/>
        </p:spPr>
        <p:txBody>
          <a:bodyPr wrap="square">
            <a:spAutoFit/>
          </a:bodyPr>
          <a:lstStyle/>
          <a:p>
            <a:pPr algn="l"/>
            <a:r>
              <a:rPr sz="900" b="0" i="0">
                <a:solidFill>
                  <a:srgbClr val="94A3B8"/>
                </a:solidFill>
              </a:rPr>
              <a:t>  ⚠️  Imóveis antigos: manutenção cara e frequente</a:t>
            </a:r>
          </a:p>
        </p:txBody>
      </p:sp>
      <p:sp>
        <p:nvSpPr>
          <p:cNvPr id="55" name="TextBox 54"/>
          <p:cNvSpPr txBox="1"/>
          <p:nvPr/>
        </p:nvSpPr>
        <p:spPr>
          <a:xfrm>
            <a:off x="6035040" y="5285232"/>
            <a:ext cx="5669280" cy="256032"/>
          </a:xfrm>
          <a:prstGeom prst="rect">
            <a:avLst/>
          </a:prstGeom>
          <a:noFill/>
        </p:spPr>
        <p:txBody>
          <a:bodyPr wrap="square">
            <a:spAutoFit/>
          </a:bodyPr>
          <a:lstStyle/>
          <a:p>
            <a:pPr algn="l"/>
            <a:r>
              <a:rPr sz="900" b="0" i="0">
                <a:solidFill>
                  <a:srgbClr val="94A3B8"/>
                </a:solidFill>
              </a:rPr>
              <a:t>  ⚠️  Mercado supercompetitivo — guerras de lances são comuns</a:t>
            </a:r>
          </a:p>
        </p:txBody>
      </p:sp>
      <p:sp>
        <p:nvSpPr>
          <p:cNvPr id="56" name="TextBox 55"/>
          <p:cNvSpPr txBox="1"/>
          <p:nvPr/>
        </p:nvSpPr>
        <p:spPr>
          <a:xfrm>
            <a:off x="6035040" y="5577840"/>
            <a:ext cx="5669280" cy="256032"/>
          </a:xfrm>
          <a:prstGeom prst="rect">
            <a:avLst/>
          </a:prstGeom>
          <a:noFill/>
        </p:spPr>
        <p:txBody>
          <a:bodyPr wrap="square">
            <a:spAutoFit/>
          </a:bodyPr>
          <a:lstStyle/>
          <a:p>
            <a:pPr algn="l"/>
            <a:r>
              <a:rPr sz="900" b="0" i="0">
                <a:solidFill>
                  <a:srgbClr val="94A3B8"/>
                </a:solidFill>
              </a:rPr>
              <a:t>  ⚠️  Risco de bolha — historicamente volátil</a:t>
            </a:r>
          </a:p>
        </p:txBody>
      </p:sp>
      <p:sp>
        <p:nvSpPr>
          <p:cNvPr id="57" name="Rectangle 56"/>
          <p:cNvSpPr/>
          <p:nvPr/>
        </p:nvSpPr>
        <p:spPr>
          <a:xfrm>
            <a:off x="274320" y="5760720"/>
            <a:ext cx="11612880" cy="4754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5833872"/>
            <a:ext cx="2194560" cy="310896"/>
          </a:xfrm>
          <a:prstGeom prst="rect">
            <a:avLst/>
          </a:prstGeom>
          <a:noFill/>
        </p:spPr>
        <p:txBody>
          <a:bodyPr wrap="square">
            <a:spAutoFit/>
          </a:bodyPr>
          <a:lstStyle/>
          <a:p>
            <a:pPr algn="l"/>
            <a:r>
              <a:rPr sz="900" b="1" i="0">
                <a:solidFill>
                  <a:srgbClr val="A78BFA"/>
                </a:solidFill>
              </a:rPr>
              <a:t>📍  Cidades referência: </a:t>
            </a:r>
          </a:p>
        </p:txBody>
      </p:sp>
      <p:sp>
        <p:nvSpPr>
          <p:cNvPr id="59" name="TextBox 58"/>
          <p:cNvSpPr txBox="1"/>
          <p:nvPr/>
        </p:nvSpPr>
        <p:spPr>
          <a:xfrm>
            <a:off x="2606040" y="5833872"/>
            <a:ext cx="9144000" cy="310896"/>
          </a:xfrm>
          <a:prstGeom prst="rect">
            <a:avLst/>
          </a:prstGeom>
          <a:noFill/>
        </p:spPr>
        <p:txBody>
          <a:bodyPr wrap="square">
            <a:spAutoFit/>
          </a:bodyPr>
          <a:lstStyle/>
          <a:p>
            <a:pPr algn="l"/>
            <a:r>
              <a:rPr sz="900" b="0" i="0">
                <a:solidFill>
                  <a:srgbClr val="FFFFFF"/>
                </a:solidFill>
              </a:rPr>
              <a:t>São Francisco · Oakland · Berkeley · Palo Alto · San Jose · Fremont · Richmond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6364224"/>
            <a:ext cx="2249424" cy="256032"/>
          </a:xfrm>
          <a:prstGeom prst="rect">
            <a:avLst/>
          </a:prstGeom>
          <a:noFill/>
        </p:spPr>
        <p:txBody>
          <a:bodyPr wrap="square">
            <a:spAutoFit/>
          </a:bodyPr>
          <a:lstStyle/>
          <a:p>
            <a:pPr algn="ctr"/>
            <a:r>
              <a:rPr sz="700" b="0" i="0">
                <a:solidFill>
                  <a:srgbClr val="94A3B8"/>
                </a:solidFill>
              </a:rPr>
              <a:t>Interior</a:t>
            </a:r>
          </a:p>
        </p:txBody>
      </p:sp>
      <p:sp>
        <p:nvSpPr>
          <p:cNvPr id="5" name="Rectangle 4"/>
          <p:cNvSpPr/>
          <p:nvPr/>
        </p:nvSpPr>
        <p:spPr>
          <a:xfrm>
            <a:off x="2596896"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42615" y="6364224"/>
            <a:ext cx="2249424" cy="256032"/>
          </a:xfrm>
          <a:prstGeom prst="rect">
            <a:avLst/>
          </a:prstGeom>
          <a:noFill/>
        </p:spPr>
        <p:txBody>
          <a:bodyPr wrap="square">
            <a:spAutoFit/>
          </a:bodyPr>
          <a:lstStyle/>
          <a:p>
            <a:pPr algn="ctr"/>
            <a:r>
              <a:rPr sz="700" b="0" i="0">
                <a:solidFill>
                  <a:srgbClr val="94A3B8"/>
                </a:solidFill>
              </a:rPr>
              <a:t>&lt;1h Oceano</a:t>
            </a:r>
          </a:p>
        </p:txBody>
      </p:sp>
      <p:sp>
        <p:nvSpPr>
          <p:cNvPr id="7" name="Rectangle 6"/>
          <p:cNvSpPr/>
          <p:nvPr/>
        </p:nvSpPr>
        <p:spPr>
          <a:xfrm>
            <a:off x="4919472" y="6309360"/>
            <a:ext cx="2322576" cy="34747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65192" y="6364224"/>
            <a:ext cx="2249424" cy="256032"/>
          </a:xfrm>
          <a:prstGeom prst="rect">
            <a:avLst/>
          </a:prstGeom>
          <a:noFill/>
        </p:spPr>
        <p:txBody>
          <a:bodyPr wrap="square">
            <a:spAutoFit/>
          </a:bodyPr>
          <a:lstStyle/>
          <a:p>
            <a:pPr algn="ctr"/>
            <a:r>
              <a:rPr sz="800" b="1" i="0">
                <a:solidFill>
                  <a:srgbClr val="0E1117"/>
                </a:solidFill>
              </a:rPr>
              <a:t>Próx. Oceano</a:t>
            </a:r>
          </a:p>
        </p:txBody>
      </p:sp>
      <p:sp>
        <p:nvSpPr>
          <p:cNvPr id="9" name="Rectangle 8"/>
          <p:cNvSpPr/>
          <p:nvPr/>
        </p:nvSpPr>
        <p:spPr>
          <a:xfrm>
            <a:off x="7242048"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87768" y="6364224"/>
            <a:ext cx="2249424" cy="256032"/>
          </a:xfrm>
          <a:prstGeom prst="rect">
            <a:avLst/>
          </a:prstGeom>
          <a:noFill/>
        </p:spPr>
        <p:txBody>
          <a:bodyPr wrap="square">
            <a:spAutoFit/>
          </a:bodyPr>
          <a:lstStyle/>
          <a:p>
            <a:pPr algn="ctr"/>
            <a:r>
              <a:rPr sz="700" b="0" i="0">
                <a:solidFill>
                  <a:srgbClr val="94A3B8"/>
                </a:solidFill>
              </a:rPr>
              <a:t>Próx. Baía</a:t>
            </a:r>
          </a:p>
        </p:txBody>
      </p:sp>
      <p:sp>
        <p:nvSpPr>
          <p:cNvPr id="11" name="Rectangle 10"/>
          <p:cNvSpPr/>
          <p:nvPr/>
        </p:nvSpPr>
        <p:spPr>
          <a:xfrm>
            <a:off x="9564624"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10344" y="6364224"/>
            <a:ext cx="2249424" cy="256032"/>
          </a:xfrm>
          <a:prstGeom prst="rect">
            <a:avLst/>
          </a:prstGeom>
          <a:noFill/>
        </p:spPr>
        <p:txBody>
          <a:bodyPr wrap="square">
            <a:spAutoFit/>
          </a:bodyPr>
          <a:lstStyle/>
          <a:p>
            <a:pPr algn="ctr"/>
            <a:r>
              <a:rPr sz="700" b="0" i="0">
                <a:solidFill>
                  <a:srgbClr val="94A3B8"/>
                </a:solidFill>
              </a:rPr>
              <a:t>Ilha</a:t>
            </a:r>
          </a:p>
        </p:txBody>
      </p:sp>
      <p:sp>
        <p:nvSpPr>
          <p:cNvPr id="13" name="Rectangle 12"/>
          <p:cNvSpPr/>
          <p:nvPr/>
        </p:nvSpPr>
        <p:spPr>
          <a:xfrm>
            <a:off x="274320" y="201168"/>
            <a:ext cx="1490472" cy="24688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 y="228600"/>
            <a:ext cx="1399031" cy="219456"/>
          </a:xfrm>
          <a:prstGeom prst="rect">
            <a:avLst/>
          </a:prstGeom>
          <a:noFill/>
        </p:spPr>
        <p:txBody>
          <a:bodyPr wrap="square">
            <a:spAutoFit/>
          </a:bodyPr>
          <a:lstStyle/>
          <a:p>
            <a:pPr algn="ctr"/>
            <a:r>
              <a:rPr sz="900" b="1" i="0">
                <a:solidFill>
                  <a:srgbClr val="0E1117"/>
                </a:solidFill>
              </a:rPr>
              <a:t>ZONA EM DETALHE</a:t>
            </a:r>
          </a:p>
        </p:txBody>
      </p:sp>
      <p:sp>
        <p:nvSpPr>
          <p:cNvPr id="15" name="TextBox 14"/>
          <p:cNvSpPr txBox="1"/>
          <p:nvPr/>
        </p:nvSpPr>
        <p:spPr>
          <a:xfrm>
            <a:off x="274320" y="502920"/>
            <a:ext cx="8229600" cy="548640"/>
          </a:xfrm>
          <a:prstGeom prst="rect">
            <a:avLst/>
          </a:prstGeom>
          <a:noFill/>
        </p:spPr>
        <p:txBody>
          <a:bodyPr wrap="square">
            <a:spAutoFit/>
          </a:bodyPr>
          <a:lstStyle/>
          <a:p>
            <a:pPr algn="l"/>
            <a:r>
              <a:rPr sz="2400" b="1" i="0">
                <a:solidFill>
                  <a:srgbClr val="0EA5E9"/>
                </a:solidFill>
              </a:rPr>
              <a:t>🌊  NEAR OCEAN — Litoral Pacífico</a:t>
            </a:r>
          </a:p>
        </p:txBody>
      </p:sp>
      <p:sp>
        <p:nvSpPr>
          <p:cNvPr id="16" name="TextBox 15"/>
          <p:cNvSpPr txBox="1"/>
          <p:nvPr/>
        </p:nvSpPr>
        <p:spPr>
          <a:xfrm>
            <a:off x="274320" y="1024128"/>
            <a:ext cx="8229600" cy="384048"/>
          </a:xfrm>
          <a:prstGeom prst="rect">
            <a:avLst/>
          </a:prstGeom>
          <a:noFill/>
        </p:spPr>
        <p:txBody>
          <a:bodyPr wrap="square">
            <a:spAutoFit/>
          </a:bodyPr>
          <a:lstStyle/>
          <a:p>
            <a:pPr algn="l"/>
            <a:r>
              <a:rPr sz="1400" b="0" i="0">
                <a:solidFill>
                  <a:srgbClr val="FFFFFF"/>
                </a:solidFill>
              </a:rPr>
              <a:t>Acesso direto ao Oceano Pacífico. Natureza, clima perfeito, ritmo de vida.</a:t>
            </a:r>
          </a:p>
        </p:txBody>
      </p:sp>
      <p:sp>
        <p:nvSpPr>
          <p:cNvPr id="17" name="Rectangle 16"/>
          <p:cNvSpPr/>
          <p:nvPr/>
        </p:nvSpPr>
        <p:spPr>
          <a:xfrm>
            <a:off x="274320" y="1508760"/>
            <a:ext cx="11612880" cy="3200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664208"/>
            <a:ext cx="50292" cy="10058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 y="1737360"/>
            <a:ext cx="2148839" cy="502920"/>
          </a:xfrm>
          <a:prstGeom prst="rect">
            <a:avLst/>
          </a:prstGeom>
          <a:noFill/>
        </p:spPr>
        <p:txBody>
          <a:bodyPr wrap="square">
            <a:spAutoFit/>
          </a:bodyPr>
          <a:lstStyle/>
          <a:p>
            <a:pPr algn="l"/>
            <a:r>
              <a:rPr sz="2600" b="1" i="0">
                <a:solidFill>
                  <a:srgbClr val="0EA5E9"/>
                </a:solidFill>
              </a:rPr>
              <a:t>$229k</a:t>
            </a:r>
          </a:p>
        </p:txBody>
      </p:sp>
      <p:sp>
        <p:nvSpPr>
          <p:cNvPr id="21" name="TextBox 20"/>
          <p:cNvSpPr txBox="1"/>
          <p:nvPr/>
        </p:nvSpPr>
        <p:spPr>
          <a:xfrm>
            <a:off x="402336" y="2231136"/>
            <a:ext cx="2148839" cy="292608"/>
          </a:xfrm>
          <a:prstGeom prst="rect">
            <a:avLst/>
          </a:prstGeom>
          <a:noFill/>
        </p:spPr>
        <p:txBody>
          <a:bodyPr wrap="square">
            <a:spAutoFit/>
          </a:bodyPr>
          <a:lstStyle/>
          <a:p>
            <a:pPr algn="l"/>
            <a:r>
              <a:rPr sz="900" b="0" i="0">
                <a:solidFill>
                  <a:srgbClr val="94A3B8"/>
                </a:solidFill>
              </a:rPr>
              <a:t>Valor Mediano</a:t>
            </a:r>
          </a:p>
        </p:txBody>
      </p:sp>
      <p:sp>
        <p:nvSpPr>
          <p:cNvPr id="22" name="TextBox 21"/>
          <p:cNvSpPr txBox="1"/>
          <p:nvPr/>
        </p:nvSpPr>
        <p:spPr>
          <a:xfrm>
            <a:off x="402336" y="2487168"/>
            <a:ext cx="2148839" cy="256032"/>
          </a:xfrm>
          <a:prstGeom prst="rect">
            <a:avLst/>
          </a:prstGeom>
          <a:noFill/>
        </p:spPr>
        <p:txBody>
          <a:bodyPr wrap="square">
            <a:spAutoFit/>
          </a:bodyPr>
          <a:lstStyle/>
          <a:p>
            <a:pPr algn="l"/>
            <a:r>
              <a:rPr sz="800" b="0" i="1">
                <a:solidFill>
                  <a:srgbClr val="94A3B8"/>
                </a:solidFill>
              </a:rPr>
              <a:t>P25: $150k / P75: $323k</a:t>
            </a:r>
          </a:p>
        </p:txBody>
      </p:sp>
      <p:sp>
        <p:nvSpPr>
          <p:cNvPr id="23" name="Rectangle 22"/>
          <p:cNvSpPr/>
          <p:nvPr/>
        </p:nvSpPr>
        <p:spPr>
          <a:xfrm>
            <a:off x="274320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1664208"/>
            <a:ext cx="50292"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71216" y="1737360"/>
            <a:ext cx="2148839" cy="502920"/>
          </a:xfrm>
          <a:prstGeom prst="rect">
            <a:avLst/>
          </a:prstGeom>
          <a:noFill/>
        </p:spPr>
        <p:txBody>
          <a:bodyPr wrap="square">
            <a:spAutoFit/>
          </a:bodyPr>
          <a:lstStyle/>
          <a:p>
            <a:pPr algn="l"/>
            <a:r>
              <a:rPr sz="2600" b="1" i="0">
                <a:solidFill>
                  <a:srgbClr val="F5A623"/>
                </a:solidFill>
              </a:rPr>
              <a:t>3.65×$10k</a:t>
            </a:r>
          </a:p>
        </p:txBody>
      </p:sp>
      <p:sp>
        <p:nvSpPr>
          <p:cNvPr id="26" name="TextBox 25"/>
          <p:cNvSpPr txBox="1"/>
          <p:nvPr/>
        </p:nvSpPr>
        <p:spPr>
          <a:xfrm>
            <a:off x="2871216" y="2231136"/>
            <a:ext cx="2148839" cy="292608"/>
          </a:xfrm>
          <a:prstGeom prst="rect">
            <a:avLst/>
          </a:prstGeom>
          <a:noFill/>
        </p:spPr>
        <p:txBody>
          <a:bodyPr wrap="square">
            <a:spAutoFit/>
          </a:bodyPr>
          <a:lstStyle/>
          <a:p>
            <a:pPr algn="l"/>
            <a:r>
              <a:rPr sz="900" b="0" i="0">
                <a:solidFill>
                  <a:srgbClr val="94A3B8"/>
                </a:solidFill>
              </a:rPr>
              <a:t>Renda Mediana</a:t>
            </a:r>
          </a:p>
        </p:txBody>
      </p:sp>
      <p:sp>
        <p:nvSpPr>
          <p:cNvPr id="27" name="TextBox 26"/>
          <p:cNvSpPr txBox="1"/>
          <p:nvPr/>
        </p:nvSpPr>
        <p:spPr>
          <a:xfrm>
            <a:off x="2871216" y="2487168"/>
            <a:ext cx="2148839" cy="256032"/>
          </a:xfrm>
          <a:prstGeom prst="rect">
            <a:avLst/>
          </a:prstGeom>
          <a:noFill/>
        </p:spPr>
        <p:txBody>
          <a:bodyPr wrap="square">
            <a:spAutoFit/>
          </a:bodyPr>
          <a:lstStyle/>
          <a:p>
            <a:pPr algn="l"/>
            <a:r>
              <a:rPr sz="800" b="0" i="1">
                <a:solidFill>
                  <a:srgbClr val="94A3B8"/>
                </a:solidFill>
              </a:rPr>
              <a:t>$36,470/ano</a:t>
            </a:r>
          </a:p>
        </p:txBody>
      </p:sp>
      <p:sp>
        <p:nvSpPr>
          <p:cNvPr id="28" name="Rectangle 27"/>
          <p:cNvSpPr/>
          <p:nvPr/>
        </p:nvSpPr>
        <p:spPr>
          <a:xfrm>
            <a:off x="521208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12080" y="1664208"/>
            <a:ext cx="50292" cy="100584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0096" y="1737360"/>
            <a:ext cx="2148839" cy="502920"/>
          </a:xfrm>
          <a:prstGeom prst="rect">
            <a:avLst/>
          </a:prstGeom>
          <a:noFill/>
        </p:spPr>
        <p:txBody>
          <a:bodyPr wrap="square">
            <a:spAutoFit/>
          </a:bodyPr>
          <a:lstStyle/>
          <a:p>
            <a:pPr algn="l"/>
            <a:r>
              <a:rPr sz="2600" b="1" i="0">
                <a:solidFill>
                  <a:srgbClr val="34D399"/>
                </a:solidFill>
              </a:rPr>
              <a:t>1.64</a:t>
            </a:r>
          </a:p>
        </p:txBody>
      </p:sp>
      <p:sp>
        <p:nvSpPr>
          <p:cNvPr id="31" name="TextBox 30"/>
          <p:cNvSpPr txBox="1"/>
          <p:nvPr/>
        </p:nvSpPr>
        <p:spPr>
          <a:xfrm>
            <a:off x="5340096" y="2231136"/>
            <a:ext cx="2148839" cy="292608"/>
          </a:xfrm>
          <a:prstGeom prst="rect">
            <a:avLst/>
          </a:prstGeom>
          <a:noFill/>
        </p:spPr>
        <p:txBody>
          <a:bodyPr wrap="square">
            <a:spAutoFit/>
          </a:bodyPr>
          <a:lstStyle/>
          <a:p>
            <a:pPr algn="l"/>
            <a:r>
              <a:rPr sz="900" b="0" i="0">
                <a:solidFill>
                  <a:srgbClr val="94A3B8"/>
                </a:solidFill>
              </a:rPr>
              <a:t>Score C/B</a:t>
            </a:r>
          </a:p>
        </p:txBody>
      </p:sp>
      <p:sp>
        <p:nvSpPr>
          <p:cNvPr id="32" name="TextBox 31"/>
          <p:cNvSpPr txBox="1"/>
          <p:nvPr/>
        </p:nvSpPr>
        <p:spPr>
          <a:xfrm>
            <a:off x="5340096" y="2487168"/>
            <a:ext cx="2148839" cy="256032"/>
          </a:xfrm>
          <a:prstGeom prst="rect">
            <a:avLst/>
          </a:prstGeom>
          <a:noFill/>
        </p:spPr>
        <p:txBody>
          <a:bodyPr wrap="square">
            <a:spAutoFit/>
          </a:bodyPr>
          <a:lstStyle/>
          <a:p>
            <a:pPr algn="l"/>
            <a:r>
              <a:rPr sz="800" b="0" i="1">
                <a:solidFill>
                  <a:srgbClr val="94A3B8"/>
                </a:solidFill>
              </a:rPr>
              <a:t>renda ÷ (valor/$100k)</a:t>
            </a:r>
          </a:p>
        </p:txBody>
      </p:sp>
      <p:sp>
        <p:nvSpPr>
          <p:cNvPr id="33" name="Rectangle 32"/>
          <p:cNvSpPr/>
          <p:nvPr/>
        </p:nvSpPr>
        <p:spPr>
          <a:xfrm>
            <a:off x="7680960" y="1664208"/>
            <a:ext cx="233172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80960" y="1664208"/>
            <a:ext cx="50292" cy="10058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08976" y="1737360"/>
            <a:ext cx="2148839" cy="502920"/>
          </a:xfrm>
          <a:prstGeom prst="rect">
            <a:avLst/>
          </a:prstGeom>
          <a:noFill/>
        </p:spPr>
        <p:txBody>
          <a:bodyPr wrap="square">
            <a:spAutoFit/>
          </a:bodyPr>
          <a:lstStyle/>
          <a:p>
            <a:pPr algn="l"/>
            <a:r>
              <a:rPr sz="2600" b="1" i="0">
                <a:solidFill>
                  <a:srgbClr val="94A3B8"/>
                </a:solidFill>
              </a:rPr>
              <a:t>29 anos</a:t>
            </a:r>
          </a:p>
        </p:txBody>
      </p:sp>
      <p:sp>
        <p:nvSpPr>
          <p:cNvPr id="36" name="TextBox 35"/>
          <p:cNvSpPr txBox="1"/>
          <p:nvPr/>
        </p:nvSpPr>
        <p:spPr>
          <a:xfrm>
            <a:off x="7808976" y="2231136"/>
            <a:ext cx="2148839" cy="292608"/>
          </a:xfrm>
          <a:prstGeom prst="rect">
            <a:avLst/>
          </a:prstGeom>
          <a:noFill/>
        </p:spPr>
        <p:txBody>
          <a:bodyPr wrap="square">
            <a:spAutoFit/>
          </a:bodyPr>
          <a:lstStyle/>
          <a:p>
            <a:pPr algn="l"/>
            <a:r>
              <a:rPr sz="900" b="0" i="0">
                <a:solidFill>
                  <a:srgbClr val="94A3B8"/>
                </a:solidFill>
              </a:rPr>
              <a:t>Idade Mediana</a:t>
            </a:r>
          </a:p>
        </p:txBody>
      </p:sp>
      <p:sp>
        <p:nvSpPr>
          <p:cNvPr id="37" name="TextBox 36"/>
          <p:cNvSpPr txBox="1"/>
          <p:nvPr/>
        </p:nvSpPr>
        <p:spPr>
          <a:xfrm>
            <a:off x="7808976" y="2487168"/>
            <a:ext cx="2148839" cy="256032"/>
          </a:xfrm>
          <a:prstGeom prst="rect">
            <a:avLst/>
          </a:prstGeom>
          <a:noFill/>
        </p:spPr>
        <p:txBody>
          <a:bodyPr wrap="square">
            <a:spAutoFit/>
          </a:bodyPr>
          <a:lstStyle/>
          <a:p>
            <a:pPr algn="l"/>
            <a:r>
              <a:rPr sz="800" b="0" i="1">
                <a:solidFill>
                  <a:srgbClr val="94A3B8"/>
                </a:solidFill>
              </a:rPr>
              <a:t>2,658.0 distritos</a:t>
            </a:r>
          </a:p>
        </p:txBody>
      </p:sp>
      <p:sp>
        <p:nvSpPr>
          <p:cNvPr id="38" name="Rectangle 37"/>
          <p:cNvSpPr/>
          <p:nvPr/>
        </p:nvSpPr>
        <p:spPr>
          <a:xfrm>
            <a:off x="10149840" y="1664208"/>
            <a:ext cx="1783080" cy="10058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149840" y="1664208"/>
            <a:ext cx="50292" cy="100584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77856" y="1737360"/>
            <a:ext cx="1600200" cy="502920"/>
          </a:xfrm>
          <a:prstGeom prst="rect">
            <a:avLst/>
          </a:prstGeom>
          <a:noFill/>
        </p:spPr>
        <p:txBody>
          <a:bodyPr wrap="square">
            <a:spAutoFit/>
          </a:bodyPr>
          <a:lstStyle/>
          <a:p>
            <a:pPr algn="l"/>
            <a:r>
              <a:rPr sz="2600" b="1" i="0">
                <a:solidFill>
                  <a:srgbClr val="F97316"/>
                </a:solidFill>
              </a:rPr>
              <a:t>5.1</a:t>
            </a:r>
          </a:p>
        </p:txBody>
      </p:sp>
      <p:sp>
        <p:nvSpPr>
          <p:cNvPr id="41" name="TextBox 40"/>
          <p:cNvSpPr txBox="1"/>
          <p:nvPr/>
        </p:nvSpPr>
        <p:spPr>
          <a:xfrm>
            <a:off x="10277856" y="2231136"/>
            <a:ext cx="1600200" cy="292608"/>
          </a:xfrm>
          <a:prstGeom prst="rect">
            <a:avLst/>
          </a:prstGeom>
          <a:noFill/>
        </p:spPr>
        <p:txBody>
          <a:bodyPr wrap="square">
            <a:spAutoFit/>
          </a:bodyPr>
          <a:lstStyle/>
          <a:p>
            <a:pPr algn="l"/>
            <a:r>
              <a:rPr sz="900" b="0" i="0">
                <a:solidFill>
                  <a:srgbClr val="94A3B8"/>
                </a:solidFill>
              </a:rPr>
              <a:t>Quartos/Dom.</a:t>
            </a:r>
          </a:p>
        </p:txBody>
      </p:sp>
      <p:sp>
        <p:nvSpPr>
          <p:cNvPr id="42" name="TextBox 41"/>
          <p:cNvSpPr txBox="1"/>
          <p:nvPr/>
        </p:nvSpPr>
        <p:spPr>
          <a:xfrm>
            <a:off x="10277856" y="2487168"/>
            <a:ext cx="1600200" cy="256032"/>
          </a:xfrm>
          <a:prstGeom prst="rect">
            <a:avLst/>
          </a:prstGeom>
          <a:noFill/>
        </p:spPr>
        <p:txBody>
          <a:bodyPr wrap="square">
            <a:spAutoFit/>
          </a:bodyPr>
          <a:lstStyle/>
          <a:p>
            <a:pPr algn="l"/>
            <a:r>
              <a:rPr sz="800" b="0" i="1">
                <a:solidFill>
                  <a:srgbClr val="94A3B8"/>
                </a:solidFill>
              </a:rPr>
              <a:t>média da zona</a:t>
            </a:r>
          </a:p>
        </p:txBody>
      </p:sp>
      <p:sp>
        <p:nvSpPr>
          <p:cNvPr id="43" name="Rectangle 42"/>
          <p:cNvSpPr/>
          <p:nvPr/>
        </p:nvSpPr>
        <p:spPr>
          <a:xfrm>
            <a:off x="274320" y="2834640"/>
            <a:ext cx="5943600" cy="141732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4320" y="2834640"/>
            <a:ext cx="64008" cy="14173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2907792"/>
            <a:ext cx="5577840" cy="1280160"/>
          </a:xfrm>
          <a:prstGeom prst="rect">
            <a:avLst/>
          </a:prstGeom>
          <a:noFill/>
        </p:spPr>
        <p:txBody>
          <a:bodyPr wrap="square">
            <a:spAutoFit/>
          </a:bodyPr>
          <a:lstStyle/>
          <a:p>
            <a:pPr algn="l"/>
            <a:r>
              <a:rPr sz="950" b="0" i="0">
                <a:solidFill>
                  <a:srgbClr val="94A3B8"/>
                </a:solidFill>
              </a:rPr>
              <a:t>NEAR OCEAN são os distritos que têm o Pacífico como quintal. Santa Cruz, Monterey, Malibu, Santa Bárbara, Half Moon Bay. O clima é o melhor da Califórnia: 18–24°C o ano todo, sem extremos. A valorização é sustentada pela escassez — não há mais litoral para construir. O perfil de renda é mais baixo que NEAR BAY, mas o preço é quase igual, porque as pessoas pagam pelo estilo de vida, não pelo mercado de trabalho.</a:t>
            </a:r>
          </a:p>
        </p:txBody>
      </p:sp>
      <p:pic>
        <p:nvPicPr>
          <p:cNvPr id="46" name="Picture 45" descr="image.png"/>
          <p:cNvPicPr>
            <a:picLocks noChangeAspect="1"/>
          </p:cNvPicPr>
          <p:nvPr/>
        </p:nvPicPr>
        <p:blipFill>
          <a:blip r:embed="rId2"/>
          <a:stretch>
            <a:fillRect/>
          </a:stretch>
        </p:blipFill>
        <p:spPr>
          <a:xfrm>
            <a:off x="6400800" y="2788920"/>
            <a:ext cx="5440680" cy="2377440"/>
          </a:xfrm>
          <a:prstGeom prst="rect">
            <a:avLst/>
          </a:prstGeom>
        </p:spPr>
      </p:pic>
      <p:sp>
        <p:nvSpPr>
          <p:cNvPr id="47" name="TextBox 46"/>
          <p:cNvSpPr txBox="1"/>
          <p:nvPr/>
        </p:nvSpPr>
        <p:spPr>
          <a:xfrm>
            <a:off x="320040" y="4407408"/>
            <a:ext cx="2743200" cy="274320"/>
          </a:xfrm>
          <a:prstGeom prst="rect">
            <a:avLst/>
          </a:prstGeom>
          <a:noFill/>
        </p:spPr>
        <p:txBody>
          <a:bodyPr wrap="square">
            <a:spAutoFit/>
          </a:bodyPr>
          <a:lstStyle/>
          <a:p>
            <a:pPr algn="l"/>
            <a:r>
              <a:rPr sz="900" b="1" i="0">
                <a:solidFill>
                  <a:srgbClr val="34D399"/>
                </a:solidFill>
              </a:rPr>
              <a:t>✅  IDEAL PARA:</a:t>
            </a:r>
          </a:p>
        </p:txBody>
      </p:sp>
      <p:sp>
        <p:nvSpPr>
          <p:cNvPr id="48" name="TextBox 47"/>
          <p:cNvSpPr txBox="1"/>
          <p:nvPr/>
        </p:nvSpPr>
        <p:spPr>
          <a:xfrm>
            <a:off x="320040" y="4700016"/>
            <a:ext cx="5760720" cy="256032"/>
          </a:xfrm>
          <a:prstGeom prst="rect">
            <a:avLst/>
          </a:prstGeom>
          <a:noFill/>
        </p:spPr>
        <p:txBody>
          <a:bodyPr wrap="square">
            <a:spAutoFit/>
          </a:bodyPr>
          <a:lstStyle/>
          <a:p>
            <a:pPr algn="l"/>
            <a:r>
              <a:rPr sz="900" b="0" i="0">
                <a:solidFill>
                  <a:srgbClr val="FFFFFF"/>
                </a:solidFill>
              </a:rPr>
              <a:t>  ✅  Quem prioriza qualidade de vida acima de tudo</a:t>
            </a:r>
          </a:p>
        </p:txBody>
      </p:sp>
      <p:sp>
        <p:nvSpPr>
          <p:cNvPr id="49" name="TextBox 48"/>
          <p:cNvSpPr txBox="1"/>
          <p:nvPr/>
        </p:nvSpPr>
        <p:spPr>
          <a:xfrm>
            <a:off x="320040" y="4992624"/>
            <a:ext cx="5760720" cy="256032"/>
          </a:xfrm>
          <a:prstGeom prst="rect">
            <a:avLst/>
          </a:prstGeom>
          <a:noFill/>
        </p:spPr>
        <p:txBody>
          <a:bodyPr wrap="square">
            <a:spAutoFit/>
          </a:bodyPr>
          <a:lstStyle/>
          <a:p>
            <a:pPr algn="l"/>
            <a:r>
              <a:rPr sz="900" b="0" i="0">
                <a:solidFill>
                  <a:srgbClr val="FFFFFF"/>
                </a:solidFill>
              </a:rPr>
              <a:t>  ✅  Trabalho remoto — sem necessidade de ir ao escritório</a:t>
            </a:r>
          </a:p>
        </p:txBody>
      </p:sp>
      <p:sp>
        <p:nvSpPr>
          <p:cNvPr id="50" name="TextBox 49"/>
          <p:cNvSpPr txBox="1"/>
          <p:nvPr/>
        </p:nvSpPr>
        <p:spPr>
          <a:xfrm>
            <a:off x="320040" y="5285232"/>
            <a:ext cx="5760720" cy="256032"/>
          </a:xfrm>
          <a:prstGeom prst="rect">
            <a:avLst/>
          </a:prstGeom>
          <a:noFill/>
        </p:spPr>
        <p:txBody>
          <a:bodyPr wrap="square">
            <a:spAutoFit/>
          </a:bodyPr>
          <a:lstStyle/>
          <a:p>
            <a:pPr algn="l"/>
            <a:r>
              <a:rPr sz="900" b="0" i="0">
                <a:solidFill>
                  <a:srgbClr val="FFFFFF"/>
                </a:solidFill>
              </a:rPr>
              <a:t>  ✅  Aposentados com patrimônio já construído</a:t>
            </a:r>
          </a:p>
        </p:txBody>
      </p:sp>
      <p:sp>
        <p:nvSpPr>
          <p:cNvPr id="51" name="TextBox 50"/>
          <p:cNvSpPr txBox="1"/>
          <p:nvPr/>
        </p:nvSpPr>
        <p:spPr>
          <a:xfrm>
            <a:off x="320040" y="5577840"/>
            <a:ext cx="5760720" cy="256032"/>
          </a:xfrm>
          <a:prstGeom prst="rect">
            <a:avLst/>
          </a:prstGeom>
          <a:noFill/>
        </p:spPr>
        <p:txBody>
          <a:bodyPr wrap="square">
            <a:spAutoFit/>
          </a:bodyPr>
          <a:lstStyle/>
          <a:p>
            <a:pPr algn="l"/>
            <a:r>
              <a:rPr sz="900" b="0" i="0">
                <a:solidFill>
                  <a:srgbClr val="FFFFFF"/>
                </a:solidFill>
              </a:rPr>
              <a:t>  ✅  Investimento em temporada / aluguel por temporada</a:t>
            </a:r>
          </a:p>
        </p:txBody>
      </p:sp>
      <p:sp>
        <p:nvSpPr>
          <p:cNvPr id="52" name="TextBox 51"/>
          <p:cNvSpPr txBox="1"/>
          <p:nvPr/>
        </p:nvSpPr>
        <p:spPr>
          <a:xfrm>
            <a:off x="6035040" y="4407408"/>
            <a:ext cx="2743200" cy="274320"/>
          </a:xfrm>
          <a:prstGeom prst="rect">
            <a:avLst/>
          </a:prstGeom>
          <a:noFill/>
        </p:spPr>
        <p:txBody>
          <a:bodyPr wrap="square">
            <a:spAutoFit/>
          </a:bodyPr>
          <a:lstStyle/>
          <a:p>
            <a:pPr algn="l"/>
            <a:r>
              <a:rPr sz="900" b="1" i="0">
                <a:solidFill>
                  <a:srgbClr val="F97316"/>
                </a:solidFill>
              </a:rPr>
              <a:t>⚠️  ATENÇÃO:</a:t>
            </a:r>
          </a:p>
        </p:txBody>
      </p:sp>
      <p:sp>
        <p:nvSpPr>
          <p:cNvPr id="53" name="TextBox 52"/>
          <p:cNvSpPr txBox="1"/>
          <p:nvPr/>
        </p:nvSpPr>
        <p:spPr>
          <a:xfrm>
            <a:off x="6035040" y="4700016"/>
            <a:ext cx="5669280" cy="256032"/>
          </a:xfrm>
          <a:prstGeom prst="rect">
            <a:avLst/>
          </a:prstGeom>
          <a:noFill/>
        </p:spPr>
        <p:txBody>
          <a:bodyPr wrap="square">
            <a:spAutoFit/>
          </a:bodyPr>
          <a:lstStyle/>
          <a:p>
            <a:pPr algn="l"/>
            <a:r>
              <a:rPr sz="900" b="0" i="0">
                <a:solidFill>
                  <a:srgbClr val="94A3B8"/>
                </a:solidFill>
              </a:rPr>
              <a:t>  ⚠️  Renda local mais baixa que o preço sugere — crédito exigido</a:t>
            </a:r>
          </a:p>
        </p:txBody>
      </p:sp>
      <p:sp>
        <p:nvSpPr>
          <p:cNvPr id="54" name="TextBox 53"/>
          <p:cNvSpPr txBox="1"/>
          <p:nvPr/>
        </p:nvSpPr>
        <p:spPr>
          <a:xfrm>
            <a:off x="6035040" y="4992624"/>
            <a:ext cx="5669280" cy="256032"/>
          </a:xfrm>
          <a:prstGeom prst="rect">
            <a:avLst/>
          </a:prstGeom>
          <a:noFill/>
        </p:spPr>
        <p:txBody>
          <a:bodyPr wrap="square">
            <a:spAutoFit/>
          </a:bodyPr>
          <a:lstStyle/>
          <a:p>
            <a:pPr algn="l"/>
            <a:r>
              <a:rPr sz="900" b="0" i="0">
                <a:solidFill>
                  <a:srgbClr val="94A3B8"/>
                </a:solidFill>
              </a:rPr>
              <a:t>  ⚠️  Risco de incêndio e erosão costeira em algumas áreas</a:t>
            </a:r>
          </a:p>
        </p:txBody>
      </p:sp>
      <p:sp>
        <p:nvSpPr>
          <p:cNvPr id="55" name="TextBox 54"/>
          <p:cNvSpPr txBox="1"/>
          <p:nvPr/>
        </p:nvSpPr>
        <p:spPr>
          <a:xfrm>
            <a:off x="6035040" y="5285232"/>
            <a:ext cx="5669280" cy="256032"/>
          </a:xfrm>
          <a:prstGeom prst="rect">
            <a:avLst/>
          </a:prstGeom>
          <a:noFill/>
        </p:spPr>
        <p:txBody>
          <a:bodyPr wrap="square">
            <a:spAutoFit/>
          </a:bodyPr>
          <a:lstStyle/>
          <a:p>
            <a:pPr algn="l"/>
            <a:r>
              <a:rPr sz="900" b="0" i="0">
                <a:solidFill>
                  <a:srgbClr val="94A3B8"/>
                </a:solidFill>
              </a:rPr>
              <a:t>  ⚠️  Mercado de trabalho local limitado</a:t>
            </a:r>
          </a:p>
        </p:txBody>
      </p:sp>
      <p:sp>
        <p:nvSpPr>
          <p:cNvPr id="56" name="TextBox 55"/>
          <p:cNvSpPr txBox="1"/>
          <p:nvPr/>
        </p:nvSpPr>
        <p:spPr>
          <a:xfrm>
            <a:off x="6035040" y="5577840"/>
            <a:ext cx="5669280" cy="256032"/>
          </a:xfrm>
          <a:prstGeom prst="rect">
            <a:avLst/>
          </a:prstGeom>
          <a:noFill/>
        </p:spPr>
        <p:txBody>
          <a:bodyPr wrap="square">
            <a:spAutoFit/>
          </a:bodyPr>
          <a:lstStyle/>
          <a:p>
            <a:pPr algn="l"/>
            <a:r>
              <a:rPr sz="900" b="0" i="0">
                <a:solidFill>
                  <a:srgbClr val="94A3B8"/>
                </a:solidFill>
              </a:rPr>
              <a:t>  ⚠️  Custo de seguro imobiliário crescente</a:t>
            </a:r>
          </a:p>
        </p:txBody>
      </p:sp>
      <p:sp>
        <p:nvSpPr>
          <p:cNvPr id="57" name="Rectangle 56"/>
          <p:cNvSpPr/>
          <p:nvPr/>
        </p:nvSpPr>
        <p:spPr>
          <a:xfrm>
            <a:off x="274320" y="5760720"/>
            <a:ext cx="11612880" cy="47548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11480" y="5833872"/>
            <a:ext cx="2194560" cy="310896"/>
          </a:xfrm>
          <a:prstGeom prst="rect">
            <a:avLst/>
          </a:prstGeom>
          <a:noFill/>
        </p:spPr>
        <p:txBody>
          <a:bodyPr wrap="square">
            <a:spAutoFit/>
          </a:bodyPr>
          <a:lstStyle/>
          <a:p>
            <a:pPr algn="l"/>
            <a:r>
              <a:rPr sz="900" b="1" i="0">
                <a:solidFill>
                  <a:srgbClr val="0EA5E9"/>
                </a:solidFill>
              </a:rPr>
              <a:t>📍  Cidades referência: </a:t>
            </a:r>
          </a:p>
        </p:txBody>
      </p:sp>
      <p:sp>
        <p:nvSpPr>
          <p:cNvPr id="59" name="TextBox 58"/>
          <p:cNvSpPr txBox="1"/>
          <p:nvPr/>
        </p:nvSpPr>
        <p:spPr>
          <a:xfrm>
            <a:off x="2606040" y="5833872"/>
            <a:ext cx="9144000" cy="310896"/>
          </a:xfrm>
          <a:prstGeom prst="rect">
            <a:avLst/>
          </a:prstGeom>
          <a:noFill/>
        </p:spPr>
        <p:txBody>
          <a:bodyPr wrap="square">
            <a:spAutoFit/>
          </a:bodyPr>
          <a:lstStyle/>
          <a:p>
            <a:pPr algn="l"/>
            <a:r>
              <a:rPr sz="900" b="0" i="0">
                <a:solidFill>
                  <a:srgbClr val="FFFFFF"/>
                </a:solidFill>
              </a:rPr>
              <a:t>Santa Cruz · Monterey · Carmel · Santa Bárbara · Malibu · Half Moon Bay · Oxnard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34D399"/>
                </a:solidFill>
              </a:rPr>
              <a:t>DECISÃO DE COMPRA</a:t>
            </a:r>
          </a:p>
        </p:txBody>
      </p:sp>
      <p:sp>
        <p:nvSpPr>
          <p:cNvPr id="4" name="TextBox 3"/>
          <p:cNvSpPr txBox="1"/>
          <p:nvPr/>
        </p:nvSpPr>
        <p:spPr>
          <a:xfrm>
            <a:off x="274320" y="502920"/>
            <a:ext cx="7315200" cy="502920"/>
          </a:xfrm>
          <a:prstGeom prst="rect">
            <a:avLst/>
          </a:prstGeom>
          <a:noFill/>
        </p:spPr>
        <p:txBody>
          <a:bodyPr wrap="square">
            <a:spAutoFit/>
          </a:bodyPr>
          <a:lstStyle/>
          <a:p>
            <a:pPr algn="l"/>
            <a:r>
              <a:rPr sz="2600" b="1" i="0">
                <a:solidFill>
                  <a:srgbClr val="FFFFFF"/>
                </a:solidFill>
              </a:rPr>
              <a:t>Onde comprar?</a:t>
            </a:r>
          </a:p>
        </p:txBody>
      </p:sp>
      <p:sp>
        <p:nvSpPr>
          <p:cNvPr id="5" name="TextBox 4"/>
          <p:cNvSpPr txBox="1"/>
          <p:nvPr/>
        </p:nvSpPr>
        <p:spPr>
          <a:xfrm>
            <a:off x="274320" y="987552"/>
            <a:ext cx="9144000" cy="411480"/>
          </a:xfrm>
          <a:prstGeom prst="rect">
            <a:avLst/>
          </a:prstGeom>
          <a:noFill/>
        </p:spPr>
        <p:txBody>
          <a:bodyPr wrap="square">
            <a:spAutoFit/>
          </a:bodyPr>
          <a:lstStyle/>
          <a:p>
            <a:pPr algn="l"/>
            <a:r>
              <a:rPr sz="1400" b="0" i="0">
                <a:solidFill>
                  <a:srgbClr val="34D399"/>
                </a:solidFill>
              </a:rPr>
              <a:t>A resposta depende da sua renda e do seu objetivo.</a:t>
            </a:r>
          </a:p>
        </p:txBody>
      </p:sp>
      <p:sp>
        <p:nvSpPr>
          <p:cNvPr id="6" name="Rectangle 5"/>
          <p:cNvSpPr/>
          <p:nvPr/>
        </p:nvSpPr>
        <p:spPr>
          <a:xfrm>
            <a:off x="274320" y="1508760"/>
            <a:ext cx="11612880" cy="3200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4320" y="1645920"/>
            <a:ext cx="5486400" cy="2926080"/>
          </a:xfrm>
          <a:prstGeom prst="rect">
            <a:avLst/>
          </a:prstGeom>
        </p:spPr>
      </p:pic>
      <p:pic>
        <p:nvPicPr>
          <p:cNvPr id="8" name="Picture 7" descr="image.png"/>
          <p:cNvPicPr>
            <a:picLocks noChangeAspect="1"/>
          </p:cNvPicPr>
          <p:nvPr/>
        </p:nvPicPr>
        <p:blipFill>
          <a:blip r:embed="rId3"/>
          <a:stretch>
            <a:fillRect/>
          </a:stretch>
        </p:blipFill>
        <p:spPr>
          <a:xfrm>
            <a:off x="5943600" y="1645920"/>
            <a:ext cx="6035040" cy="2926080"/>
          </a:xfrm>
          <a:prstGeom prst="rect">
            <a:avLst/>
          </a:prstGeom>
        </p:spPr>
      </p:pic>
      <p:sp>
        <p:nvSpPr>
          <p:cNvPr id="9" name="Rectangle 8"/>
          <p:cNvSpPr/>
          <p:nvPr/>
        </p:nvSpPr>
        <p:spPr>
          <a:xfrm>
            <a:off x="274320" y="4754880"/>
            <a:ext cx="11612880" cy="566928"/>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4754880"/>
            <a:ext cx="64008"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818888"/>
            <a:ext cx="1828800" cy="256032"/>
          </a:xfrm>
          <a:prstGeom prst="rect">
            <a:avLst/>
          </a:prstGeom>
          <a:noFill/>
        </p:spPr>
        <p:txBody>
          <a:bodyPr wrap="square">
            <a:spAutoFit/>
          </a:bodyPr>
          <a:lstStyle/>
          <a:p>
            <a:pPr algn="l"/>
            <a:r>
              <a:rPr sz="1000" b="1" i="0">
                <a:solidFill>
                  <a:srgbClr val="F5A623"/>
                </a:solidFill>
              </a:rPr>
              <a:t>INLAND</a:t>
            </a:r>
          </a:p>
        </p:txBody>
      </p:sp>
      <p:sp>
        <p:nvSpPr>
          <p:cNvPr id="12" name="TextBox 11"/>
          <p:cNvSpPr txBox="1"/>
          <p:nvPr/>
        </p:nvSpPr>
        <p:spPr>
          <a:xfrm>
            <a:off x="2331720" y="4818888"/>
            <a:ext cx="2194560" cy="256032"/>
          </a:xfrm>
          <a:prstGeom prst="rect">
            <a:avLst/>
          </a:prstGeom>
          <a:noFill/>
        </p:spPr>
        <p:txBody>
          <a:bodyPr wrap="square">
            <a:spAutoFit/>
          </a:bodyPr>
          <a:lstStyle/>
          <a:p>
            <a:pPr algn="l"/>
            <a:r>
              <a:rPr sz="950" b="1" i="0">
                <a:solidFill>
                  <a:srgbClr val="FFFFFF"/>
                </a:solidFill>
              </a:rPr>
              <a:t>Renda &lt; $45k/ano</a:t>
            </a:r>
          </a:p>
        </p:txBody>
      </p:sp>
      <p:sp>
        <p:nvSpPr>
          <p:cNvPr id="13" name="TextBox 12"/>
          <p:cNvSpPr txBox="1"/>
          <p:nvPr/>
        </p:nvSpPr>
        <p:spPr>
          <a:xfrm>
            <a:off x="4663440" y="4818888"/>
            <a:ext cx="7132320" cy="256032"/>
          </a:xfrm>
          <a:prstGeom prst="rect">
            <a:avLst/>
          </a:prstGeom>
          <a:noFill/>
        </p:spPr>
        <p:txBody>
          <a:bodyPr wrap="square">
            <a:spAutoFit/>
          </a:bodyPr>
          <a:lstStyle/>
          <a:p>
            <a:pPr algn="l"/>
            <a:r>
              <a:rPr sz="900" b="0" i="0">
                <a:solidFill>
                  <a:srgbClr val="94A3B8"/>
                </a:solidFill>
              </a:rPr>
              <a:t>Entrada a partir de $22k (20%). Score CB 2.75 — melhor custo-benefício do dataset.</a:t>
            </a:r>
          </a:p>
        </p:txBody>
      </p:sp>
      <p:sp>
        <p:nvSpPr>
          <p:cNvPr id="14" name="Rectangle 13"/>
          <p:cNvSpPr/>
          <p:nvPr/>
        </p:nvSpPr>
        <p:spPr>
          <a:xfrm>
            <a:off x="274320" y="5413248"/>
            <a:ext cx="11612880" cy="566928"/>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5413248"/>
            <a:ext cx="64008" cy="56692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5477256"/>
            <a:ext cx="1828800" cy="256032"/>
          </a:xfrm>
          <a:prstGeom prst="rect">
            <a:avLst/>
          </a:prstGeom>
          <a:noFill/>
        </p:spPr>
        <p:txBody>
          <a:bodyPr wrap="square">
            <a:spAutoFit/>
          </a:bodyPr>
          <a:lstStyle/>
          <a:p>
            <a:pPr algn="l"/>
            <a:r>
              <a:rPr sz="1000" b="1" i="0">
                <a:solidFill>
                  <a:srgbClr val="34D399"/>
                </a:solidFill>
              </a:rPr>
              <a:t>&lt;1H OCEAN</a:t>
            </a:r>
          </a:p>
        </p:txBody>
      </p:sp>
      <p:sp>
        <p:nvSpPr>
          <p:cNvPr id="17" name="TextBox 16"/>
          <p:cNvSpPr txBox="1"/>
          <p:nvPr/>
        </p:nvSpPr>
        <p:spPr>
          <a:xfrm>
            <a:off x="2331720" y="5477256"/>
            <a:ext cx="2194560" cy="256032"/>
          </a:xfrm>
          <a:prstGeom prst="rect">
            <a:avLst/>
          </a:prstGeom>
          <a:noFill/>
        </p:spPr>
        <p:txBody>
          <a:bodyPr wrap="square">
            <a:spAutoFit/>
          </a:bodyPr>
          <a:lstStyle/>
          <a:p>
            <a:pPr algn="l"/>
            <a:r>
              <a:rPr sz="950" b="1" i="0">
                <a:solidFill>
                  <a:srgbClr val="FFFFFF"/>
                </a:solidFill>
              </a:rPr>
              <a:t>Renda $50–80k/ano</a:t>
            </a:r>
          </a:p>
        </p:txBody>
      </p:sp>
      <p:sp>
        <p:nvSpPr>
          <p:cNvPr id="18" name="TextBox 17"/>
          <p:cNvSpPr txBox="1"/>
          <p:nvPr/>
        </p:nvSpPr>
        <p:spPr>
          <a:xfrm>
            <a:off x="4663440" y="5477256"/>
            <a:ext cx="7132320" cy="256032"/>
          </a:xfrm>
          <a:prstGeom prst="rect">
            <a:avLst/>
          </a:prstGeom>
          <a:noFill/>
        </p:spPr>
        <p:txBody>
          <a:bodyPr wrap="square">
            <a:spAutoFit/>
          </a:bodyPr>
          <a:lstStyle/>
          <a:p>
            <a:pPr algn="l"/>
            <a:r>
              <a:rPr sz="900" b="0" i="0">
                <a:solidFill>
                  <a:srgbClr val="94A3B8"/>
                </a:solidFill>
              </a:rPr>
              <a:t>Equilíbrio real. Prestação ~$1.140/mês. Compromete ~35% da renda — dentro do aceitável.</a:t>
            </a:r>
          </a:p>
        </p:txBody>
      </p:sp>
      <p:sp>
        <p:nvSpPr>
          <p:cNvPr id="19" name="Rectangle 18"/>
          <p:cNvSpPr/>
          <p:nvPr/>
        </p:nvSpPr>
        <p:spPr>
          <a:xfrm>
            <a:off x="274320" y="6071616"/>
            <a:ext cx="11612880" cy="566928"/>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6071616"/>
            <a:ext cx="64008" cy="56692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135624"/>
            <a:ext cx="1828800" cy="256032"/>
          </a:xfrm>
          <a:prstGeom prst="rect">
            <a:avLst/>
          </a:prstGeom>
          <a:noFill/>
        </p:spPr>
        <p:txBody>
          <a:bodyPr wrap="square">
            <a:spAutoFit/>
          </a:bodyPr>
          <a:lstStyle/>
          <a:p>
            <a:pPr algn="l"/>
            <a:r>
              <a:rPr sz="1000" b="1" i="0">
                <a:solidFill>
                  <a:srgbClr val="A78BFA"/>
                </a:solidFill>
              </a:rPr>
              <a:t>NEAR BAY</a:t>
            </a:r>
          </a:p>
        </p:txBody>
      </p:sp>
      <p:sp>
        <p:nvSpPr>
          <p:cNvPr id="22" name="TextBox 21"/>
          <p:cNvSpPr txBox="1"/>
          <p:nvPr/>
        </p:nvSpPr>
        <p:spPr>
          <a:xfrm>
            <a:off x="2331720" y="6135624"/>
            <a:ext cx="2194560" cy="256032"/>
          </a:xfrm>
          <a:prstGeom prst="rect">
            <a:avLst/>
          </a:prstGeom>
          <a:noFill/>
        </p:spPr>
        <p:txBody>
          <a:bodyPr wrap="square">
            <a:spAutoFit/>
          </a:bodyPr>
          <a:lstStyle/>
          <a:p>
            <a:pPr algn="l"/>
            <a:r>
              <a:rPr sz="950" b="1" i="0">
                <a:solidFill>
                  <a:srgbClr val="FFFFFF"/>
                </a:solidFill>
              </a:rPr>
              <a:t>Renda $100k+/ano</a:t>
            </a:r>
          </a:p>
        </p:txBody>
      </p:sp>
      <p:sp>
        <p:nvSpPr>
          <p:cNvPr id="23" name="TextBox 22"/>
          <p:cNvSpPr txBox="1"/>
          <p:nvPr/>
        </p:nvSpPr>
        <p:spPr>
          <a:xfrm>
            <a:off x="4663440" y="6135624"/>
            <a:ext cx="7132320" cy="256032"/>
          </a:xfrm>
          <a:prstGeom prst="rect">
            <a:avLst/>
          </a:prstGeom>
          <a:noFill/>
        </p:spPr>
        <p:txBody>
          <a:bodyPr wrap="square">
            <a:spAutoFit/>
          </a:bodyPr>
          <a:lstStyle/>
          <a:p>
            <a:pPr algn="l"/>
            <a:r>
              <a:rPr sz="900" b="0" i="0">
                <a:solidFill>
                  <a:srgbClr val="94A3B8"/>
                </a:solidFill>
              </a:rPr>
              <a:t>Investimento sólido de longo prazo. Valorização histórica comprovada. Exige fôlego.</a:t>
            </a:r>
          </a:p>
        </p:txBody>
      </p:sp>
      <p:sp>
        <p:nvSpPr>
          <p:cNvPr id="24" name="Rectangle 23"/>
          <p:cNvSpPr/>
          <p:nvPr/>
        </p:nvSpPr>
        <p:spPr>
          <a:xfrm>
            <a:off x="274320" y="6601968"/>
            <a:ext cx="11612880" cy="201168"/>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629400"/>
            <a:ext cx="11247120" cy="164592"/>
          </a:xfrm>
          <a:prstGeom prst="rect">
            <a:avLst/>
          </a:prstGeom>
          <a:noFill/>
        </p:spPr>
        <p:txBody>
          <a:bodyPr wrap="square">
            <a:spAutoFit/>
          </a:bodyPr>
          <a:lstStyle/>
          <a:p>
            <a:pPr algn="l"/>
            <a:r>
              <a:rPr sz="850" b="0" i="1">
                <a:solidFill>
                  <a:srgbClr val="94A3B8"/>
                </a:solidFill>
              </a:rPr>
              <a:t>📌  Regra: prestação ≤ 30% da renda bruta mensal. Simular com entrada de 20%, 30 anos, 7% a.a.</a:t>
            </a:r>
          </a:p>
        </p:txBody>
      </p:sp>
      <p:sp>
        <p:nvSpPr>
          <p:cNvPr id="26" name="Rectangle 25"/>
          <p:cNvSpPr/>
          <p:nvPr/>
        </p:nvSpPr>
        <p:spPr>
          <a:xfrm>
            <a:off x="274320"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364224"/>
            <a:ext cx="2249424" cy="256032"/>
          </a:xfrm>
          <a:prstGeom prst="rect">
            <a:avLst/>
          </a:prstGeom>
          <a:noFill/>
        </p:spPr>
        <p:txBody>
          <a:bodyPr wrap="square">
            <a:spAutoFit/>
          </a:bodyPr>
          <a:lstStyle/>
          <a:p>
            <a:pPr algn="ctr"/>
            <a:r>
              <a:rPr sz="700" b="0" i="0">
                <a:solidFill>
                  <a:srgbClr val="94A3B8"/>
                </a:solidFill>
              </a:rPr>
              <a:t>Interior</a:t>
            </a:r>
          </a:p>
        </p:txBody>
      </p:sp>
      <p:sp>
        <p:nvSpPr>
          <p:cNvPr id="28" name="Rectangle 27"/>
          <p:cNvSpPr/>
          <p:nvPr/>
        </p:nvSpPr>
        <p:spPr>
          <a:xfrm>
            <a:off x="2596896"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42615" y="6364224"/>
            <a:ext cx="2249424" cy="256032"/>
          </a:xfrm>
          <a:prstGeom prst="rect">
            <a:avLst/>
          </a:prstGeom>
          <a:noFill/>
        </p:spPr>
        <p:txBody>
          <a:bodyPr wrap="square">
            <a:spAutoFit/>
          </a:bodyPr>
          <a:lstStyle/>
          <a:p>
            <a:pPr algn="ctr"/>
            <a:r>
              <a:rPr sz="700" b="0" i="0">
                <a:solidFill>
                  <a:srgbClr val="94A3B8"/>
                </a:solidFill>
              </a:rPr>
              <a:t>&lt;1h Oceano</a:t>
            </a:r>
          </a:p>
        </p:txBody>
      </p:sp>
      <p:sp>
        <p:nvSpPr>
          <p:cNvPr id="30" name="Rectangle 29"/>
          <p:cNvSpPr/>
          <p:nvPr/>
        </p:nvSpPr>
        <p:spPr>
          <a:xfrm>
            <a:off x="4919472"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65192" y="6364224"/>
            <a:ext cx="2249424" cy="256032"/>
          </a:xfrm>
          <a:prstGeom prst="rect">
            <a:avLst/>
          </a:prstGeom>
          <a:noFill/>
        </p:spPr>
        <p:txBody>
          <a:bodyPr wrap="square">
            <a:spAutoFit/>
          </a:bodyPr>
          <a:lstStyle/>
          <a:p>
            <a:pPr algn="ctr"/>
            <a:r>
              <a:rPr sz="700" b="0" i="0">
                <a:solidFill>
                  <a:srgbClr val="94A3B8"/>
                </a:solidFill>
              </a:rPr>
              <a:t>Próx. Oceano</a:t>
            </a:r>
          </a:p>
        </p:txBody>
      </p:sp>
      <p:sp>
        <p:nvSpPr>
          <p:cNvPr id="32" name="Rectangle 31"/>
          <p:cNvSpPr/>
          <p:nvPr/>
        </p:nvSpPr>
        <p:spPr>
          <a:xfrm>
            <a:off x="7242048"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87768" y="6364224"/>
            <a:ext cx="2249424" cy="256032"/>
          </a:xfrm>
          <a:prstGeom prst="rect">
            <a:avLst/>
          </a:prstGeom>
          <a:noFill/>
        </p:spPr>
        <p:txBody>
          <a:bodyPr wrap="square">
            <a:spAutoFit/>
          </a:bodyPr>
          <a:lstStyle/>
          <a:p>
            <a:pPr algn="ctr"/>
            <a:r>
              <a:rPr sz="700" b="0" i="0">
                <a:solidFill>
                  <a:srgbClr val="94A3B8"/>
                </a:solidFill>
              </a:rPr>
              <a:t>Próx. Baía</a:t>
            </a:r>
          </a:p>
        </p:txBody>
      </p:sp>
      <p:sp>
        <p:nvSpPr>
          <p:cNvPr id="34" name="Rectangle 33"/>
          <p:cNvSpPr/>
          <p:nvPr/>
        </p:nvSpPr>
        <p:spPr>
          <a:xfrm>
            <a:off x="9564624"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0344" y="6364224"/>
            <a:ext cx="2249424" cy="256032"/>
          </a:xfrm>
          <a:prstGeom prst="rect">
            <a:avLst/>
          </a:prstGeom>
          <a:noFill/>
        </p:spPr>
        <p:txBody>
          <a:bodyPr wrap="square">
            <a:spAutoFit/>
          </a:bodyPr>
          <a:lstStyle/>
          <a:p>
            <a:pPr algn="ctr"/>
            <a:r>
              <a:rPr sz="700" b="0" i="0">
                <a:solidFill>
                  <a:srgbClr val="94A3B8"/>
                </a:solidFill>
              </a:rPr>
              <a:t>Ilha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0EA5E9"/>
                </a:solidFill>
              </a:rPr>
              <a:t>DECISÃO DE ALUGUEL</a:t>
            </a:r>
          </a:p>
        </p:txBody>
      </p:sp>
      <p:sp>
        <p:nvSpPr>
          <p:cNvPr id="4" name="TextBox 3"/>
          <p:cNvSpPr txBox="1"/>
          <p:nvPr/>
        </p:nvSpPr>
        <p:spPr>
          <a:xfrm>
            <a:off x="274320" y="502920"/>
            <a:ext cx="7315200" cy="502920"/>
          </a:xfrm>
          <a:prstGeom prst="rect">
            <a:avLst/>
          </a:prstGeom>
          <a:noFill/>
        </p:spPr>
        <p:txBody>
          <a:bodyPr wrap="square">
            <a:spAutoFit/>
          </a:bodyPr>
          <a:lstStyle/>
          <a:p>
            <a:pPr algn="l"/>
            <a:r>
              <a:rPr sz="2600" b="1" i="0">
                <a:solidFill>
                  <a:srgbClr val="FFFFFF"/>
                </a:solidFill>
              </a:rPr>
              <a:t>Onde alugar?</a:t>
            </a:r>
          </a:p>
        </p:txBody>
      </p:sp>
      <p:sp>
        <p:nvSpPr>
          <p:cNvPr id="5" name="TextBox 4"/>
          <p:cNvSpPr txBox="1"/>
          <p:nvPr/>
        </p:nvSpPr>
        <p:spPr>
          <a:xfrm>
            <a:off x="274320" y="987552"/>
            <a:ext cx="9144000" cy="411480"/>
          </a:xfrm>
          <a:prstGeom prst="rect">
            <a:avLst/>
          </a:prstGeom>
          <a:noFill/>
        </p:spPr>
        <p:txBody>
          <a:bodyPr wrap="square">
            <a:spAutoFit/>
          </a:bodyPr>
          <a:lstStyle/>
          <a:p>
            <a:pPr algn="l"/>
            <a:r>
              <a:rPr sz="1300" b="0" i="0">
                <a:solidFill>
                  <a:srgbClr val="0EA5E9"/>
                </a:solidFill>
              </a:rPr>
              <a:t>Custo mensal, liberdade e qualidade de vida como critérios.</a:t>
            </a:r>
          </a:p>
        </p:txBody>
      </p:sp>
      <p:sp>
        <p:nvSpPr>
          <p:cNvPr id="6" name="Rectangle 5"/>
          <p:cNvSpPr/>
          <p:nvPr/>
        </p:nvSpPr>
        <p:spPr>
          <a:xfrm>
            <a:off x="274320" y="1508760"/>
            <a:ext cx="11612880" cy="3200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4320" y="1691640"/>
            <a:ext cx="6400800" cy="3200400"/>
          </a:xfrm>
          <a:prstGeom prst="rect">
            <a:avLst/>
          </a:prstGeom>
        </p:spPr>
      </p:pic>
      <p:sp>
        <p:nvSpPr>
          <p:cNvPr id="8" name="Rectangle 7"/>
          <p:cNvSpPr/>
          <p:nvPr/>
        </p:nvSpPr>
        <p:spPr>
          <a:xfrm>
            <a:off x="6858000" y="5029200"/>
            <a:ext cx="5166360" cy="475488"/>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0" y="5029200"/>
            <a:ext cx="54864" cy="47548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5065776"/>
            <a:ext cx="1920240" cy="201168"/>
          </a:xfrm>
          <a:prstGeom prst="rect">
            <a:avLst/>
          </a:prstGeom>
          <a:noFill/>
        </p:spPr>
        <p:txBody>
          <a:bodyPr wrap="square">
            <a:spAutoFit/>
          </a:bodyPr>
          <a:lstStyle/>
          <a:p>
            <a:pPr algn="l"/>
            <a:r>
              <a:rPr sz="850" b="1" i="0">
                <a:solidFill>
                  <a:srgbClr val="F5A623"/>
                </a:solidFill>
              </a:rPr>
              <a:t>🏜️  INLAND</a:t>
            </a:r>
          </a:p>
        </p:txBody>
      </p:sp>
      <p:sp>
        <p:nvSpPr>
          <p:cNvPr id="11" name="TextBox 10"/>
          <p:cNvSpPr txBox="1"/>
          <p:nvPr/>
        </p:nvSpPr>
        <p:spPr>
          <a:xfrm>
            <a:off x="8961120" y="5065776"/>
            <a:ext cx="2926080" cy="201168"/>
          </a:xfrm>
          <a:prstGeom prst="rect">
            <a:avLst/>
          </a:prstGeom>
          <a:noFill/>
        </p:spPr>
        <p:txBody>
          <a:bodyPr wrap="square">
            <a:spAutoFit/>
          </a:bodyPr>
          <a:lstStyle/>
          <a:p>
            <a:pPr algn="l"/>
            <a:r>
              <a:rPr sz="800" b="1" i="0">
                <a:solidFill>
                  <a:srgbClr val="FFFFFF"/>
                </a:solidFill>
              </a:rPr>
              <a:t>Aluguel ~$868/mês · 29% da renda</a:t>
            </a:r>
          </a:p>
        </p:txBody>
      </p:sp>
      <p:sp>
        <p:nvSpPr>
          <p:cNvPr id="12" name="TextBox 11"/>
          <p:cNvSpPr txBox="1"/>
          <p:nvPr/>
        </p:nvSpPr>
        <p:spPr>
          <a:xfrm>
            <a:off x="6995160" y="5266944"/>
            <a:ext cx="4892040" cy="201168"/>
          </a:xfrm>
          <a:prstGeom prst="rect">
            <a:avLst/>
          </a:prstGeom>
          <a:noFill/>
        </p:spPr>
        <p:txBody>
          <a:bodyPr wrap="square">
            <a:spAutoFit/>
          </a:bodyPr>
          <a:lstStyle/>
          <a:p>
            <a:pPr algn="l"/>
            <a:r>
              <a:rPr sz="800" b="0" i="0">
                <a:solidFill>
                  <a:srgbClr val="94A3B8"/>
                </a:solidFill>
              </a:rPr>
              <a:t>Dentro do ideal de 30%. Única zona financeiramente saudável para a renda mediana local.</a:t>
            </a:r>
          </a:p>
        </p:txBody>
      </p:sp>
      <p:sp>
        <p:nvSpPr>
          <p:cNvPr id="13" name="Rectangle 12"/>
          <p:cNvSpPr/>
          <p:nvPr/>
        </p:nvSpPr>
        <p:spPr>
          <a:xfrm>
            <a:off x="6858000" y="5596128"/>
            <a:ext cx="5166360" cy="475488"/>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0" y="5596128"/>
            <a:ext cx="54864" cy="4754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5632704"/>
            <a:ext cx="1920240" cy="201168"/>
          </a:xfrm>
          <a:prstGeom prst="rect">
            <a:avLst/>
          </a:prstGeom>
          <a:noFill/>
        </p:spPr>
        <p:txBody>
          <a:bodyPr wrap="square">
            <a:spAutoFit/>
          </a:bodyPr>
          <a:lstStyle/>
          <a:p>
            <a:pPr algn="l"/>
            <a:r>
              <a:rPr sz="850" b="1" i="0">
                <a:solidFill>
                  <a:srgbClr val="34D399"/>
                </a:solidFill>
              </a:rPr>
              <a:t>🚗  &lt;1H OCEAN</a:t>
            </a:r>
          </a:p>
        </p:txBody>
      </p:sp>
      <p:sp>
        <p:nvSpPr>
          <p:cNvPr id="16" name="TextBox 15"/>
          <p:cNvSpPr txBox="1"/>
          <p:nvPr/>
        </p:nvSpPr>
        <p:spPr>
          <a:xfrm>
            <a:off x="8961120" y="5632704"/>
            <a:ext cx="2926080" cy="201168"/>
          </a:xfrm>
          <a:prstGeom prst="rect">
            <a:avLst/>
          </a:prstGeom>
          <a:noFill/>
        </p:spPr>
        <p:txBody>
          <a:bodyPr wrap="square">
            <a:spAutoFit/>
          </a:bodyPr>
          <a:lstStyle/>
          <a:p>
            <a:pPr algn="l"/>
            <a:r>
              <a:rPr sz="800" b="1" i="0">
                <a:solidFill>
                  <a:srgbClr val="FFFFFF"/>
                </a:solidFill>
              </a:rPr>
              <a:t>Aluguel ~$1.719/mês · 44% da renda</a:t>
            </a:r>
          </a:p>
        </p:txBody>
      </p:sp>
      <p:sp>
        <p:nvSpPr>
          <p:cNvPr id="17" name="TextBox 16"/>
          <p:cNvSpPr txBox="1"/>
          <p:nvPr/>
        </p:nvSpPr>
        <p:spPr>
          <a:xfrm>
            <a:off x="6995160" y="5833872"/>
            <a:ext cx="4892040" cy="201168"/>
          </a:xfrm>
          <a:prstGeom prst="rect">
            <a:avLst/>
          </a:prstGeom>
          <a:noFill/>
        </p:spPr>
        <p:txBody>
          <a:bodyPr wrap="square">
            <a:spAutoFit/>
          </a:bodyPr>
          <a:lstStyle/>
          <a:p>
            <a:pPr algn="l"/>
            <a:r>
              <a:rPr sz="800" b="0" i="0">
                <a:solidFill>
                  <a:srgbClr val="94A3B8"/>
                </a:solidFill>
              </a:rPr>
              <a:t>Fora do ideal, mas aceitável se a renda for &gt; $50k. Acesso real ao litoral.</a:t>
            </a:r>
          </a:p>
        </p:txBody>
      </p:sp>
      <p:sp>
        <p:nvSpPr>
          <p:cNvPr id="18" name="Rectangle 17"/>
          <p:cNvSpPr/>
          <p:nvPr/>
        </p:nvSpPr>
        <p:spPr>
          <a:xfrm>
            <a:off x="6858000" y="6163056"/>
            <a:ext cx="5166360" cy="475488"/>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0" y="6163056"/>
            <a:ext cx="54864" cy="47548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6199632"/>
            <a:ext cx="1920240" cy="201168"/>
          </a:xfrm>
          <a:prstGeom prst="rect">
            <a:avLst/>
          </a:prstGeom>
          <a:noFill/>
        </p:spPr>
        <p:txBody>
          <a:bodyPr wrap="square">
            <a:spAutoFit/>
          </a:bodyPr>
          <a:lstStyle/>
          <a:p>
            <a:pPr algn="l"/>
            <a:r>
              <a:rPr sz="850" b="1" i="0">
                <a:solidFill>
                  <a:srgbClr val="0EA5E9"/>
                </a:solidFill>
              </a:rPr>
              <a:t>🌊  NEAR OCEAN</a:t>
            </a:r>
          </a:p>
        </p:txBody>
      </p:sp>
      <p:sp>
        <p:nvSpPr>
          <p:cNvPr id="21" name="TextBox 20"/>
          <p:cNvSpPr txBox="1"/>
          <p:nvPr/>
        </p:nvSpPr>
        <p:spPr>
          <a:xfrm>
            <a:off x="8961120" y="6199632"/>
            <a:ext cx="2926080" cy="201168"/>
          </a:xfrm>
          <a:prstGeom prst="rect">
            <a:avLst/>
          </a:prstGeom>
          <a:noFill/>
        </p:spPr>
        <p:txBody>
          <a:bodyPr wrap="square">
            <a:spAutoFit/>
          </a:bodyPr>
          <a:lstStyle/>
          <a:p>
            <a:pPr algn="l"/>
            <a:r>
              <a:rPr sz="800" b="1" i="0">
                <a:solidFill>
                  <a:srgbClr val="FFFFFF"/>
                </a:solidFill>
              </a:rPr>
              <a:t>Aluguel ~$1.836/mês · 50% da renda</a:t>
            </a:r>
          </a:p>
        </p:txBody>
      </p:sp>
      <p:sp>
        <p:nvSpPr>
          <p:cNvPr id="22" name="TextBox 21"/>
          <p:cNvSpPr txBox="1"/>
          <p:nvPr/>
        </p:nvSpPr>
        <p:spPr>
          <a:xfrm>
            <a:off x="6995160" y="6400800"/>
            <a:ext cx="4892040" cy="201168"/>
          </a:xfrm>
          <a:prstGeom prst="rect">
            <a:avLst/>
          </a:prstGeom>
          <a:noFill/>
        </p:spPr>
        <p:txBody>
          <a:bodyPr wrap="square">
            <a:spAutoFit/>
          </a:bodyPr>
          <a:lstStyle/>
          <a:p>
            <a:pPr algn="l"/>
            <a:r>
              <a:rPr sz="800" b="0" i="0">
                <a:solidFill>
                  <a:srgbClr val="94A3B8"/>
                </a:solidFill>
              </a:rPr>
              <a:t>Crítico para a renda local. Considere apenas com renda superior a $55k.</a:t>
            </a:r>
          </a:p>
        </p:txBody>
      </p:sp>
      <p:sp>
        <p:nvSpPr>
          <p:cNvPr id="23" name="Rectangle 22"/>
          <p:cNvSpPr/>
          <p:nvPr/>
        </p:nvSpPr>
        <p:spPr>
          <a:xfrm>
            <a:off x="6858000" y="6729984"/>
            <a:ext cx="5166360" cy="475488"/>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6729984"/>
            <a:ext cx="54864" cy="475488"/>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95160" y="6766560"/>
            <a:ext cx="1920240" cy="201168"/>
          </a:xfrm>
          <a:prstGeom prst="rect">
            <a:avLst/>
          </a:prstGeom>
          <a:noFill/>
        </p:spPr>
        <p:txBody>
          <a:bodyPr wrap="square">
            <a:spAutoFit/>
          </a:bodyPr>
          <a:lstStyle/>
          <a:p>
            <a:pPr algn="l"/>
            <a:r>
              <a:rPr sz="850" b="1" i="0">
                <a:solidFill>
                  <a:srgbClr val="A78BFA"/>
                </a:solidFill>
              </a:rPr>
              <a:t>🌉  NEAR BAY</a:t>
            </a:r>
          </a:p>
        </p:txBody>
      </p:sp>
      <p:sp>
        <p:nvSpPr>
          <p:cNvPr id="26" name="TextBox 25"/>
          <p:cNvSpPr txBox="1"/>
          <p:nvPr/>
        </p:nvSpPr>
        <p:spPr>
          <a:xfrm>
            <a:off x="8961120" y="6766560"/>
            <a:ext cx="2926080" cy="201168"/>
          </a:xfrm>
          <a:prstGeom prst="rect">
            <a:avLst/>
          </a:prstGeom>
          <a:noFill/>
        </p:spPr>
        <p:txBody>
          <a:bodyPr wrap="square">
            <a:spAutoFit/>
          </a:bodyPr>
          <a:lstStyle/>
          <a:p>
            <a:pPr algn="l"/>
            <a:r>
              <a:rPr sz="800" b="1" i="0">
                <a:solidFill>
                  <a:srgbClr val="FFFFFF"/>
                </a:solidFill>
              </a:rPr>
              <a:t>Aluguel ~$1.870/mês · 49% da renda</a:t>
            </a:r>
          </a:p>
        </p:txBody>
      </p:sp>
      <p:sp>
        <p:nvSpPr>
          <p:cNvPr id="27" name="TextBox 26"/>
          <p:cNvSpPr txBox="1"/>
          <p:nvPr/>
        </p:nvSpPr>
        <p:spPr>
          <a:xfrm>
            <a:off x="6995160" y="6967728"/>
            <a:ext cx="4892040" cy="201168"/>
          </a:xfrm>
          <a:prstGeom prst="rect">
            <a:avLst/>
          </a:prstGeom>
          <a:noFill/>
        </p:spPr>
        <p:txBody>
          <a:bodyPr wrap="square">
            <a:spAutoFit/>
          </a:bodyPr>
          <a:lstStyle/>
          <a:p>
            <a:pPr algn="l"/>
            <a:r>
              <a:rPr sz="800" b="0" i="0">
                <a:solidFill>
                  <a:srgbClr val="94A3B8"/>
                </a:solidFill>
              </a:rPr>
              <a:t>Quase metade da renda mediana. Sem patrimônio sendo construído. Só com salário tech.</a:t>
            </a:r>
          </a:p>
        </p:txBody>
      </p:sp>
      <p:sp>
        <p:nvSpPr>
          <p:cNvPr id="28" name="Rectangle 27"/>
          <p:cNvSpPr/>
          <p:nvPr/>
        </p:nvSpPr>
        <p:spPr>
          <a:xfrm>
            <a:off x="274320" y="5029200"/>
            <a:ext cx="6446520" cy="16916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5029200"/>
            <a:ext cx="64008" cy="16916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102352"/>
            <a:ext cx="6035040" cy="292608"/>
          </a:xfrm>
          <a:prstGeom prst="rect">
            <a:avLst/>
          </a:prstGeom>
          <a:noFill/>
        </p:spPr>
        <p:txBody>
          <a:bodyPr wrap="square">
            <a:spAutoFit/>
          </a:bodyPr>
          <a:lstStyle/>
          <a:p>
            <a:pPr algn="l"/>
            <a:r>
              <a:rPr sz="1000" b="1" i="0">
                <a:solidFill>
                  <a:srgbClr val="F5A623"/>
                </a:solidFill>
              </a:rPr>
              <a:t>💡  A Regra dos 30%</a:t>
            </a:r>
          </a:p>
        </p:txBody>
      </p:sp>
      <p:sp>
        <p:nvSpPr>
          <p:cNvPr id="31" name="TextBox 30"/>
          <p:cNvSpPr txBox="1"/>
          <p:nvPr/>
        </p:nvSpPr>
        <p:spPr>
          <a:xfrm>
            <a:off x="457200" y="5468112"/>
            <a:ext cx="5943600" cy="1097280"/>
          </a:xfrm>
          <a:prstGeom prst="rect">
            <a:avLst/>
          </a:prstGeom>
          <a:noFill/>
        </p:spPr>
        <p:txBody>
          <a:bodyPr wrap="square">
            <a:spAutoFit/>
          </a:bodyPr>
          <a:lstStyle/>
          <a:p>
            <a:pPr algn="l"/>
            <a:r>
              <a:rPr sz="950" b="0" i="0">
                <a:solidFill>
                  <a:srgbClr val="94A3B8"/>
                </a:solidFill>
              </a:rPr>
              <a:t>Economistas recomendam gastar no máximo 30% da renda bruta com moradia. Com a renda mediana do dataset ($35.300/ano = $2.942/mês), o teto saudável é de $882/mês de aluguel.
Apenas o INLAND está dentro desse limite. Em todas as outras zonas, a população local está comprometendo 44–50% da renda — um sinal de pressão habitacional estrutural.</a:t>
            </a:r>
          </a:p>
        </p:txBody>
      </p:sp>
      <p:sp>
        <p:nvSpPr>
          <p:cNvPr id="32" name="Rectangle 31"/>
          <p:cNvSpPr/>
          <p:nvPr/>
        </p:nvSpPr>
        <p:spPr>
          <a:xfrm>
            <a:off x="274320"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6364224"/>
            <a:ext cx="2249424" cy="256032"/>
          </a:xfrm>
          <a:prstGeom prst="rect">
            <a:avLst/>
          </a:prstGeom>
          <a:noFill/>
        </p:spPr>
        <p:txBody>
          <a:bodyPr wrap="square">
            <a:spAutoFit/>
          </a:bodyPr>
          <a:lstStyle/>
          <a:p>
            <a:pPr algn="ctr"/>
            <a:r>
              <a:rPr sz="700" b="0" i="0">
                <a:solidFill>
                  <a:srgbClr val="94A3B8"/>
                </a:solidFill>
              </a:rPr>
              <a:t>Interior</a:t>
            </a:r>
          </a:p>
        </p:txBody>
      </p:sp>
      <p:sp>
        <p:nvSpPr>
          <p:cNvPr id="34" name="Rectangle 33"/>
          <p:cNvSpPr/>
          <p:nvPr/>
        </p:nvSpPr>
        <p:spPr>
          <a:xfrm>
            <a:off x="2596896"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42615" y="6364224"/>
            <a:ext cx="2249424" cy="256032"/>
          </a:xfrm>
          <a:prstGeom prst="rect">
            <a:avLst/>
          </a:prstGeom>
          <a:noFill/>
        </p:spPr>
        <p:txBody>
          <a:bodyPr wrap="square">
            <a:spAutoFit/>
          </a:bodyPr>
          <a:lstStyle/>
          <a:p>
            <a:pPr algn="ctr"/>
            <a:r>
              <a:rPr sz="700" b="0" i="0">
                <a:solidFill>
                  <a:srgbClr val="94A3B8"/>
                </a:solidFill>
              </a:rPr>
              <a:t>&lt;1h Oceano</a:t>
            </a:r>
          </a:p>
        </p:txBody>
      </p:sp>
      <p:sp>
        <p:nvSpPr>
          <p:cNvPr id="36" name="Rectangle 35"/>
          <p:cNvSpPr/>
          <p:nvPr/>
        </p:nvSpPr>
        <p:spPr>
          <a:xfrm>
            <a:off x="4919472"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65192" y="6364224"/>
            <a:ext cx="2249424" cy="256032"/>
          </a:xfrm>
          <a:prstGeom prst="rect">
            <a:avLst/>
          </a:prstGeom>
          <a:noFill/>
        </p:spPr>
        <p:txBody>
          <a:bodyPr wrap="square">
            <a:spAutoFit/>
          </a:bodyPr>
          <a:lstStyle/>
          <a:p>
            <a:pPr algn="ctr"/>
            <a:r>
              <a:rPr sz="700" b="0" i="0">
                <a:solidFill>
                  <a:srgbClr val="94A3B8"/>
                </a:solidFill>
              </a:rPr>
              <a:t>Próx. Oceano</a:t>
            </a:r>
          </a:p>
        </p:txBody>
      </p:sp>
      <p:sp>
        <p:nvSpPr>
          <p:cNvPr id="38" name="Rectangle 37"/>
          <p:cNvSpPr/>
          <p:nvPr/>
        </p:nvSpPr>
        <p:spPr>
          <a:xfrm>
            <a:off x="7242048"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87768" y="6364224"/>
            <a:ext cx="2249424" cy="256032"/>
          </a:xfrm>
          <a:prstGeom prst="rect">
            <a:avLst/>
          </a:prstGeom>
          <a:noFill/>
        </p:spPr>
        <p:txBody>
          <a:bodyPr wrap="square">
            <a:spAutoFit/>
          </a:bodyPr>
          <a:lstStyle/>
          <a:p>
            <a:pPr algn="ctr"/>
            <a:r>
              <a:rPr sz="700" b="0" i="0">
                <a:solidFill>
                  <a:srgbClr val="94A3B8"/>
                </a:solidFill>
              </a:rPr>
              <a:t>Próx. Baía</a:t>
            </a:r>
          </a:p>
        </p:txBody>
      </p:sp>
      <p:sp>
        <p:nvSpPr>
          <p:cNvPr id="40" name="Rectangle 39"/>
          <p:cNvSpPr/>
          <p:nvPr/>
        </p:nvSpPr>
        <p:spPr>
          <a:xfrm>
            <a:off x="9564624" y="6309360"/>
            <a:ext cx="2322576"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10344" y="6364224"/>
            <a:ext cx="2249424" cy="256032"/>
          </a:xfrm>
          <a:prstGeom prst="rect">
            <a:avLst/>
          </a:prstGeom>
          <a:noFill/>
        </p:spPr>
        <p:txBody>
          <a:bodyPr wrap="square">
            <a:spAutoFit/>
          </a:bodyPr>
          <a:lstStyle/>
          <a:p>
            <a:pPr algn="ctr"/>
            <a:r>
              <a:rPr sz="700" b="0" i="0">
                <a:solidFill>
                  <a:srgbClr val="94A3B8"/>
                </a:solidFill>
              </a:rPr>
              <a:t>Ilha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F97316"/>
                </a:solidFill>
              </a:rPr>
              <a:t>QUAL É O SEU PERFIL?</a:t>
            </a:r>
          </a:p>
        </p:txBody>
      </p:sp>
      <p:sp>
        <p:nvSpPr>
          <p:cNvPr id="4" name="TextBox 3"/>
          <p:cNvSpPr txBox="1"/>
          <p:nvPr/>
        </p:nvSpPr>
        <p:spPr>
          <a:xfrm>
            <a:off x="274320" y="502920"/>
            <a:ext cx="9144000" cy="457200"/>
          </a:xfrm>
          <a:prstGeom prst="rect">
            <a:avLst/>
          </a:prstGeom>
          <a:noFill/>
        </p:spPr>
        <p:txBody>
          <a:bodyPr wrap="square">
            <a:spAutoFit/>
          </a:bodyPr>
          <a:lstStyle/>
          <a:p>
            <a:pPr algn="l"/>
            <a:r>
              <a:rPr sz="2200" b="1" i="0">
                <a:solidFill>
                  <a:srgbClr val="FFFFFF"/>
                </a:solidFill>
              </a:rPr>
              <a:t>Cada perfil tem uma estratégia diferente.</a:t>
            </a:r>
          </a:p>
        </p:txBody>
      </p:sp>
      <p:sp>
        <p:nvSpPr>
          <p:cNvPr id="5" name="Rectangle 4"/>
          <p:cNvSpPr/>
          <p:nvPr/>
        </p:nvSpPr>
        <p:spPr>
          <a:xfrm>
            <a:off x="274320" y="1005840"/>
            <a:ext cx="11612880" cy="3200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188720"/>
            <a:ext cx="2834640" cy="53492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188720"/>
            <a:ext cx="283464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298448"/>
            <a:ext cx="2606040" cy="502920"/>
          </a:xfrm>
          <a:prstGeom prst="rect">
            <a:avLst/>
          </a:prstGeom>
          <a:noFill/>
        </p:spPr>
        <p:txBody>
          <a:bodyPr wrap="square">
            <a:spAutoFit/>
          </a:bodyPr>
          <a:lstStyle/>
          <a:p>
            <a:pPr algn="ctr"/>
            <a:r>
              <a:rPr sz="2800" b="0" i="0">
                <a:solidFill>
                  <a:srgbClr val="FFFFFF"/>
                </a:solidFill>
              </a:rPr>
              <a:t>👨‍👩‍👧</a:t>
            </a:r>
          </a:p>
        </p:txBody>
      </p:sp>
      <p:sp>
        <p:nvSpPr>
          <p:cNvPr id="9" name="TextBox 8"/>
          <p:cNvSpPr txBox="1"/>
          <p:nvPr/>
        </p:nvSpPr>
        <p:spPr>
          <a:xfrm>
            <a:off x="365760" y="1828800"/>
            <a:ext cx="2651760" cy="347472"/>
          </a:xfrm>
          <a:prstGeom prst="rect">
            <a:avLst/>
          </a:prstGeom>
          <a:noFill/>
        </p:spPr>
        <p:txBody>
          <a:bodyPr wrap="square">
            <a:spAutoFit/>
          </a:bodyPr>
          <a:lstStyle/>
          <a:p>
            <a:pPr algn="ctr"/>
            <a:r>
              <a:rPr sz="1000" b="1" i="0">
                <a:solidFill>
                  <a:srgbClr val="34D399"/>
                </a:solidFill>
              </a:rPr>
              <a:t>FAMÍLIA EM CRESCIMENTO</a:t>
            </a:r>
          </a:p>
        </p:txBody>
      </p:sp>
      <p:sp>
        <p:nvSpPr>
          <p:cNvPr id="10" name="TextBox 9"/>
          <p:cNvSpPr txBox="1"/>
          <p:nvPr/>
        </p:nvSpPr>
        <p:spPr>
          <a:xfrm>
            <a:off x="365760" y="2148840"/>
            <a:ext cx="2651760" cy="256032"/>
          </a:xfrm>
          <a:prstGeom prst="rect">
            <a:avLst/>
          </a:prstGeom>
          <a:noFill/>
        </p:spPr>
        <p:txBody>
          <a:bodyPr wrap="square">
            <a:spAutoFit/>
          </a:bodyPr>
          <a:lstStyle/>
          <a:p>
            <a:pPr algn="ctr"/>
            <a:r>
              <a:rPr sz="750" b="0" i="1">
                <a:solidFill>
                  <a:srgbClr val="94A3B8"/>
                </a:solidFill>
              </a:rPr>
              <a:t>$55–75k/ano · 3+ filhos · escolas</a:t>
            </a:r>
          </a:p>
        </p:txBody>
      </p:sp>
      <p:sp>
        <p:nvSpPr>
          <p:cNvPr id="11" name="Rectangle 10"/>
          <p:cNvSpPr/>
          <p:nvPr/>
        </p:nvSpPr>
        <p:spPr>
          <a:xfrm>
            <a:off x="411479" y="2450591"/>
            <a:ext cx="2560320" cy="2286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2578608"/>
            <a:ext cx="1051560" cy="274320"/>
          </a:xfrm>
          <a:prstGeom prst="rect">
            <a:avLst/>
          </a:prstGeom>
          <a:noFill/>
        </p:spPr>
        <p:txBody>
          <a:bodyPr wrap="square">
            <a:spAutoFit/>
          </a:bodyPr>
          <a:lstStyle/>
          <a:p>
            <a:pPr algn="l"/>
            <a:r>
              <a:rPr sz="800" b="1" i="0">
                <a:solidFill>
                  <a:srgbClr val="94A3B8"/>
                </a:solidFill>
              </a:rPr>
              <a:t>Zona ideal:</a:t>
            </a:r>
          </a:p>
        </p:txBody>
      </p:sp>
      <p:sp>
        <p:nvSpPr>
          <p:cNvPr id="13" name="TextBox 12"/>
          <p:cNvSpPr txBox="1"/>
          <p:nvPr/>
        </p:nvSpPr>
        <p:spPr>
          <a:xfrm>
            <a:off x="1481328" y="2578608"/>
            <a:ext cx="1508760" cy="274320"/>
          </a:xfrm>
          <a:prstGeom prst="rect">
            <a:avLst/>
          </a:prstGeom>
          <a:noFill/>
        </p:spPr>
        <p:txBody>
          <a:bodyPr wrap="square">
            <a:spAutoFit/>
          </a:bodyPr>
          <a:lstStyle/>
          <a:p>
            <a:pPr algn="l"/>
            <a:r>
              <a:rPr sz="800" b="0" i="0">
                <a:solidFill>
                  <a:srgbClr val="34D399"/>
                </a:solidFill>
              </a:rPr>
              <a:t>&lt;1H OCEAN</a:t>
            </a:r>
          </a:p>
        </p:txBody>
      </p:sp>
      <p:sp>
        <p:nvSpPr>
          <p:cNvPr id="14" name="TextBox 13"/>
          <p:cNvSpPr txBox="1"/>
          <p:nvPr/>
        </p:nvSpPr>
        <p:spPr>
          <a:xfrm>
            <a:off x="411479" y="2926080"/>
            <a:ext cx="1051560" cy="274320"/>
          </a:xfrm>
          <a:prstGeom prst="rect">
            <a:avLst/>
          </a:prstGeom>
          <a:noFill/>
        </p:spPr>
        <p:txBody>
          <a:bodyPr wrap="square">
            <a:spAutoFit/>
          </a:bodyPr>
          <a:lstStyle/>
          <a:p>
            <a:pPr algn="l"/>
            <a:r>
              <a:rPr sz="800" b="1" i="0">
                <a:solidFill>
                  <a:srgbClr val="94A3B8"/>
                </a:solidFill>
              </a:rPr>
              <a:t>Regiões:</a:t>
            </a:r>
          </a:p>
        </p:txBody>
      </p:sp>
      <p:sp>
        <p:nvSpPr>
          <p:cNvPr id="15" name="TextBox 14"/>
          <p:cNvSpPr txBox="1"/>
          <p:nvPr/>
        </p:nvSpPr>
        <p:spPr>
          <a:xfrm>
            <a:off x="1481328" y="2926080"/>
            <a:ext cx="1508760" cy="274320"/>
          </a:xfrm>
          <a:prstGeom prst="rect">
            <a:avLst/>
          </a:prstGeom>
          <a:noFill/>
        </p:spPr>
        <p:txBody>
          <a:bodyPr wrap="square">
            <a:spAutoFit/>
          </a:bodyPr>
          <a:lstStyle/>
          <a:p>
            <a:pPr algn="l"/>
            <a:r>
              <a:rPr sz="800" b="0" i="0">
                <a:solidFill>
                  <a:srgbClr val="FFFFFF"/>
                </a:solidFill>
              </a:rPr>
              <a:t>Riverside, Concord, Sacramento</a:t>
            </a:r>
          </a:p>
        </p:txBody>
      </p:sp>
      <p:sp>
        <p:nvSpPr>
          <p:cNvPr id="16" name="TextBox 15"/>
          <p:cNvSpPr txBox="1"/>
          <p:nvPr/>
        </p:nvSpPr>
        <p:spPr>
          <a:xfrm>
            <a:off x="411479" y="3273552"/>
            <a:ext cx="1051560" cy="274320"/>
          </a:xfrm>
          <a:prstGeom prst="rect">
            <a:avLst/>
          </a:prstGeom>
          <a:noFill/>
        </p:spPr>
        <p:txBody>
          <a:bodyPr wrap="square">
            <a:spAutoFit/>
          </a:bodyPr>
          <a:lstStyle/>
          <a:p>
            <a:pPr algn="l"/>
            <a:r>
              <a:rPr sz="800" b="1" i="0">
                <a:solidFill>
                  <a:srgbClr val="94A3B8"/>
                </a:solidFill>
              </a:rPr>
              <a:t>Compra:</a:t>
            </a:r>
          </a:p>
        </p:txBody>
      </p:sp>
      <p:sp>
        <p:nvSpPr>
          <p:cNvPr id="17" name="TextBox 16"/>
          <p:cNvSpPr txBox="1"/>
          <p:nvPr/>
        </p:nvSpPr>
        <p:spPr>
          <a:xfrm>
            <a:off x="1481328" y="3273552"/>
            <a:ext cx="1508760" cy="274320"/>
          </a:xfrm>
          <a:prstGeom prst="rect">
            <a:avLst/>
          </a:prstGeom>
          <a:noFill/>
        </p:spPr>
        <p:txBody>
          <a:bodyPr wrap="square">
            <a:spAutoFit/>
          </a:bodyPr>
          <a:lstStyle/>
          <a:p>
            <a:pPr algn="l"/>
            <a:r>
              <a:rPr sz="800" b="0" i="0">
                <a:solidFill>
                  <a:srgbClr val="F5A623"/>
                </a:solidFill>
              </a:rPr>
              <a:t>~$215k · prestação ~$1.140/mês</a:t>
            </a:r>
          </a:p>
        </p:txBody>
      </p:sp>
      <p:sp>
        <p:nvSpPr>
          <p:cNvPr id="18" name="TextBox 17"/>
          <p:cNvSpPr txBox="1"/>
          <p:nvPr/>
        </p:nvSpPr>
        <p:spPr>
          <a:xfrm>
            <a:off x="411479" y="3621024"/>
            <a:ext cx="1051560" cy="274320"/>
          </a:xfrm>
          <a:prstGeom prst="rect">
            <a:avLst/>
          </a:prstGeom>
          <a:noFill/>
        </p:spPr>
        <p:txBody>
          <a:bodyPr wrap="square">
            <a:spAutoFit/>
          </a:bodyPr>
          <a:lstStyle/>
          <a:p>
            <a:pPr algn="l"/>
            <a:r>
              <a:rPr sz="800" b="1" i="0">
                <a:solidFill>
                  <a:srgbClr val="94A3B8"/>
                </a:solidFill>
              </a:rPr>
              <a:t>Aluguel:</a:t>
            </a:r>
          </a:p>
        </p:txBody>
      </p:sp>
      <p:sp>
        <p:nvSpPr>
          <p:cNvPr id="19" name="TextBox 18"/>
          <p:cNvSpPr txBox="1"/>
          <p:nvPr/>
        </p:nvSpPr>
        <p:spPr>
          <a:xfrm>
            <a:off x="1481328" y="3621024"/>
            <a:ext cx="1508760" cy="274320"/>
          </a:xfrm>
          <a:prstGeom prst="rect">
            <a:avLst/>
          </a:prstGeom>
          <a:noFill/>
        </p:spPr>
        <p:txBody>
          <a:bodyPr wrap="square">
            <a:spAutoFit/>
          </a:bodyPr>
          <a:lstStyle/>
          <a:p>
            <a:pPr algn="l"/>
            <a:r>
              <a:rPr sz="800" b="0" i="0">
                <a:solidFill>
                  <a:srgbClr val="0EA5E9"/>
                </a:solidFill>
              </a:rPr>
              <a:t>~$1.720/mês · 37% da renda</a:t>
            </a:r>
          </a:p>
        </p:txBody>
      </p:sp>
      <p:sp>
        <p:nvSpPr>
          <p:cNvPr id="20" name="TextBox 19"/>
          <p:cNvSpPr txBox="1"/>
          <p:nvPr/>
        </p:nvSpPr>
        <p:spPr>
          <a:xfrm>
            <a:off x="411479" y="3968496"/>
            <a:ext cx="1051560" cy="274320"/>
          </a:xfrm>
          <a:prstGeom prst="rect">
            <a:avLst/>
          </a:prstGeom>
          <a:noFill/>
        </p:spPr>
        <p:txBody>
          <a:bodyPr wrap="square">
            <a:spAutoFit/>
          </a:bodyPr>
          <a:lstStyle/>
          <a:p>
            <a:pPr algn="l"/>
            <a:r>
              <a:rPr sz="800" b="1" i="0">
                <a:solidFill>
                  <a:srgbClr val="94A3B8"/>
                </a:solidFill>
              </a:rPr>
              <a:t>Fator chave:</a:t>
            </a:r>
          </a:p>
        </p:txBody>
      </p:sp>
      <p:sp>
        <p:nvSpPr>
          <p:cNvPr id="21" name="TextBox 20"/>
          <p:cNvSpPr txBox="1"/>
          <p:nvPr/>
        </p:nvSpPr>
        <p:spPr>
          <a:xfrm>
            <a:off x="1481328" y="3968496"/>
            <a:ext cx="1508760" cy="274320"/>
          </a:xfrm>
          <a:prstGeom prst="rect">
            <a:avLst/>
          </a:prstGeom>
          <a:noFill/>
        </p:spPr>
        <p:txBody>
          <a:bodyPr wrap="square">
            <a:spAutoFit/>
          </a:bodyPr>
          <a:lstStyle/>
          <a:p>
            <a:pPr algn="l"/>
            <a:r>
              <a:rPr sz="800" b="0" i="0">
                <a:solidFill>
                  <a:srgbClr val="94A3B8"/>
                </a:solidFill>
              </a:rPr>
              <a:t>Qualidade de escola pública</a:t>
            </a:r>
          </a:p>
        </p:txBody>
      </p:sp>
      <p:sp>
        <p:nvSpPr>
          <p:cNvPr id="22" name="Rectangle 21"/>
          <p:cNvSpPr/>
          <p:nvPr/>
        </p:nvSpPr>
        <p:spPr>
          <a:xfrm>
            <a:off x="3246120" y="1188720"/>
            <a:ext cx="2834640" cy="53492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46120" y="1188720"/>
            <a:ext cx="2834640"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55848" y="1298448"/>
            <a:ext cx="2606040" cy="502920"/>
          </a:xfrm>
          <a:prstGeom prst="rect">
            <a:avLst/>
          </a:prstGeom>
          <a:noFill/>
        </p:spPr>
        <p:txBody>
          <a:bodyPr wrap="square">
            <a:spAutoFit/>
          </a:bodyPr>
          <a:lstStyle/>
          <a:p>
            <a:pPr algn="ctr"/>
            <a:r>
              <a:rPr sz="2800" b="0" i="0">
                <a:solidFill>
                  <a:srgbClr val="FFFFFF"/>
                </a:solidFill>
              </a:rPr>
              <a:t>💻</a:t>
            </a:r>
          </a:p>
        </p:txBody>
      </p:sp>
      <p:sp>
        <p:nvSpPr>
          <p:cNvPr id="25" name="TextBox 24"/>
          <p:cNvSpPr txBox="1"/>
          <p:nvPr/>
        </p:nvSpPr>
        <p:spPr>
          <a:xfrm>
            <a:off x="3337560" y="1828800"/>
            <a:ext cx="2651760" cy="347472"/>
          </a:xfrm>
          <a:prstGeom prst="rect">
            <a:avLst/>
          </a:prstGeom>
          <a:noFill/>
        </p:spPr>
        <p:txBody>
          <a:bodyPr wrap="square">
            <a:spAutoFit/>
          </a:bodyPr>
          <a:lstStyle/>
          <a:p>
            <a:pPr algn="ctr"/>
            <a:r>
              <a:rPr sz="1000" b="1" i="0">
                <a:solidFill>
                  <a:srgbClr val="A78BFA"/>
                </a:solidFill>
              </a:rPr>
              <a:t>JOVEM PROFISSIONAL TECH</a:t>
            </a:r>
          </a:p>
        </p:txBody>
      </p:sp>
      <p:sp>
        <p:nvSpPr>
          <p:cNvPr id="26" name="TextBox 25"/>
          <p:cNvSpPr txBox="1"/>
          <p:nvPr/>
        </p:nvSpPr>
        <p:spPr>
          <a:xfrm>
            <a:off x="3337560" y="2148840"/>
            <a:ext cx="2651760" cy="256032"/>
          </a:xfrm>
          <a:prstGeom prst="rect">
            <a:avLst/>
          </a:prstGeom>
          <a:noFill/>
        </p:spPr>
        <p:txBody>
          <a:bodyPr wrap="square">
            <a:spAutoFit/>
          </a:bodyPr>
          <a:lstStyle/>
          <a:p>
            <a:pPr algn="ctr"/>
            <a:r>
              <a:rPr sz="750" b="0" i="1">
                <a:solidFill>
                  <a:srgbClr val="94A3B8"/>
                </a:solidFill>
              </a:rPr>
              <a:t>$90–130k/ano · solteiro/casal · mobilidade</a:t>
            </a:r>
          </a:p>
        </p:txBody>
      </p:sp>
      <p:sp>
        <p:nvSpPr>
          <p:cNvPr id="27" name="Rectangle 26"/>
          <p:cNvSpPr/>
          <p:nvPr/>
        </p:nvSpPr>
        <p:spPr>
          <a:xfrm>
            <a:off x="3383279" y="2450591"/>
            <a:ext cx="2560320" cy="2286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79" y="2578608"/>
            <a:ext cx="1051560" cy="274320"/>
          </a:xfrm>
          <a:prstGeom prst="rect">
            <a:avLst/>
          </a:prstGeom>
          <a:noFill/>
        </p:spPr>
        <p:txBody>
          <a:bodyPr wrap="square">
            <a:spAutoFit/>
          </a:bodyPr>
          <a:lstStyle/>
          <a:p>
            <a:pPr algn="l"/>
            <a:r>
              <a:rPr sz="800" b="1" i="0">
                <a:solidFill>
                  <a:srgbClr val="94A3B8"/>
                </a:solidFill>
              </a:rPr>
              <a:t>Zona ideal:</a:t>
            </a:r>
          </a:p>
        </p:txBody>
      </p:sp>
      <p:sp>
        <p:nvSpPr>
          <p:cNvPr id="29" name="TextBox 28"/>
          <p:cNvSpPr txBox="1"/>
          <p:nvPr/>
        </p:nvSpPr>
        <p:spPr>
          <a:xfrm>
            <a:off x="4453128" y="2578608"/>
            <a:ext cx="1508760" cy="274320"/>
          </a:xfrm>
          <a:prstGeom prst="rect">
            <a:avLst/>
          </a:prstGeom>
          <a:noFill/>
        </p:spPr>
        <p:txBody>
          <a:bodyPr wrap="square">
            <a:spAutoFit/>
          </a:bodyPr>
          <a:lstStyle/>
          <a:p>
            <a:pPr algn="l"/>
            <a:r>
              <a:rPr sz="800" b="0" i="0">
                <a:solidFill>
                  <a:srgbClr val="34D399"/>
                </a:solidFill>
              </a:rPr>
              <a:t>NEAR BAY ou &lt;1H OCEAN</a:t>
            </a:r>
          </a:p>
        </p:txBody>
      </p:sp>
      <p:sp>
        <p:nvSpPr>
          <p:cNvPr id="30" name="TextBox 29"/>
          <p:cNvSpPr txBox="1"/>
          <p:nvPr/>
        </p:nvSpPr>
        <p:spPr>
          <a:xfrm>
            <a:off x="3383279" y="2926080"/>
            <a:ext cx="1051560" cy="274320"/>
          </a:xfrm>
          <a:prstGeom prst="rect">
            <a:avLst/>
          </a:prstGeom>
          <a:noFill/>
        </p:spPr>
        <p:txBody>
          <a:bodyPr wrap="square">
            <a:spAutoFit/>
          </a:bodyPr>
          <a:lstStyle/>
          <a:p>
            <a:pPr algn="l"/>
            <a:r>
              <a:rPr sz="800" b="1" i="0">
                <a:solidFill>
                  <a:srgbClr val="94A3B8"/>
                </a:solidFill>
              </a:rPr>
              <a:t>Regiões:</a:t>
            </a:r>
          </a:p>
        </p:txBody>
      </p:sp>
      <p:sp>
        <p:nvSpPr>
          <p:cNvPr id="31" name="TextBox 30"/>
          <p:cNvSpPr txBox="1"/>
          <p:nvPr/>
        </p:nvSpPr>
        <p:spPr>
          <a:xfrm>
            <a:off x="4453128" y="2926080"/>
            <a:ext cx="1508760" cy="274320"/>
          </a:xfrm>
          <a:prstGeom prst="rect">
            <a:avLst/>
          </a:prstGeom>
          <a:noFill/>
        </p:spPr>
        <p:txBody>
          <a:bodyPr wrap="square">
            <a:spAutoFit/>
          </a:bodyPr>
          <a:lstStyle/>
          <a:p>
            <a:pPr algn="l"/>
            <a:r>
              <a:rPr sz="800" b="0" i="0">
                <a:solidFill>
                  <a:srgbClr val="FFFFFF"/>
                </a:solidFill>
              </a:rPr>
              <a:t>East Bay, San Jose, Fremont</a:t>
            </a:r>
          </a:p>
        </p:txBody>
      </p:sp>
      <p:sp>
        <p:nvSpPr>
          <p:cNvPr id="32" name="TextBox 31"/>
          <p:cNvSpPr txBox="1"/>
          <p:nvPr/>
        </p:nvSpPr>
        <p:spPr>
          <a:xfrm>
            <a:off x="3383279" y="3273552"/>
            <a:ext cx="1051560" cy="274320"/>
          </a:xfrm>
          <a:prstGeom prst="rect">
            <a:avLst/>
          </a:prstGeom>
          <a:noFill/>
        </p:spPr>
        <p:txBody>
          <a:bodyPr wrap="square">
            <a:spAutoFit/>
          </a:bodyPr>
          <a:lstStyle/>
          <a:p>
            <a:pPr algn="l"/>
            <a:r>
              <a:rPr sz="800" b="1" i="0">
                <a:solidFill>
                  <a:srgbClr val="94A3B8"/>
                </a:solidFill>
              </a:rPr>
              <a:t>Compra:</a:t>
            </a:r>
          </a:p>
        </p:txBody>
      </p:sp>
      <p:sp>
        <p:nvSpPr>
          <p:cNvPr id="33" name="TextBox 32"/>
          <p:cNvSpPr txBox="1"/>
          <p:nvPr/>
        </p:nvSpPr>
        <p:spPr>
          <a:xfrm>
            <a:off x="4453128" y="3273552"/>
            <a:ext cx="1508760" cy="274320"/>
          </a:xfrm>
          <a:prstGeom prst="rect">
            <a:avLst/>
          </a:prstGeom>
          <a:noFill/>
        </p:spPr>
        <p:txBody>
          <a:bodyPr wrap="square">
            <a:spAutoFit/>
          </a:bodyPr>
          <a:lstStyle/>
          <a:p>
            <a:pPr algn="l"/>
            <a:r>
              <a:rPr sz="800" b="0" i="0">
                <a:solidFill>
                  <a:srgbClr val="F5A623"/>
                </a:solidFill>
              </a:rPr>
              <a:t>~$235k · viável com essa renda</a:t>
            </a:r>
          </a:p>
        </p:txBody>
      </p:sp>
      <p:sp>
        <p:nvSpPr>
          <p:cNvPr id="34" name="TextBox 33"/>
          <p:cNvSpPr txBox="1"/>
          <p:nvPr/>
        </p:nvSpPr>
        <p:spPr>
          <a:xfrm>
            <a:off x="3383279" y="3621024"/>
            <a:ext cx="1051560" cy="274320"/>
          </a:xfrm>
          <a:prstGeom prst="rect">
            <a:avLst/>
          </a:prstGeom>
          <a:noFill/>
        </p:spPr>
        <p:txBody>
          <a:bodyPr wrap="square">
            <a:spAutoFit/>
          </a:bodyPr>
          <a:lstStyle/>
          <a:p>
            <a:pPr algn="l"/>
            <a:r>
              <a:rPr sz="800" b="1" i="0">
                <a:solidFill>
                  <a:srgbClr val="94A3B8"/>
                </a:solidFill>
              </a:rPr>
              <a:t>Aluguel:</a:t>
            </a:r>
          </a:p>
        </p:txBody>
      </p:sp>
      <p:sp>
        <p:nvSpPr>
          <p:cNvPr id="35" name="TextBox 34"/>
          <p:cNvSpPr txBox="1"/>
          <p:nvPr/>
        </p:nvSpPr>
        <p:spPr>
          <a:xfrm>
            <a:off x="4453128" y="3621024"/>
            <a:ext cx="1508760" cy="274320"/>
          </a:xfrm>
          <a:prstGeom prst="rect">
            <a:avLst/>
          </a:prstGeom>
          <a:noFill/>
        </p:spPr>
        <p:txBody>
          <a:bodyPr wrap="square">
            <a:spAutoFit/>
          </a:bodyPr>
          <a:lstStyle/>
          <a:p>
            <a:pPr algn="l"/>
            <a:r>
              <a:rPr sz="800" b="0" i="0">
                <a:solidFill>
                  <a:srgbClr val="0EA5E9"/>
                </a:solidFill>
              </a:rPr>
              <a:t>~$1.870/mês · 26% da renda</a:t>
            </a:r>
          </a:p>
        </p:txBody>
      </p:sp>
      <p:sp>
        <p:nvSpPr>
          <p:cNvPr id="36" name="TextBox 35"/>
          <p:cNvSpPr txBox="1"/>
          <p:nvPr/>
        </p:nvSpPr>
        <p:spPr>
          <a:xfrm>
            <a:off x="3383279" y="3968496"/>
            <a:ext cx="1051560" cy="274320"/>
          </a:xfrm>
          <a:prstGeom prst="rect">
            <a:avLst/>
          </a:prstGeom>
          <a:noFill/>
        </p:spPr>
        <p:txBody>
          <a:bodyPr wrap="square">
            <a:spAutoFit/>
          </a:bodyPr>
          <a:lstStyle/>
          <a:p>
            <a:pPr algn="l"/>
            <a:r>
              <a:rPr sz="800" b="1" i="0">
                <a:solidFill>
                  <a:srgbClr val="94A3B8"/>
                </a:solidFill>
              </a:rPr>
              <a:t>Fator chave:</a:t>
            </a:r>
          </a:p>
        </p:txBody>
      </p:sp>
      <p:sp>
        <p:nvSpPr>
          <p:cNvPr id="37" name="TextBox 36"/>
          <p:cNvSpPr txBox="1"/>
          <p:nvPr/>
        </p:nvSpPr>
        <p:spPr>
          <a:xfrm>
            <a:off x="4453128" y="3968496"/>
            <a:ext cx="1508760" cy="274320"/>
          </a:xfrm>
          <a:prstGeom prst="rect">
            <a:avLst/>
          </a:prstGeom>
          <a:noFill/>
        </p:spPr>
        <p:txBody>
          <a:bodyPr wrap="square">
            <a:spAutoFit/>
          </a:bodyPr>
          <a:lstStyle/>
          <a:p>
            <a:pPr algn="l"/>
            <a:r>
              <a:rPr sz="800" b="0" i="0">
                <a:solidFill>
                  <a:srgbClr val="94A3B8"/>
                </a:solidFill>
              </a:rPr>
              <a:t>Acesso a BART/metrô</a:t>
            </a:r>
          </a:p>
        </p:txBody>
      </p:sp>
      <p:sp>
        <p:nvSpPr>
          <p:cNvPr id="38" name="Rectangle 37"/>
          <p:cNvSpPr/>
          <p:nvPr/>
        </p:nvSpPr>
        <p:spPr>
          <a:xfrm>
            <a:off x="6217920" y="1188720"/>
            <a:ext cx="2834640" cy="53492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1188720"/>
            <a:ext cx="283464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27648" y="1298448"/>
            <a:ext cx="2606040" cy="502920"/>
          </a:xfrm>
          <a:prstGeom prst="rect">
            <a:avLst/>
          </a:prstGeom>
          <a:noFill/>
        </p:spPr>
        <p:txBody>
          <a:bodyPr wrap="square">
            <a:spAutoFit/>
          </a:bodyPr>
          <a:lstStyle/>
          <a:p>
            <a:pPr algn="ctr"/>
            <a:r>
              <a:rPr sz="2800" b="0" i="0">
                <a:solidFill>
                  <a:srgbClr val="FFFFFF"/>
                </a:solidFill>
              </a:rPr>
              <a:t>🌿</a:t>
            </a:r>
          </a:p>
        </p:txBody>
      </p:sp>
      <p:sp>
        <p:nvSpPr>
          <p:cNvPr id="41" name="TextBox 40"/>
          <p:cNvSpPr txBox="1"/>
          <p:nvPr/>
        </p:nvSpPr>
        <p:spPr>
          <a:xfrm>
            <a:off x="6309359" y="1828800"/>
            <a:ext cx="2651760" cy="347472"/>
          </a:xfrm>
          <a:prstGeom prst="rect">
            <a:avLst/>
          </a:prstGeom>
          <a:noFill/>
        </p:spPr>
        <p:txBody>
          <a:bodyPr wrap="square">
            <a:spAutoFit/>
          </a:bodyPr>
          <a:lstStyle/>
          <a:p>
            <a:pPr algn="ctr"/>
            <a:r>
              <a:rPr sz="1000" b="1" i="0">
                <a:solidFill>
                  <a:srgbClr val="F5A623"/>
                </a:solidFill>
              </a:rPr>
              <a:t>APOSENTADO / RENDA FIXA</a:t>
            </a:r>
          </a:p>
        </p:txBody>
      </p:sp>
      <p:sp>
        <p:nvSpPr>
          <p:cNvPr id="42" name="TextBox 41"/>
          <p:cNvSpPr txBox="1"/>
          <p:nvPr/>
        </p:nvSpPr>
        <p:spPr>
          <a:xfrm>
            <a:off x="6309359" y="2148840"/>
            <a:ext cx="2651760" cy="256032"/>
          </a:xfrm>
          <a:prstGeom prst="rect">
            <a:avLst/>
          </a:prstGeom>
          <a:noFill/>
        </p:spPr>
        <p:txBody>
          <a:bodyPr wrap="square">
            <a:spAutoFit/>
          </a:bodyPr>
          <a:lstStyle/>
          <a:p>
            <a:pPr algn="ctr"/>
            <a:r>
              <a:rPr sz="750" b="0" i="1">
                <a:solidFill>
                  <a:srgbClr val="94A3B8"/>
                </a:solidFill>
              </a:rPr>
              <a:t>$28–40k/ano · conforto · custo baixo</a:t>
            </a:r>
          </a:p>
        </p:txBody>
      </p:sp>
      <p:sp>
        <p:nvSpPr>
          <p:cNvPr id="43" name="Rectangle 42"/>
          <p:cNvSpPr/>
          <p:nvPr/>
        </p:nvSpPr>
        <p:spPr>
          <a:xfrm>
            <a:off x="6355080" y="2450591"/>
            <a:ext cx="2560320" cy="2286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2578608"/>
            <a:ext cx="1051560" cy="274320"/>
          </a:xfrm>
          <a:prstGeom prst="rect">
            <a:avLst/>
          </a:prstGeom>
          <a:noFill/>
        </p:spPr>
        <p:txBody>
          <a:bodyPr wrap="square">
            <a:spAutoFit/>
          </a:bodyPr>
          <a:lstStyle/>
          <a:p>
            <a:pPr algn="l"/>
            <a:r>
              <a:rPr sz="800" b="1" i="0">
                <a:solidFill>
                  <a:srgbClr val="94A3B8"/>
                </a:solidFill>
              </a:rPr>
              <a:t>Zona ideal:</a:t>
            </a:r>
          </a:p>
        </p:txBody>
      </p:sp>
      <p:sp>
        <p:nvSpPr>
          <p:cNvPr id="45" name="TextBox 44"/>
          <p:cNvSpPr txBox="1"/>
          <p:nvPr/>
        </p:nvSpPr>
        <p:spPr>
          <a:xfrm>
            <a:off x="7424927" y="2578608"/>
            <a:ext cx="1508760" cy="274320"/>
          </a:xfrm>
          <a:prstGeom prst="rect">
            <a:avLst/>
          </a:prstGeom>
          <a:noFill/>
        </p:spPr>
        <p:txBody>
          <a:bodyPr wrap="square">
            <a:spAutoFit/>
          </a:bodyPr>
          <a:lstStyle/>
          <a:p>
            <a:pPr algn="l"/>
            <a:r>
              <a:rPr sz="800" b="0" i="0">
                <a:solidFill>
                  <a:srgbClr val="34D399"/>
                </a:solidFill>
              </a:rPr>
              <a:t>INLAND</a:t>
            </a:r>
          </a:p>
        </p:txBody>
      </p:sp>
      <p:sp>
        <p:nvSpPr>
          <p:cNvPr id="46" name="TextBox 45"/>
          <p:cNvSpPr txBox="1"/>
          <p:nvPr/>
        </p:nvSpPr>
        <p:spPr>
          <a:xfrm>
            <a:off x="6355080" y="2926080"/>
            <a:ext cx="1051560" cy="274320"/>
          </a:xfrm>
          <a:prstGeom prst="rect">
            <a:avLst/>
          </a:prstGeom>
          <a:noFill/>
        </p:spPr>
        <p:txBody>
          <a:bodyPr wrap="square">
            <a:spAutoFit/>
          </a:bodyPr>
          <a:lstStyle/>
          <a:p>
            <a:pPr algn="l"/>
            <a:r>
              <a:rPr sz="800" b="1" i="0">
                <a:solidFill>
                  <a:srgbClr val="94A3B8"/>
                </a:solidFill>
              </a:rPr>
              <a:t>Regiões:</a:t>
            </a:r>
          </a:p>
        </p:txBody>
      </p:sp>
      <p:sp>
        <p:nvSpPr>
          <p:cNvPr id="47" name="TextBox 46"/>
          <p:cNvSpPr txBox="1"/>
          <p:nvPr/>
        </p:nvSpPr>
        <p:spPr>
          <a:xfrm>
            <a:off x="7424927" y="2926080"/>
            <a:ext cx="1508760" cy="274320"/>
          </a:xfrm>
          <a:prstGeom prst="rect">
            <a:avLst/>
          </a:prstGeom>
          <a:noFill/>
        </p:spPr>
        <p:txBody>
          <a:bodyPr wrap="square">
            <a:spAutoFit/>
          </a:bodyPr>
          <a:lstStyle/>
          <a:p>
            <a:pPr algn="l"/>
            <a:r>
              <a:rPr sz="800" b="0" i="0">
                <a:solidFill>
                  <a:srgbClr val="FFFFFF"/>
                </a:solidFill>
              </a:rPr>
              <a:t>Bakersfield, Fresno, Merced</a:t>
            </a:r>
          </a:p>
        </p:txBody>
      </p:sp>
      <p:sp>
        <p:nvSpPr>
          <p:cNvPr id="48" name="TextBox 47"/>
          <p:cNvSpPr txBox="1"/>
          <p:nvPr/>
        </p:nvSpPr>
        <p:spPr>
          <a:xfrm>
            <a:off x="6355080" y="3273552"/>
            <a:ext cx="1051560" cy="274320"/>
          </a:xfrm>
          <a:prstGeom prst="rect">
            <a:avLst/>
          </a:prstGeom>
          <a:noFill/>
        </p:spPr>
        <p:txBody>
          <a:bodyPr wrap="square">
            <a:spAutoFit/>
          </a:bodyPr>
          <a:lstStyle/>
          <a:p>
            <a:pPr algn="l"/>
            <a:r>
              <a:rPr sz="800" b="1" i="0">
                <a:solidFill>
                  <a:srgbClr val="94A3B8"/>
                </a:solidFill>
              </a:rPr>
              <a:t>Compra:</a:t>
            </a:r>
          </a:p>
        </p:txBody>
      </p:sp>
      <p:sp>
        <p:nvSpPr>
          <p:cNvPr id="49" name="TextBox 48"/>
          <p:cNvSpPr txBox="1"/>
          <p:nvPr/>
        </p:nvSpPr>
        <p:spPr>
          <a:xfrm>
            <a:off x="7424927" y="3273552"/>
            <a:ext cx="1508760" cy="274320"/>
          </a:xfrm>
          <a:prstGeom prst="rect">
            <a:avLst/>
          </a:prstGeom>
          <a:noFill/>
        </p:spPr>
        <p:txBody>
          <a:bodyPr wrap="square">
            <a:spAutoFit/>
          </a:bodyPr>
          <a:lstStyle/>
          <a:p>
            <a:pPr algn="l"/>
            <a:r>
              <a:rPr sz="800" b="0" i="0">
                <a:solidFill>
                  <a:srgbClr val="F5A623"/>
                </a:solidFill>
              </a:rPr>
              <a:t>~$108k · prestação ~$575/mês</a:t>
            </a:r>
          </a:p>
        </p:txBody>
      </p:sp>
      <p:sp>
        <p:nvSpPr>
          <p:cNvPr id="50" name="TextBox 49"/>
          <p:cNvSpPr txBox="1"/>
          <p:nvPr/>
        </p:nvSpPr>
        <p:spPr>
          <a:xfrm>
            <a:off x="6355080" y="3621024"/>
            <a:ext cx="1051560" cy="274320"/>
          </a:xfrm>
          <a:prstGeom prst="rect">
            <a:avLst/>
          </a:prstGeom>
          <a:noFill/>
        </p:spPr>
        <p:txBody>
          <a:bodyPr wrap="square">
            <a:spAutoFit/>
          </a:bodyPr>
          <a:lstStyle/>
          <a:p>
            <a:pPr algn="l"/>
            <a:r>
              <a:rPr sz="800" b="1" i="0">
                <a:solidFill>
                  <a:srgbClr val="94A3B8"/>
                </a:solidFill>
              </a:rPr>
              <a:t>Aluguel:</a:t>
            </a:r>
          </a:p>
        </p:txBody>
      </p:sp>
      <p:sp>
        <p:nvSpPr>
          <p:cNvPr id="51" name="TextBox 50"/>
          <p:cNvSpPr txBox="1"/>
          <p:nvPr/>
        </p:nvSpPr>
        <p:spPr>
          <a:xfrm>
            <a:off x="7424927" y="3621024"/>
            <a:ext cx="1508760" cy="274320"/>
          </a:xfrm>
          <a:prstGeom prst="rect">
            <a:avLst/>
          </a:prstGeom>
          <a:noFill/>
        </p:spPr>
        <p:txBody>
          <a:bodyPr wrap="square">
            <a:spAutoFit/>
          </a:bodyPr>
          <a:lstStyle/>
          <a:p>
            <a:pPr algn="l"/>
            <a:r>
              <a:rPr sz="800" b="0" i="0">
                <a:solidFill>
                  <a:srgbClr val="0EA5E9"/>
                </a:solidFill>
              </a:rPr>
              <a:t>~$868/mês · 30% da renda</a:t>
            </a:r>
          </a:p>
        </p:txBody>
      </p:sp>
      <p:sp>
        <p:nvSpPr>
          <p:cNvPr id="52" name="TextBox 51"/>
          <p:cNvSpPr txBox="1"/>
          <p:nvPr/>
        </p:nvSpPr>
        <p:spPr>
          <a:xfrm>
            <a:off x="6355080" y="3968496"/>
            <a:ext cx="1051560" cy="274320"/>
          </a:xfrm>
          <a:prstGeom prst="rect">
            <a:avLst/>
          </a:prstGeom>
          <a:noFill/>
        </p:spPr>
        <p:txBody>
          <a:bodyPr wrap="square">
            <a:spAutoFit/>
          </a:bodyPr>
          <a:lstStyle/>
          <a:p>
            <a:pPr algn="l"/>
            <a:r>
              <a:rPr sz="800" b="1" i="0">
                <a:solidFill>
                  <a:srgbClr val="94A3B8"/>
                </a:solidFill>
              </a:rPr>
              <a:t>Fator chave:</a:t>
            </a:r>
          </a:p>
        </p:txBody>
      </p:sp>
      <p:sp>
        <p:nvSpPr>
          <p:cNvPr id="53" name="TextBox 52"/>
          <p:cNvSpPr txBox="1"/>
          <p:nvPr/>
        </p:nvSpPr>
        <p:spPr>
          <a:xfrm>
            <a:off x="7424927" y="3968496"/>
            <a:ext cx="1508760" cy="274320"/>
          </a:xfrm>
          <a:prstGeom prst="rect">
            <a:avLst/>
          </a:prstGeom>
          <a:noFill/>
        </p:spPr>
        <p:txBody>
          <a:bodyPr wrap="square">
            <a:spAutoFit/>
          </a:bodyPr>
          <a:lstStyle/>
          <a:p>
            <a:pPr algn="l"/>
            <a:r>
              <a:rPr sz="800" b="0" i="0">
                <a:solidFill>
                  <a:srgbClr val="94A3B8"/>
                </a:solidFill>
              </a:rPr>
              <a:t>Baixo custo de vida geral</a:t>
            </a:r>
          </a:p>
        </p:txBody>
      </p:sp>
      <p:sp>
        <p:nvSpPr>
          <p:cNvPr id="54" name="Rectangle 53"/>
          <p:cNvSpPr/>
          <p:nvPr/>
        </p:nvSpPr>
        <p:spPr>
          <a:xfrm>
            <a:off x="9189720" y="1188720"/>
            <a:ext cx="2834640" cy="534924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89720" y="1188720"/>
            <a:ext cx="2834640" cy="7315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99448" y="1298448"/>
            <a:ext cx="2606040" cy="502920"/>
          </a:xfrm>
          <a:prstGeom prst="rect">
            <a:avLst/>
          </a:prstGeom>
          <a:noFill/>
        </p:spPr>
        <p:txBody>
          <a:bodyPr wrap="square">
            <a:spAutoFit/>
          </a:bodyPr>
          <a:lstStyle/>
          <a:p>
            <a:pPr algn="ctr"/>
            <a:r>
              <a:rPr sz="2800" b="0" i="0">
                <a:solidFill>
                  <a:srgbClr val="FFFFFF"/>
                </a:solidFill>
              </a:rPr>
              <a:t>📊</a:t>
            </a:r>
          </a:p>
        </p:txBody>
      </p:sp>
      <p:sp>
        <p:nvSpPr>
          <p:cNvPr id="57" name="TextBox 56"/>
          <p:cNvSpPr txBox="1"/>
          <p:nvPr/>
        </p:nvSpPr>
        <p:spPr>
          <a:xfrm>
            <a:off x="9281160" y="1828800"/>
            <a:ext cx="2651760" cy="347472"/>
          </a:xfrm>
          <a:prstGeom prst="rect">
            <a:avLst/>
          </a:prstGeom>
          <a:noFill/>
        </p:spPr>
        <p:txBody>
          <a:bodyPr wrap="square">
            <a:spAutoFit/>
          </a:bodyPr>
          <a:lstStyle/>
          <a:p>
            <a:pPr algn="ctr"/>
            <a:r>
              <a:rPr sz="1000" b="1" i="0">
                <a:solidFill>
                  <a:srgbClr val="A78BFA"/>
                </a:solidFill>
              </a:rPr>
              <a:t>INVESTIDOR IMOBILIÁRIO</a:t>
            </a:r>
          </a:p>
        </p:txBody>
      </p:sp>
      <p:sp>
        <p:nvSpPr>
          <p:cNvPr id="58" name="TextBox 57"/>
          <p:cNvSpPr txBox="1"/>
          <p:nvPr/>
        </p:nvSpPr>
        <p:spPr>
          <a:xfrm>
            <a:off x="9281160" y="2148840"/>
            <a:ext cx="2651760" cy="256032"/>
          </a:xfrm>
          <a:prstGeom prst="rect">
            <a:avLst/>
          </a:prstGeom>
          <a:noFill/>
        </p:spPr>
        <p:txBody>
          <a:bodyPr wrap="square">
            <a:spAutoFit/>
          </a:bodyPr>
          <a:lstStyle/>
          <a:p>
            <a:pPr algn="ctr"/>
            <a:r>
              <a:rPr sz="750" b="0" i="1">
                <a:solidFill>
                  <a:srgbClr val="94A3B8"/>
                </a:solidFill>
              </a:rPr>
              <a:t>$80k+/ano · retorno e valorização</a:t>
            </a:r>
          </a:p>
        </p:txBody>
      </p:sp>
      <p:sp>
        <p:nvSpPr>
          <p:cNvPr id="59" name="Rectangle 58"/>
          <p:cNvSpPr/>
          <p:nvPr/>
        </p:nvSpPr>
        <p:spPr>
          <a:xfrm>
            <a:off x="9326880" y="2450591"/>
            <a:ext cx="2560320" cy="2286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326880" y="2578608"/>
            <a:ext cx="1051560" cy="274320"/>
          </a:xfrm>
          <a:prstGeom prst="rect">
            <a:avLst/>
          </a:prstGeom>
          <a:noFill/>
        </p:spPr>
        <p:txBody>
          <a:bodyPr wrap="square">
            <a:spAutoFit/>
          </a:bodyPr>
          <a:lstStyle/>
          <a:p>
            <a:pPr algn="l"/>
            <a:r>
              <a:rPr sz="800" b="1" i="0">
                <a:solidFill>
                  <a:srgbClr val="94A3B8"/>
                </a:solidFill>
              </a:rPr>
              <a:t>Zona ideal:</a:t>
            </a:r>
          </a:p>
        </p:txBody>
      </p:sp>
      <p:sp>
        <p:nvSpPr>
          <p:cNvPr id="61" name="TextBox 60"/>
          <p:cNvSpPr txBox="1"/>
          <p:nvPr/>
        </p:nvSpPr>
        <p:spPr>
          <a:xfrm>
            <a:off x="10396728" y="2578608"/>
            <a:ext cx="1508760" cy="274320"/>
          </a:xfrm>
          <a:prstGeom prst="rect">
            <a:avLst/>
          </a:prstGeom>
          <a:noFill/>
        </p:spPr>
        <p:txBody>
          <a:bodyPr wrap="square">
            <a:spAutoFit/>
          </a:bodyPr>
          <a:lstStyle/>
          <a:p>
            <a:pPr algn="l"/>
            <a:r>
              <a:rPr sz="800" b="0" i="0">
                <a:solidFill>
                  <a:srgbClr val="34D399"/>
                </a:solidFill>
              </a:rPr>
              <a:t>NEAR BAY (longo prazo)</a:t>
            </a:r>
          </a:p>
        </p:txBody>
      </p:sp>
      <p:sp>
        <p:nvSpPr>
          <p:cNvPr id="62" name="TextBox 61"/>
          <p:cNvSpPr txBox="1"/>
          <p:nvPr/>
        </p:nvSpPr>
        <p:spPr>
          <a:xfrm>
            <a:off x="9326880" y="2926080"/>
            <a:ext cx="1051560" cy="274320"/>
          </a:xfrm>
          <a:prstGeom prst="rect">
            <a:avLst/>
          </a:prstGeom>
          <a:noFill/>
        </p:spPr>
        <p:txBody>
          <a:bodyPr wrap="square">
            <a:spAutoFit/>
          </a:bodyPr>
          <a:lstStyle/>
          <a:p>
            <a:pPr algn="l"/>
            <a:r>
              <a:rPr sz="800" b="1" i="0">
                <a:solidFill>
                  <a:srgbClr val="94A3B8"/>
                </a:solidFill>
              </a:rPr>
              <a:t>Alternativa:</a:t>
            </a:r>
          </a:p>
        </p:txBody>
      </p:sp>
      <p:sp>
        <p:nvSpPr>
          <p:cNvPr id="63" name="TextBox 62"/>
          <p:cNvSpPr txBox="1"/>
          <p:nvPr/>
        </p:nvSpPr>
        <p:spPr>
          <a:xfrm>
            <a:off x="10396728" y="2926080"/>
            <a:ext cx="1508760" cy="274320"/>
          </a:xfrm>
          <a:prstGeom prst="rect">
            <a:avLst/>
          </a:prstGeom>
          <a:noFill/>
        </p:spPr>
        <p:txBody>
          <a:bodyPr wrap="square">
            <a:spAutoFit/>
          </a:bodyPr>
          <a:lstStyle/>
          <a:p>
            <a:pPr algn="l"/>
            <a:r>
              <a:rPr sz="800" b="0" i="0">
                <a:solidFill>
                  <a:srgbClr val="FFFFFF"/>
                </a:solidFill>
              </a:rPr>
              <a:t>&lt;1H OCEAN (custo de entrada)</a:t>
            </a:r>
          </a:p>
        </p:txBody>
      </p:sp>
      <p:sp>
        <p:nvSpPr>
          <p:cNvPr id="64" name="TextBox 63"/>
          <p:cNvSpPr txBox="1"/>
          <p:nvPr/>
        </p:nvSpPr>
        <p:spPr>
          <a:xfrm>
            <a:off x="9326880" y="3273552"/>
            <a:ext cx="1051560" cy="274320"/>
          </a:xfrm>
          <a:prstGeom prst="rect">
            <a:avLst/>
          </a:prstGeom>
          <a:noFill/>
        </p:spPr>
        <p:txBody>
          <a:bodyPr wrap="square">
            <a:spAutoFit/>
          </a:bodyPr>
          <a:lstStyle/>
          <a:p>
            <a:pPr algn="l"/>
            <a:r>
              <a:rPr sz="800" b="1" i="0">
                <a:solidFill>
                  <a:srgbClr val="94A3B8"/>
                </a:solidFill>
              </a:rPr>
              <a:t>ROI estimado:</a:t>
            </a:r>
          </a:p>
        </p:txBody>
      </p:sp>
      <p:sp>
        <p:nvSpPr>
          <p:cNvPr id="65" name="TextBox 64"/>
          <p:cNvSpPr txBox="1"/>
          <p:nvPr/>
        </p:nvSpPr>
        <p:spPr>
          <a:xfrm>
            <a:off x="10396728" y="3273552"/>
            <a:ext cx="1508760" cy="274320"/>
          </a:xfrm>
          <a:prstGeom prst="rect">
            <a:avLst/>
          </a:prstGeom>
          <a:noFill/>
        </p:spPr>
        <p:txBody>
          <a:bodyPr wrap="square">
            <a:spAutoFit/>
          </a:bodyPr>
          <a:lstStyle/>
          <a:p>
            <a:pPr algn="l"/>
            <a:r>
              <a:rPr sz="800" b="0" i="0">
                <a:solidFill>
                  <a:srgbClr val="F5A623"/>
                </a:solidFill>
              </a:rPr>
              <a:t>5–7% ao ano histórico em SF</a:t>
            </a:r>
          </a:p>
        </p:txBody>
      </p:sp>
      <p:sp>
        <p:nvSpPr>
          <p:cNvPr id="66" name="TextBox 65"/>
          <p:cNvSpPr txBox="1"/>
          <p:nvPr/>
        </p:nvSpPr>
        <p:spPr>
          <a:xfrm>
            <a:off x="9326880" y="3621024"/>
            <a:ext cx="1051560" cy="274320"/>
          </a:xfrm>
          <a:prstGeom prst="rect">
            <a:avLst/>
          </a:prstGeom>
          <a:noFill/>
        </p:spPr>
        <p:txBody>
          <a:bodyPr wrap="square">
            <a:spAutoFit/>
          </a:bodyPr>
          <a:lstStyle/>
          <a:p>
            <a:pPr algn="l"/>
            <a:r>
              <a:rPr sz="800" b="1" i="0">
                <a:solidFill>
                  <a:srgbClr val="94A3B8"/>
                </a:solidFill>
              </a:rPr>
              <a:t>Estratégia:</a:t>
            </a:r>
          </a:p>
        </p:txBody>
      </p:sp>
      <p:sp>
        <p:nvSpPr>
          <p:cNvPr id="67" name="TextBox 66"/>
          <p:cNvSpPr txBox="1"/>
          <p:nvPr/>
        </p:nvSpPr>
        <p:spPr>
          <a:xfrm>
            <a:off x="10396728" y="3621024"/>
            <a:ext cx="1508760" cy="274320"/>
          </a:xfrm>
          <a:prstGeom prst="rect">
            <a:avLst/>
          </a:prstGeom>
          <a:noFill/>
        </p:spPr>
        <p:txBody>
          <a:bodyPr wrap="square">
            <a:spAutoFit/>
          </a:bodyPr>
          <a:lstStyle/>
          <a:p>
            <a:pPr algn="l"/>
            <a:r>
              <a:rPr sz="800" b="0" i="0">
                <a:solidFill>
                  <a:srgbClr val="0EA5E9"/>
                </a:solidFill>
              </a:rPr>
              <a:t>Compra → aluguel → valorização</a:t>
            </a:r>
          </a:p>
        </p:txBody>
      </p:sp>
      <p:sp>
        <p:nvSpPr>
          <p:cNvPr id="68" name="TextBox 67"/>
          <p:cNvSpPr txBox="1"/>
          <p:nvPr/>
        </p:nvSpPr>
        <p:spPr>
          <a:xfrm>
            <a:off x="9326880" y="3968496"/>
            <a:ext cx="1051560" cy="274320"/>
          </a:xfrm>
          <a:prstGeom prst="rect">
            <a:avLst/>
          </a:prstGeom>
          <a:noFill/>
        </p:spPr>
        <p:txBody>
          <a:bodyPr wrap="square">
            <a:spAutoFit/>
          </a:bodyPr>
          <a:lstStyle/>
          <a:p>
            <a:pPr algn="l"/>
            <a:r>
              <a:rPr sz="800" b="1" i="0">
                <a:solidFill>
                  <a:srgbClr val="94A3B8"/>
                </a:solidFill>
              </a:rPr>
              <a:t>Fator chave:</a:t>
            </a:r>
          </a:p>
        </p:txBody>
      </p:sp>
      <p:sp>
        <p:nvSpPr>
          <p:cNvPr id="69" name="TextBox 68"/>
          <p:cNvSpPr txBox="1"/>
          <p:nvPr/>
        </p:nvSpPr>
        <p:spPr>
          <a:xfrm>
            <a:off x="10396728" y="3968496"/>
            <a:ext cx="1508760" cy="274320"/>
          </a:xfrm>
          <a:prstGeom prst="rect">
            <a:avLst/>
          </a:prstGeom>
          <a:noFill/>
        </p:spPr>
        <p:txBody>
          <a:bodyPr wrap="square">
            <a:spAutoFit/>
          </a:bodyPr>
          <a:lstStyle/>
          <a:p>
            <a:pPr algn="l"/>
            <a:r>
              <a:rPr sz="800" b="0" i="0">
                <a:solidFill>
                  <a:srgbClr val="94A3B8"/>
                </a:solidFill>
              </a:rPr>
              <a:t>Demanda de tech sustentada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64008" cy="62179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01168"/>
            <a:ext cx="7315200" cy="274320"/>
          </a:xfrm>
          <a:prstGeom prst="rect">
            <a:avLst/>
          </a:prstGeom>
          <a:noFill/>
        </p:spPr>
        <p:txBody>
          <a:bodyPr wrap="square">
            <a:spAutoFit/>
          </a:bodyPr>
          <a:lstStyle/>
          <a:p>
            <a:pPr algn="l"/>
            <a:r>
              <a:rPr sz="900" b="1" i="0">
                <a:solidFill>
                  <a:srgbClr val="F5A623"/>
                </a:solidFill>
              </a:rPr>
              <a:t>RANKING FINAL</a:t>
            </a:r>
          </a:p>
        </p:txBody>
      </p:sp>
      <p:sp>
        <p:nvSpPr>
          <p:cNvPr id="4" name="TextBox 3"/>
          <p:cNvSpPr txBox="1"/>
          <p:nvPr/>
        </p:nvSpPr>
        <p:spPr>
          <a:xfrm>
            <a:off x="274320" y="502920"/>
            <a:ext cx="7315200" cy="502920"/>
          </a:xfrm>
          <a:prstGeom prst="rect">
            <a:avLst/>
          </a:prstGeom>
          <a:noFill/>
        </p:spPr>
        <p:txBody>
          <a:bodyPr wrap="square">
            <a:spAutoFit/>
          </a:bodyPr>
          <a:lstStyle/>
          <a:p>
            <a:pPr algn="l"/>
            <a:r>
              <a:rPr sz="2400" b="1" i="0">
                <a:solidFill>
                  <a:srgbClr val="FFFFFF"/>
                </a:solidFill>
              </a:rPr>
              <a:t>As 5 zonas ranqueadas.</a:t>
            </a:r>
          </a:p>
        </p:txBody>
      </p:sp>
      <p:sp>
        <p:nvSpPr>
          <p:cNvPr id="5" name="TextBox 4"/>
          <p:cNvSpPr txBox="1"/>
          <p:nvPr/>
        </p:nvSpPr>
        <p:spPr>
          <a:xfrm>
            <a:off x="274320" y="987552"/>
            <a:ext cx="11430000" cy="384048"/>
          </a:xfrm>
          <a:prstGeom prst="rect">
            <a:avLst/>
          </a:prstGeom>
          <a:noFill/>
        </p:spPr>
        <p:txBody>
          <a:bodyPr wrap="square">
            <a:spAutoFit/>
          </a:bodyPr>
          <a:lstStyle/>
          <a:p>
            <a:pPr algn="l"/>
            <a:r>
              <a:rPr sz="1100" b="0" i="0">
                <a:solidFill>
                  <a:srgbClr val="94A3B8"/>
                </a:solidFill>
              </a:rPr>
              <a:t>Critérios: valor, custo-benefício, comprometimento de renda, qualidade de vida, valorização.</a:t>
            </a:r>
          </a:p>
        </p:txBody>
      </p:sp>
      <p:sp>
        <p:nvSpPr>
          <p:cNvPr id="6" name="Rectangle 5"/>
          <p:cNvSpPr/>
          <p:nvPr/>
        </p:nvSpPr>
        <p:spPr>
          <a:xfrm>
            <a:off x="274320" y="1481328"/>
            <a:ext cx="11612880" cy="32004"/>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627632"/>
            <a:ext cx="11612880" cy="34747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673352"/>
            <a:ext cx="548640" cy="256032"/>
          </a:xfrm>
          <a:prstGeom prst="rect">
            <a:avLst/>
          </a:prstGeom>
          <a:noFill/>
        </p:spPr>
        <p:txBody>
          <a:bodyPr wrap="square">
            <a:spAutoFit/>
          </a:bodyPr>
          <a:lstStyle/>
          <a:p>
            <a:pPr algn="l"/>
            <a:r>
              <a:rPr sz="850" b="1" i="0">
                <a:solidFill>
                  <a:srgbClr val="F5A623"/>
                </a:solidFill>
              </a:rPr>
              <a:t>Rank</a:t>
            </a:r>
          </a:p>
        </p:txBody>
      </p:sp>
      <p:sp>
        <p:nvSpPr>
          <p:cNvPr id="9" name="TextBox 8"/>
          <p:cNvSpPr txBox="1"/>
          <p:nvPr/>
        </p:nvSpPr>
        <p:spPr>
          <a:xfrm>
            <a:off x="914400" y="1673352"/>
            <a:ext cx="1371600" cy="256032"/>
          </a:xfrm>
          <a:prstGeom prst="rect">
            <a:avLst/>
          </a:prstGeom>
          <a:noFill/>
        </p:spPr>
        <p:txBody>
          <a:bodyPr wrap="square">
            <a:spAutoFit/>
          </a:bodyPr>
          <a:lstStyle/>
          <a:p>
            <a:pPr algn="l"/>
            <a:r>
              <a:rPr sz="850" b="1" i="0">
                <a:solidFill>
                  <a:srgbClr val="F5A623"/>
                </a:solidFill>
              </a:rPr>
              <a:t>Zona</a:t>
            </a:r>
          </a:p>
        </p:txBody>
      </p:sp>
      <p:sp>
        <p:nvSpPr>
          <p:cNvPr id="10" name="TextBox 9"/>
          <p:cNvSpPr txBox="1"/>
          <p:nvPr/>
        </p:nvSpPr>
        <p:spPr>
          <a:xfrm>
            <a:off x="2331720" y="1673352"/>
            <a:ext cx="1508760" cy="256032"/>
          </a:xfrm>
          <a:prstGeom prst="rect">
            <a:avLst/>
          </a:prstGeom>
          <a:noFill/>
        </p:spPr>
        <p:txBody>
          <a:bodyPr wrap="square">
            <a:spAutoFit/>
          </a:bodyPr>
          <a:lstStyle/>
          <a:p>
            <a:pPr algn="l"/>
            <a:r>
              <a:rPr sz="850" b="1" i="0">
                <a:solidFill>
                  <a:srgbClr val="F5A623"/>
                </a:solidFill>
              </a:rPr>
              <a:t>Objetivo</a:t>
            </a:r>
          </a:p>
        </p:txBody>
      </p:sp>
      <p:sp>
        <p:nvSpPr>
          <p:cNvPr id="11" name="TextBox 10"/>
          <p:cNvSpPr txBox="1"/>
          <p:nvPr/>
        </p:nvSpPr>
        <p:spPr>
          <a:xfrm>
            <a:off x="3886200" y="1673352"/>
            <a:ext cx="6400800" cy="256032"/>
          </a:xfrm>
          <a:prstGeom prst="rect">
            <a:avLst/>
          </a:prstGeom>
          <a:noFill/>
        </p:spPr>
        <p:txBody>
          <a:bodyPr wrap="square">
            <a:spAutoFit/>
          </a:bodyPr>
          <a:lstStyle/>
          <a:p>
            <a:pPr algn="l"/>
            <a:r>
              <a:rPr sz="850" b="1" i="0">
                <a:solidFill>
                  <a:srgbClr val="F5A623"/>
                </a:solidFill>
              </a:rPr>
              <a:t>Por quê?</a:t>
            </a:r>
          </a:p>
        </p:txBody>
      </p:sp>
      <p:sp>
        <p:nvSpPr>
          <p:cNvPr id="12" name="TextBox 11"/>
          <p:cNvSpPr txBox="1"/>
          <p:nvPr/>
        </p:nvSpPr>
        <p:spPr>
          <a:xfrm>
            <a:off x="10287000" y="1673352"/>
            <a:ext cx="960120" cy="256032"/>
          </a:xfrm>
          <a:prstGeom prst="rect">
            <a:avLst/>
          </a:prstGeom>
          <a:noFill/>
        </p:spPr>
        <p:txBody>
          <a:bodyPr wrap="square">
            <a:spAutoFit/>
          </a:bodyPr>
          <a:lstStyle/>
          <a:p>
            <a:pPr algn="l"/>
            <a:r>
              <a:rPr sz="850" b="1" i="0">
                <a:solidFill>
                  <a:srgbClr val="F5A623"/>
                </a:solidFill>
              </a:rPr>
              <a:t>Acessib.</a:t>
            </a:r>
          </a:p>
        </p:txBody>
      </p:sp>
      <p:sp>
        <p:nvSpPr>
          <p:cNvPr id="13" name="TextBox 12"/>
          <p:cNvSpPr txBox="1"/>
          <p:nvPr/>
        </p:nvSpPr>
        <p:spPr>
          <a:xfrm>
            <a:off x="11292840" y="1673352"/>
            <a:ext cx="868680" cy="256032"/>
          </a:xfrm>
          <a:prstGeom prst="rect">
            <a:avLst/>
          </a:prstGeom>
          <a:noFill/>
        </p:spPr>
        <p:txBody>
          <a:bodyPr wrap="square">
            <a:spAutoFit/>
          </a:bodyPr>
          <a:lstStyle/>
          <a:p>
            <a:pPr algn="l"/>
            <a:r>
              <a:rPr sz="850" b="1" i="0">
                <a:solidFill>
                  <a:srgbClr val="F5A623"/>
                </a:solidFill>
              </a:rPr>
              <a:t>Valoriz.</a:t>
            </a:r>
          </a:p>
        </p:txBody>
      </p:sp>
      <p:sp>
        <p:nvSpPr>
          <p:cNvPr id="14" name="Rectangle 13"/>
          <p:cNvSpPr/>
          <p:nvPr/>
        </p:nvSpPr>
        <p:spPr>
          <a:xfrm>
            <a:off x="274320" y="2048256"/>
            <a:ext cx="11612880" cy="877824"/>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048256"/>
            <a:ext cx="64008" cy="877824"/>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 y="2103120"/>
            <a:ext cx="475488" cy="768096"/>
          </a:xfrm>
          <a:prstGeom prst="rect">
            <a:avLst/>
          </a:prstGeom>
          <a:noFill/>
        </p:spPr>
        <p:txBody>
          <a:bodyPr wrap="square">
            <a:spAutoFit/>
          </a:bodyPr>
          <a:lstStyle/>
          <a:p>
            <a:pPr algn="l"/>
            <a:r>
              <a:rPr sz="1500" b="1" i="0">
                <a:solidFill>
                  <a:srgbClr val="34D399"/>
                </a:solidFill>
              </a:rPr>
              <a:t>#1</a:t>
            </a:r>
          </a:p>
        </p:txBody>
      </p:sp>
      <p:sp>
        <p:nvSpPr>
          <p:cNvPr id="17" name="TextBox 16"/>
          <p:cNvSpPr txBox="1"/>
          <p:nvPr/>
        </p:nvSpPr>
        <p:spPr>
          <a:xfrm>
            <a:off x="923544" y="2103120"/>
            <a:ext cx="1298448" cy="768096"/>
          </a:xfrm>
          <a:prstGeom prst="rect">
            <a:avLst/>
          </a:prstGeom>
          <a:noFill/>
        </p:spPr>
        <p:txBody>
          <a:bodyPr wrap="square">
            <a:spAutoFit/>
          </a:bodyPr>
          <a:lstStyle/>
          <a:p>
            <a:pPr algn="l"/>
            <a:r>
              <a:rPr sz="1000" b="1" i="0">
                <a:solidFill>
                  <a:srgbClr val="34D399"/>
                </a:solidFill>
              </a:rPr>
              <a:t>&lt;1H OCEAN</a:t>
            </a:r>
          </a:p>
        </p:txBody>
      </p:sp>
      <p:sp>
        <p:nvSpPr>
          <p:cNvPr id="18" name="TextBox 17"/>
          <p:cNvSpPr txBox="1"/>
          <p:nvPr/>
        </p:nvSpPr>
        <p:spPr>
          <a:xfrm>
            <a:off x="2340864" y="2103120"/>
            <a:ext cx="1435607" cy="768096"/>
          </a:xfrm>
          <a:prstGeom prst="rect">
            <a:avLst/>
          </a:prstGeom>
          <a:noFill/>
        </p:spPr>
        <p:txBody>
          <a:bodyPr wrap="square">
            <a:spAutoFit/>
          </a:bodyPr>
          <a:lstStyle/>
          <a:p>
            <a:pPr algn="l"/>
            <a:r>
              <a:rPr sz="850" b="0" i="0">
                <a:solidFill>
                  <a:srgbClr val="FFFFFF"/>
                </a:solidFill>
              </a:rPr>
              <a:t>COMPRAR &amp; ALUGAR</a:t>
            </a:r>
          </a:p>
        </p:txBody>
      </p:sp>
      <p:sp>
        <p:nvSpPr>
          <p:cNvPr id="19" name="TextBox 18"/>
          <p:cNvSpPr txBox="1"/>
          <p:nvPr/>
        </p:nvSpPr>
        <p:spPr>
          <a:xfrm>
            <a:off x="3895344" y="2103120"/>
            <a:ext cx="6327648" cy="768096"/>
          </a:xfrm>
          <a:prstGeom prst="rect">
            <a:avLst/>
          </a:prstGeom>
          <a:noFill/>
        </p:spPr>
        <p:txBody>
          <a:bodyPr wrap="square">
            <a:spAutoFit/>
          </a:bodyPr>
          <a:lstStyle/>
          <a:p>
            <a:pPr algn="l"/>
            <a:r>
              <a:rPr sz="850" b="0" i="0">
                <a:solidFill>
                  <a:srgbClr val="94A3B8"/>
                </a:solidFill>
              </a:rPr>
              <a:t>O equilíbrio perfeito para a maioria das famílias californianas. Acesso ao litoral, infraestrutura de qualidade, mercado de trabalho diverso. Maior zona do dataset.</a:t>
            </a:r>
          </a:p>
        </p:txBody>
      </p:sp>
      <p:sp>
        <p:nvSpPr>
          <p:cNvPr id="20" name="TextBox 19"/>
          <p:cNvSpPr txBox="1"/>
          <p:nvPr/>
        </p:nvSpPr>
        <p:spPr>
          <a:xfrm>
            <a:off x="10296144" y="2103120"/>
            <a:ext cx="886968" cy="768096"/>
          </a:xfrm>
          <a:prstGeom prst="rect">
            <a:avLst/>
          </a:prstGeom>
          <a:noFill/>
        </p:spPr>
        <p:txBody>
          <a:bodyPr wrap="square">
            <a:spAutoFit/>
          </a:bodyPr>
          <a:lstStyle/>
          <a:p>
            <a:pPr algn="l"/>
            <a:r>
              <a:rPr sz="850" b="0" i="0">
                <a:solidFill>
                  <a:srgbClr val="94A3B8"/>
                </a:solidFill>
              </a:rPr>
              <a:t>★★★★★</a:t>
            </a:r>
          </a:p>
        </p:txBody>
      </p:sp>
      <p:sp>
        <p:nvSpPr>
          <p:cNvPr id="21" name="TextBox 20"/>
          <p:cNvSpPr txBox="1"/>
          <p:nvPr/>
        </p:nvSpPr>
        <p:spPr>
          <a:xfrm>
            <a:off x="11301984" y="2103120"/>
            <a:ext cx="795528" cy="768096"/>
          </a:xfrm>
          <a:prstGeom prst="rect">
            <a:avLst/>
          </a:prstGeom>
          <a:noFill/>
        </p:spPr>
        <p:txBody>
          <a:bodyPr wrap="square">
            <a:spAutoFit/>
          </a:bodyPr>
          <a:lstStyle/>
          <a:p>
            <a:pPr algn="l"/>
            <a:r>
              <a:rPr sz="850" b="0" i="0">
                <a:solidFill>
                  <a:srgbClr val="94A3B8"/>
                </a:solidFill>
              </a:rPr>
              <a:t>★★★★</a:t>
            </a:r>
          </a:p>
        </p:txBody>
      </p:sp>
      <p:sp>
        <p:nvSpPr>
          <p:cNvPr id="22" name="Rectangle 21"/>
          <p:cNvSpPr/>
          <p:nvPr/>
        </p:nvSpPr>
        <p:spPr>
          <a:xfrm>
            <a:off x="274320" y="2980944"/>
            <a:ext cx="11612880" cy="877824"/>
          </a:xfrm>
          <a:prstGeom prst="rect">
            <a:avLst/>
          </a:prstGeom>
          <a:solidFill>
            <a:srgbClr val="16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2980944"/>
            <a:ext cx="64008" cy="87782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84" y="3035808"/>
            <a:ext cx="475488" cy="768096"/>
          </a:xfrm>
          <a:prstGeom prst="rect">
            <a:avLst/>
          </a:prstGeom>
          <a:noFill/>
        </p:spPr>
        <p:txBody>
          <a:bodyPr wrap="square">
            <a:spAutoFit/>
          </a:bodyPr>
          <a:lstStyle/>
          <a:p>
            <a:pPr algn="l"/>
            <a:r>
              <a:rPr sz="1500" b="1" i="0">
                <a:solidFill>
                  <a:srgbClr val="F5A623"/>
                </a:solidFill>
              </a:rPr>
              <a:t>#2</a:t>
            </a:r>
          </a:p>
        </p:txBody>
      </p:sp>
      <p:sp>
        <p:nvSpPr>
          <p:cNvPr id="25" name="TextBox 24"/>
          <p:cNvSpPr txBox="1"/>
          <p:nvPr/>
        </p:nvSpPr>
        <p:spPr>
          <a:xfrm>
            <a:off x="923544" y="3035808"/>
            <a:ext cx="1298448" cy="768096"/>
          </a:xfrm>
          <a:prstGeom prst="rect">
            <a:avLst/>
          </a:prstGeom>
          <a:noFill/>
        </p:spPr>
        <p:txBody>
          <a:bodyPr wrap="square">
            <a:spAutoFit/>
          </a:bodyPr>
          <a:lstStyle/>
          <a:p>
            <a:pPr algn="l"/>
            <a:r>
              <a:rPr sz="1000" b="1" i="0">
                <a:solidFill>
                  <a:srgbClr val="F5A623"/>
                </a:solidFill>
              </a:rPr>
              <a:t>INLAND</a:t>
            </a:r>
          </a:p>
        </p:txBody>
      </p:sp>
      <p:sp>
        <p:nvSpPr>
          <p:cNvPr id="26" name="TextBox 25"/>
          <p:cNvSpPr txBox="1"/>
          <p:nvPr/>
        </p:nvSpPr>
        <p:spPr>
          <a:xfrm>
            <a:off x="2340864" y="3035808"/>
            <a:ext cx="1435607" cy="768096"/>
          </a:xfrm>
          <a:prstGeom prst="rect">
            <a:avLst/>
          </a:prstGeom>
          <a:noFill/>
        </p:spPr>
        <p:txBody>
          <a:bodyPr wrap="square">
            <a:spAutoFit/>
          </a:bodyPr>
          <a:lstStyle/>
          <a:p>
            <a:pPr algn="l"/>
            <a:r>
              <a:rPr sz="850" b="0" i="0">
                <a:solidFill>
                  <a:srgbClr val="FFFFFF"/>
                </a:solidFill>
              </a:rPr>
              <a:t>COMPRAR (1ª moradia)</a:t>
            </a:r>
          </a:p>
        </p:txBody>
      </p:sp>
      <p:sp>
        <p:nvSpPr>
          <p:cNvPr id="27" name="TextBox 26"/>
          <p:cNvSpPr txBox="1"/>
          <p:nvPr/>
        </p:nvSpPr>
        <p:spPr>
          <a:xfrm>
            <a:off x="3895344" y="3035808"/>
            <a:ext cx="6327648" cy="768096"/>
          </a:xfrm>
          <a:prstGeom prst="rect">
            <a:avLst/>
          </a:prstGeom>
          <a:noFill/>
        </p:spPr>
        <p:txBody>
          <a:bodyPr wrap="square">
            <a:spAutoFit/>
          </a:bodyPr>
          <a:lstStyle/>
          <a:p>
            <a:pPr algn="l"/>
            <a:r>
              <a:rPr sz="850" b="0" i="0">
                <a:solidFill>
                  <a:srgbClr val="94A3B8"/>
                </a:solidFill>
              </a:rPr>
              <a:t>Melhor score custo-benefício do dataset. Único onde a renda mediana local sustenta confortavelmente o custo de moradia. A porta de entrada para o patrimônio.</a:t>
            </a:r>
          </a:p>
        </p:txBody>
      </p:sp>
      <p:sp>
        <p:nvSpPr>
          <p:cNvPr id="28" name="TextBox 27"/>
          <p:cNvSpPr txBox="1"/>
          <p:nvPr/>
        </p:nvSpPr>
        <p:spPr>
          <a:xfrm>
            <a:off x="10296144" y="3035808"/>
            <a:ext cx="886968" cy="768096"/>
          </a:xfrm>
          <a:prstGeom prst="rect">
            <a:avLst/>
          </a:prstGeom>
          <a:noFill/>
        </p:spPr>
        <p:txBody>
          <a:bodyPr wrap="square">
            <a:spAutoFit/>
          </a:bodyPr>
          <a:lstStyle/>
          <a:p>
            <a:pPr algn="l"/>
            <a:r>
              <a:rPr sz="850" b="0" i="0">
                <a:solidFill>
                  <a:srgbClr val="94A3B8"/>
                </a:solidFill>
              </a:rPr>
              <a:t>★★★★★</a:t>
            </a:r>
          </a:p>
        </p:txBody>
      </p:sp>
      <p:sp>
        <p:nvSpPr>
          <p:cNvPr id="29" name="TextBox 28"/>
          <p:cNvSpPr txBox="1"/>
          <p:nvPr/>
        </p:nvSpPr>
        <p:spPr>
          <a:xfrm>
            <a:off x="11301984" y="3035808"/>
            <a:ext cx="795528" cy="768096"/>
          </a:xfrm>
          <a:prstGeom prst="rect">
            <a:avLst/>
          </a:prstGeom>
          <a:noFill/>
        </p:spPr>
        <p:txBody>
          <a:bodyPr wrap="square">
            <a:spAutoFit/>
          </a:bodyPr>
          <a:lstStyle/>
          <a:p>
            <a:pPr algn="l"/>
            <a:r>
              <a:rPr sz="850" b="0" i="0">
                <a:solidFill>
                  <a:srgbClr val="94A3B8"/>
                </a:solidFill>
              </a:rPr>
              <a:t>★★★</a:t>
            </a:r>
          </a:p>
        </p:txBody>
      </p:sp>
      <p:sp>
        <p:nvSpPr>
          <p:cNvPr id="30" name="Rectangle 29"/>
          <p:cNvSpPr/>
          <p:nvPr/>
        </p:nvSpPr>
        <p:spPr>
          <a:xfrm>
            <a:off x="274320" y="3913632"/>
            <a:ext cx="11612880" cy="877824"/>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4320" y="3913632"/>
            <a:ext cx="64008" cy="87782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9184" y="3968496"/>
            <a:ext cx="475488" cy="768096"/>
          </a:xfrm>
          <a:prstGeom prst="rect">
            <a:avLst/>
          </a:prstGeom>
          <a:noFill/>
        </p:spPr>
        <p:txBody>
          <a:bodyPr wrap="square">
            <a:spAutoFit/>
          </a:bodyPr>
          <a:lstStyle/>
          <a:p>
            <a:pPr algn="l"/>
            <a:r>
              <a:rPr sz="1500" b="1" i="0">
                <a:solidFill>
                  <a:srgbClr val="A78BFA"/>
                </a:solidFill>
              </a:rPr>
              <a:t>#3</a:t>
            </a:r>
          </a:p>
        </p:txBody>
      </p:sp>
      <p:sp>
        <p:nvSpPr>
          <p:cNvPr id="33" name="TextBox 32"/>
          <p:cNvSpPr txBox="1"/>
          <p:nvPr/>
        </p:nvSpPr>
        <p:spPr>
          <a:xfrm>
            <a:off x="923544" y="3968496"/>
            <a:ext cx="1298448" cy="768096"/>
          </a:xfrm>
          <a:prstGeom prst="rect">
            <a:avLst/>
          </a:prstGeom>
          <a:noFill/>
        </p:spPr>
        <p:txBody>
          <a:bodyPr wrap="square">
            <a:spAutoFit/>
          </a:bodyPr>
          <a:lstStyle/>
          <a:p>
            <a:pPr algn="l"/>
            <a:r>
              <a:rPr sz="1000" b="1" i="0">
                <a:solidFill>
                  <a:srgbClr val="A78BFA"/>
                </a:solidFill>
              </a:rPr>
              <a:t>NEAR BAY</a:t>
            </a:r>
          </a:p>
        </p:txBody>
      </p:sp>
      <p:sp>
        <p:nvSpPr>
          <p:cNvPr id="34" name="TextBox 33"/>
          <p:cNvSpPr txBox="1"/>
          <p:nvPr/>
        </p:nvSpPr>
        <p:spPr>
          <a:xfrm>
            <a:off x="2340864" y="3968496"/>
            <a:ext cx="1435607" cy="768096"/>
          </a:xfrm>
          <a:prstGeom prst="rect">
            <a:avLst/>
          </a:prstGeom>
          <a:noFill/>
        </p:spPr>
        <p:txBody>
          <a:bodyPr wrap="square">
            <a:spAutoFit/>
          </a:bodyPr>
          <a:lstStyle/>
          <a:p>
            <a:pPr algn="l"/>
            <a:r>
              <a:rPr sz="850" b="0" i="0">
                <a:solidFill>
                  <a:srgbClr val="FFFFFF"/>
                </a:solidFill>
              </a:rPr>
              <a:t>INVESTIR (longo prazo)</a:t>
            </a:r>
          </a:p>
        </p:txBody>
      </p:sp>
      <p:sp>
        <p:nvSpPr>
          <p:cNvPr id="35" name="TextBox 34"/>
          <p:cNvSpPr txBox="1"/>
          <p:nvPr/>
        </p:nvSpPr>
        <p:spPr>
          <a:xfrm>
            <a:off x="3895344" y="3968496"/>
            <a:ext cx="6327648" cy="768096"/>
          </a:xfrm>
          <a:prstGeom prst="rect">
            <a:avLst/>
          </a:prstGeom>
          <a:noFill/>
        </p:spPr>
        <p:txBody>
          <a:bodyPr wrap="square">
            <a:spAutoFit/>
          </a:bodyPr>
          <a:lstStyle/>
          <a:p>
            <a:pPr algn="l"/>
            <a:r>
              <a:rPr sz="850" b="0" i="0">
                <a:solidFill>
                  <a:srgbClr val="94A3B8"/>
                </a:solidFill>
              </a:rPr>
              <a:t>Valorização histórica mais consistente. Demanda estrutural de tech. Exige renda alta, mas o retorno justifica para investidores pacientes.</a:t>
            </a:r>
          </a:p>
        </p:txBody>
      </p:sp>
      <p:sp>
        <p:nvSpPr>
          <p:cNvPr id="36" name="TextBox 35"/>
          <p:cNvSpPr txBox="1"/>
          <p:nvPr/>
        </p:nvSpPr>
        <p:spPr>
          <a:xfrm>
            <a:off x="10296144" y="3968496"/>
            <a:ext cx="886968" cy="768096"/>
          </a:xfrm>
          <a:prstGeom prst="rect">
            <a:avLst/>
          </a:prstGeom>
          <a:noFill/>
        </p:spPr>
        <p:txBody>
          <a:bodyPr wrap="square">
            <a:spAutoFit/>
          </a:bodyPr>
          <a:lstStyle/>
          <a:p>
            <a:pPr algn="l"/>
            <a:r>
              <a:rPr sz="850" b="0" i="0">
                <a:solidFill>
                  <a:srgbClr val="94A3B8"/>
                </a:solidFill>
              </a:rPr>
              <a:t>★★★</a:t>
            </a:r>
          </a:p>
        </p:txBody>
      </p:sp>
      <p:sp>
        <p:nvSpPr>
          <p:cNvPr id="37" name="TextBox 36"/>
          <p:cNvSpPr txBox="1"/>
          <p:nvPr/>
        </p:nvSpPr>
        <p:spPr>
          <a:xfrm>
            <a:off x="11301984" y="3968496"/>
            <a:ext cx="795528" cy="768096"/>
          </a:xfrm>
          <a:prstGeom prst="rect">
            <a:avLst/>
          </a:prstGeom>
          <a:noFill/>
        </p:spPr>
        <p:txBody>
          <a:bodyPr wrap="square">
            <a:spAutoFit/>
          </a:bodyPr>
          <a:lstStyle/>
          <a:p>
            <a:pPr algn="l"/>
            <a:r>
              <a:rPr sz="850" b="0" i="0">
                <a:solidFill>
                  <a:srgbClr val="94A3B8"/>
                </a:solidFill>
              </a:rPr>
              <a:t>★★★★★</a:t>
            </a:r>
          </a:p>
        </p:txBody>
      </p:sp>
      <p:sp>
        <p:nvSpPr>
          <p:cNvPr id="38" name="Rectangle 37"/>
          <p:cNvSpPr/>
          <p:nvPr/>
        </p:nvSpPr>
        <p:spPr>
          <a:xfrm>
            <a:off x="274320" y="4846320"/>
            <a:ext cx="11612880" cy="877824"/>
          </a:xfrm>
          <a:prstGeom prst="rect">
            <a:avLst/>
          </a:prstGeom>
          <a:solidFill>
            <a:srgbClr val="16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4320" y="4846320"/>
            <a:ext cx="64008" cy="87782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84" y="4901184"/>
            <a:ext cx="475488" cy="768096"/>
          </a:xfrm>
          <a:prstGeom prst="rect">
            <a:avLst/>
          </a:prstGeom>
          <a:noFill/>
        </p:spPr>
        <p:txBody>
          <a:bodyPr wrap="square">
            <a:spAutoFit/>
          </a:bodyPr>
          <a:lstStyle/>
          <a:p>
            <a:pPr algn="l"/>
            <a:r>
              <a:rPr sz="1500" b="1" i="0">
                <a:solidFill>
                  <a:srgbClr val="0EA5E9"/>
                </a:solidFill>
              </a:rPr>
              <a:t>#4</a:t>
            </a:r>
          </a:p>
        </p:txBody>
      </p:sp>
      <p:sp>
        <p:nvSpPr>
          <p:cNvPr id="41" name="TextBox 40"/>
          <p:cNvSpPr txBox="1"/>
          <p:nvPr/>
        </p:nvSpPr>
        <p:spPr>
          <a:xfrm>
            <a:off x="923544" y="4901184"/>
            <a:ext cx="1298448" cy="768096"/>
          </a:xfrm>
          <a:prstGeom prst="rect">
            <a:avLst/>
          </a:prstGeom>
          <a:noFill/>
        </p:spPr>
        <p:txBody>
          <a:bodyPr wrap="square">
            <a:spAutoFit/>
          </a:bodyPr>
          <a:lstStyle/>
          <a:p>
            <a:pPr algn="l"/>
            <a:r>
              <a:rPr sz="1000" b="1" i="0">
                <a:solidFill>
                  <a:srgbClr val="0EA5E9"/>
                </a:solidFill>
              </a:rPr>
              <a:t>NEAR OCEAN</a:t>
            </a:r>
          </a:p>
        </p:txBody>
      </p:sp>
      <p:sp>
        <p:nvSpPr>
          <p:cNvPr id="42" name="TextBox 41"/>
          <p:cNvSpPr txBox="1"/>
          <p:nvPr/>
        </p:nvSpPr>
        <p:spPr>
          <a:xfrm>
            <a:off x="2340864" y="4901184"/>
            <a:ext cx="1435607" cy="768096"/>
          </a:xfrm>
          <a:prstGeom prst="rect">
            <a:avLst/>
          </a:prstGeom>
          <a:noFill/>
        </p:spPr>
        <p:txBody>
          <a:bodyPr wrap="square">
            <a:spAutoFit/>
          </a:bodyPr>
          <a:lstStyle/>
          <a:p>
            <a:pPr algn="l"/>
            <a:r>
              <a:rPr sz="850" b="0" i="0">
                <a:solidFill>
                  <a:srgbClr val="FFFFFF"/>
                </a:solidFill>
              </a:rPr>
              <a:t>ALUGAR (qualidade de vida)</a:t>
            </a:r>
          </a:p>
        </p:txBody>
      </p:sp>
      <p:sp>
        <p:nvSpPr>
          <p:cNvPr id="43" name="TextBox 42"/>
          <p:cNvSpPr txBox="1"/>
          <p:nvPr/>
        </p:nvSpPr>
        <p:spPr>
          <a:xfrm>
            <a:off x="3895344" y="4901184"/>
            <a:ext cx="6327648" cy="768096"/>
          </a:xfrm>
          <a:prstGeom prst="rect">
            <a:avLst/>
          </a:prstGeom>
          <a:noFill/>
        </p:spPr>
        <p:txBody>
          <a:bodyPr wrap="square">
            <a:spAutoFit/>
          </a:bodyPr>
          <a:lstStyle/>
          <a:p>
            <a:pPr algn="l"/>
            <a:r>
              <a:rPr sz="850" b="0" i="0">
                <a:solidFill>
                  <a:srgbClr val="94A3B8"/>
                </a:solidFill>
              </a:rPr>
              <a:t>O litoral acessível. Melhor clima, menor densidade que Bay Area. Custo acima do ideal, mas justificado pelo estilo de vida — especialmente para remotos.</a:t>
            </a:r>
          </a:p>
        </p:txBody>
      </p:sp>
      <p:sp>
        <p:nvSpPr>
          <p:cNvPr id="44" name="TextBox 43"/>
          <p:cNvSpPr txBox="1"/>
          <p:nvPr/>
        </p:nvSpPr>
        <p:spPr>
          <a:xfrm>
            <a:off x="10296144" y="4901184"/>
            <a:ext cx="886968" cy="768096"/>
          </a:xfrm>
          <a:prstGeom prst="rect">
            <a:avLst/>
          </a:prstGeom>
          <a:noFill/>
        </p:spPr>
        <p:txBody>
          <a:bodyPr wrap="square">
            <a:spAutoFit/>
          </a:bodyPr>
          <a:lstStyle/>
          <a:p>
            <a:pPr algn="l"/>
            <a:r>
              <a:rPr sz="850" b="0" i="0">
                <a:solidFill>
                  <a:srgbClr val="94A3B8"/>
                </a:solidFill>
              </a:rPr>
              <a:t>★★★</a:t>
            </a:r>
          </a:p>
        </p:txBody>
      </p:sp>
      <p:sp>
        <p:nvSpPr>
          <p:cNvPr id="45" name="TextBox 44"/>
          <p:cNvSpPr txBox="1"/>
          <p:nvPr/>
        </p:nvSpPr>
        <p:spPr>
          <a:xfrm>
            <a:off x="11301984" y="4901184"/>
            <a:ext cx="795528" cy="768096"/>
          </a:xfrm>
          <a:prstGeom prst="rect">
            <a:avLst/>
          </a:prstGeom>
          <a:noFill/>
        </p:spPr>
        <p:txBody>
          <a:bodyPr wrap="square">
            <a:spAutoFit/>
          </a:bodyPr>
          <a:lstStyle/>
          <a:p>
            <a:pPr algn="l"/>
            <a:r>
              <a:rPr sz="850" b="0" i="0">
                <a:solidFill>
                  <a:srgbClr val="94A3B8"/>
                </a:solidFill>
              </a:rPr>
              <a:t>★★★★</a:t>
            </a:r>
          </a:p>
        </p:txBody>
      </p:sp>
      <p:sp>
        <p:nvSpPr>
          <p:cNvPr id="46" name="Rectangle 45"/>
          <p:cNvSpPr/>
          <p:nvPr/>
        </p:nvSpPr>
        <p:spPr>
          <a:xfrm>
            <a:off x="274320" y="5779008"/>
            <a:ext cx="11612880" cy="877824"/>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74320" y="5779008"/>
            <a:ext cx="64008" cy="877824"/>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9184" y="5833872"/>
            <a:ext cx="475488" cy="768096"/>
          </a:xfrm>
          <a:prstGeom prst="rect">
            <a:avLst/>
          </a:prstGeom>
          <a:noFill/>
        </p:spPr>
        <p:txBody>
          <a:bodyPr wrap="square">
            <a:spAutoFit/>
          </a:bodyPr>
          <a:lstStyle/>
          <a:p>
            <a:pPr algn="l"/>
            <a:r>
              <a:rPr sz="1500" b="1" i="0">
                <a:solidFill>
                  <a:srgbClr val="F43F5E"/>
                </a:solidFill>
              </a:rPr>
              <a:t>#5</a:t>
            </a:r>
          </a:p>
        </p:txBody>
      </p:sp>
      <p:sp>
        <p:nvSpPr>
          <p:cNvPr id="49" name="TextBox 48"/>
          <p:cNvSpPr txBox="1"/>
          <p:nvPr/>
        </p:nvSpPr>
        <p:spPr>
          <a:xfrm>
            <a:off x="923544" y="5833872"/>
            <a:ext cx="1298448" cy="768096"/>
          </a:xfrm>
          <a:prstGeom prst="rect">
            <a:avLst/>
          </a:prstGeom>
          <a:noFill/>
        </p:spPr>
        <p:txBody>
          <a:bodyPr wrap="square">
            <a:spAutoFit/>
          </a:bodyPr>
          <a:lstStyle/>
          <a:p>
            <a:pPr algn="l"/>
            <a:r>
              <a:rPr sz="1000" b="1" i="0">
                <a:solidFill>
                  <a:srgbClr val="F43F5E"/>
                </a:solidFill>
              </a:rPr>
              <a:t>ISLAND</a:t>
            </a:r>
          </a:p>
        </p:txBody>
      </p:sp>
      <p:sp>
        <p:nvSpPr>
          <p:cNvPr id="50" name="TextBox 49"/>
          <p:cNvSpPr txBox="1"/>
          <p:nvPr/>
        </p:nvSpPr>
        <p:spPr>
          <a:xfrm>
            <a:off x="2340864" y="5833872"/>
            <a:ext cx="1435607" cy="768096"/>
          </a:xfrm>
          <a:prstGeom prst="rect">
            <a:avLst/>
          </a:prstGeom>
          <a:noFill/>
        </p:spPr>
        <p:txBody>
          <a:bodyPr wrap="square">
            <a:spAutoFit/>
          </a:bodyPr>
          <a:lstStyle/>
          <a:p>
            <a:pPr algn="l"/>
            <a:r>
              <a:rPr sz="850" b="0" i="0">
                <a:solidFill>
                  <a:srgbClr val="FFFFFF"/>
                </a:solidFill>
              </a:rPr>
              <a:t>EVITAR (nicho extremo)</a:t>
            </a:r>
          </a:p>
        </p:txBody>
      </p:sp>
      <p:sp>
        <p:nvSpPr>
          <p:cNvPr id="51" name="TextBox 50"/>
          <p:cNvSpPr txBox="1"/>
          <p:nvPr/>
        </p:nvSpPr>
        <p:spPr>
          <a:xfrm>
            <a:off x="3895344" y="5833872"/>
            <a:ext cx="6327648" cy="768096"/>
          </a:xfrm>
          <a:prstGeom prst="rect">
            <a:avLst/>
          </a:prstGeom>
          <a:noFill/>
        </p:spPr>
        <p:txBody>
          <a:bodyPr wrap="square">
            <a:spAutoFit/>
          </a:bodyPr>
          <a:lstStyle/>
          <a:p>
            <a:pPr algn="l"/>
            <a:r>
              <a:rPr sz="850" b="0" i="0">
                <a:solidFill>
                  <a:srgbClr val="94A3B8"/>
                </a:solidFill>
              </a:rPr>
              <a:t>Luxo absoluto sem liquidez. Cinco distritos apenas. Sem mercado de trabalho, sem infraestrutura. Exclusivamente para patrimônio muito elevado.</a:t>
            </a:r>
          </a:p>
        </p:txBody>
      </p:sp>
      <p:sp>
        <p:nvSpPr>
          <p:cNvPr id="52" name="TextBox 51"/>
          <p:cNvSpPr txBox="1"/>
          <p:nvPr/>
        </p:nvSpPr>
        <p:spPr>
          <a:xfrm>
            <a:off x="10296144" y="5833872"/>
            <a:ext cx="886968" cy="768096"/>
          </a:xfrm>
          <a:prstGeom prst="rect">
            <a:avLst/>
          </a:prstGeom>
          <a:noFill/>
        </p:spPr>
        <p:txBody>
          <a:bodyPr wrap="square">
            <a:spAutoFit/>
          </a:bodyPr>
          <a:lstStyle/>
          <a:p>
            <a:pPr algn="l"/>
            <a:r>
              <a:rPr sz="850" b="0" i="0">
                <a:solidFill>
                  <a:srgbClr val="94A3B8"/>
                </a:solidFill>
              </a:rPr>
              <a:t>★</a:t>
            </a:r>
          </a:p>
        </p:txBody>
      </p:sp>
      <p:sp>
        <p:nvSpPr>
          <p:cNvPr id="53" name="TextBox 52"/>
          <p:cNvSpPr txBox="1"/>
          <p:nvPr/>
        </p:nvSpPr>
        <p:spPr>
          <a:xfrm>
            <a:off x="11301984" y="5833872"/>
            <a:ext cx="795528" cy="768096"/>
          </a:xfrm>
          <a:prstGeom prst="rect">
            <a:avLst/>
          </a:prstGeom>
          <a:noFill/>
        </p:spPr>
        <p:txBody>
          <a:bodyPr wrap="square">
            <a:spAutoFit/>
          </a:bodyPr>
          <a:lstStyle/>
          <a:p>
            <a:pPr algn="l"/>
            <a:r>
              <a:rPr sz="850" b="0" i="0">
                <a:solidFill>
                  <a:srgbClr val="94A3B8"/>
                </a:solidFil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117"/>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18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74320"/>
            <a:ext cx="11430000" cy="548640"/>
          </a:xfrm>
          <a:prstGeom prst="rect">
            <a:avLst/>
          </a:prstGeom>
          <a:noFill/>
        </p:spPr>
        <p:txBody>
          <a:bodyPr wrap="square">
            <a:spAutoFit/>
          </a:bodyPr>
          <a:lstStyle/>
          <a:p>
            <a:pPr algn="ctr"/>
            <a:r>
              <a:rPr sz="2400" b="1" i="0">
                <a:solidFill>
                  <a:srgbClr val="F5A623"/>
                </a:solidFill>
              </a:rPr>
              <a:t>TRÊS VERDADES QUE OS DADOS PROVAM</a:t>
            </a:r>
          </a:p>
        </p:txBody>
      </p:sp>
      <p:sp>
        <p:nvSpPr>
          <p:cNvPr id="6" name="TextBox 5"/>
          <p:cNvSpPr txBox="1"/>
          <p:nvPr/>
        </p:nvSpPr>
        <p:spPr>
          <a:xfrm>
            <a:off x="365760" y="777240"/>
            <a:ext cx="11430000" cy="365760"/>
          </a:xfrm>
          <a:prstGeom prst="rect">
            <a:avLst/>
          </a:prstGeom>
          <a:noFill/>
        </p:spPr>
        <p:txBody>
          <a:bodyPr wrap="square">
            <a:spAutoFit/>
          </a:bodyPr>
          <a:lstStyle/>
          <a:p>
            <a:pPr algn="ctr"/>
            <a:r>
              <a:rPr sz="1300" b="0" i="1">
                <a:solidFill>
                  <a:srgbClr val="94A3B8"/>
                </a:solidFill>
              </a:rPr>
              <a:t>sobre o mercado imobiliário da Califórnia</a:t>
            </a:r>
          </a:p>
        </p:txBody>
      </p:sp>
      <p:sp>
        <p:nvSpPr>
          <p:cNvPr id="7" name="Rectangle 6"/>
          <p:cNvSpPr/>
          <p:nvPr/>
        </p:nvSpPr>
        <p:spPr>
          <a:xfrm>
            <a:off x="365760" y="1325880"/>
            <a:ext cx="3611880" cy="475488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25880"/>
            <a:ext cx="361188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444752"/>
            <a:ext cx="3383280" cy="548640"/>
          </a:xfrm>
          <a:prstGeom prst="rect">
            <a:avLst/>
          </a:prstGeom>
          <a:noFill/>
        </p:spPr>
        <p:txBody>
          <a:bodyPr wrap="square">
            <a:spAutoFit/>
          </a:bodyPr>
          <a:lstStyle/>
          <a:p>
            <a:pPr algn="l"/>
            <a:r>
              <a:rPr sz="3200" b="1" i="0">
                <a:solidFill>
                  <a:srgbClr val="F5A623"/>
                </a:solidFill>
              </a:rPr>
              <a:t>01</a:t>
            </a:r>
          </a:p>
        </p:txBody>
      </p:sp>
      <p:sp>
        <p:nvSpPr>
          <p:cNvPr id="10" name="TextBox 9"/>
          <p:cNvSpPr txBox="1"/>
          <p:nvPr/>
        </p:nvSpPr>
        <p:spPr>
          <a:xfrm>
            <a:off x="475488" y="2011680"/>
            <a:ext cx="3383280" cy="685800"/>
          </a:xfrm>
          <a:prstGeom prst="rect">
            <a:avLst/>
          </a:prstGeom>
          <a:noFill/>
        </p:spPr>
        <p:txBody>
          <a:bodyPr wrap="square">
            <a:spAutoFit/>
          </a:bodyPr>
          <a:lstStyle/>
          <a:p>
            <a:pPr algn="l"/>
            <a:r>
              <a:rPr sz="1300" b="1" i="0">
                <a:solidFill>
                  <a:srgbClr val="FFFFFF"/>
                </a:solidFill>
              </a:rPr>
              <a:t>A RENDA DO BAIRRO
DEFINE O PREÇO</a:t>
            </a:r>
          </a:p>
        </p:txBody>
      </p:sp>
      <p:sp>
        <p:nvSpPr>
          <p:cNvPr id="11" name="Rectangle 10"/>
          <p:cNvSpPr/>
          <p:nvPr/>
        </p:nvSpPr>
        <p:spPr>
          <a:xfrm>
            <a:off x="475488" y="2743200"/>
            <a:ext cx="3291840" cy="2743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2880360"/>
            <a:ext cx="3383280" cy="2651760"/>
          </a:xfrm>
          <a:prstGeom prst="rect">
            <a:avLst/>
          </a:prstGeom>
          <a:noFill/>
        </p:spPr>
        <p:txBody>
          <a:bodyPr wrap="square">
            <a:spAutoFit/>
          </a:bodyPr>
          <a:lstStyle/>
          <a:p>
            <a:pPr algn="l"/>
            <a:r>
              <a:rPr sz="950" b="0" i="0">
                <a:solidFill>
                  <a:srgbClr val="94A3B8"/>
                </a:solidFill>
              </a:rPr>
              <a:t>Não o tamanho, não a vista, não a proximidade ao oceano de forma isolada. O Spearman ρ = 0.68 com IC [0.67–0.69] é o número mais importante deste deck. Antes de olhar o imóvel, pesquise a renda mediana do distrito.</a:t>
            </a:r>
          </a:p>
        </p:txBody>
      </p:sp>
      <p:sp>
        <p:nvSpPr>
          <p:cNvPr id="13" name="Rectangle 12"/>
          <p:cNvSpPr/>
          <p:nvPr/>
        </p:nvSpPr>
        <p:spPr>
          <a:xfrm>
            <a:off x="4297680" y="1325880"/>
            <a:ext cx="3611880" cy="475488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325880"/>
            <a:ext cx="3611880"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444752"/>
            <a:ext cx="3383280" cy="548640"/>
          </a:xfrm>
          <a:prstGeom prst="rect">
            <a:avLst/>
          </a:prstGeom>
          <a:noFill/>
        </p:spPr>
        <p:txBody>
          <a:bodyPr wrap="square">
            <a:spAutoFit/>
          </a:bodyPr>
          <a:lstStyle/>
          <a:p>
            <a:pPr algn="l"/>
            <a:r>
              <a:rPr sz="3200" b="1" i="0">
                <a:solidFill>
                  <a:srgbClr val="F5A623"/>
                </a:solidFill>
              </a:rPr>
              <a:t>02</a:t>
            </a:r>
          </a:p>
        </p:txBody>
      </p:sp>
      <p:sp>
        <p:nvSpPr>
          <p:cNvPr id="16" name="TextBox 15"/>
          <p:cNvSpPr txBox="1"/>
          <p:nvPr/>
        </p:nvSpPr>
        <p:spPr>
          <a:xfrm>
            <a:off x="4407408" y="2011680"/>
            <a:ext cx="3383280" cy="685800"/>
          </a:xfrm>
          <a:prstGeom prst="rect">
            <a:avLst/>
          </a:prstGeom>
          <a:noFill/>
        </p:spPr>
        <p:txBody>
          <a:bodyPr wrap="square">
            <a:spAutoFit/>
          </a:bodyPr>
          <a:lstStyle/>
          <a:p>
            <a:pPr algn="l"/>
            <a:r>
              <a:rPr sz="1300" b="1" i="0">
                <a:solidFill>
                  <a:srgbClr val="FFFFFF"/>
                </a:solidFill>
              </a:rPr>
              <a:t>O INLAND É O
MELHOR NEGÓCIO</a:t>
            </a:r>
          </a:p>
        </p:txBody>
      </p:sp>
      <p:sp>
        <p:nvSpPr>
          <p:cNvPr id="17" name="Rectangle 16"/>
          <p:cNvSpPr/>
          <p:nvPr/>
        </p:nvSpPr>
        <p:spPr>
          <a:xfrm>
            <a:off x="4407408" y="2743200"/>
            <a:ext cx="3291840" cy="2743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7408" y="2880360"/>
            <a:ext cx="3383280" cy="2651760"/>
          </a:xfrm>
          <a:prstGeom prst="rect">
            <a:avLst/>
          </a:prstGeom>
          <a:noFill/>
        </p:spPr>
        <p:txBody>
          <a:bodyPr wrap="square">
            <a:spAutoFit/>
          </a:bodyPr>
          <a:lstStyle/>
          <a:p>
            <a:pPr algn="l"/>
            <a:r>
              <a:rPr sz="950" b="0" i="0">
                <a:solidFill>
                  <a:srgbClr val="94A3B8"/>
                </a:solidFill>
              </a:rPr>
              <a:t>Score custo-benefício de 2.75 — o mais alto do dataset. Único onde a renda local sustenta o custo de moradia dentro dos 30% recomendados. Ignorado por preconceito estético, não por dados.</a:t>
            </a:r>
          </a:p>
        </p:txBody>
      </p:sp>
      <p:sp>
        <p:nvSpPr>
          <p:cNvPr id="19" name="Rectangle 18"/>
          <p:cNvSpPr/>
          <p:nvPr/>
        </p:nvSpPr>
        <p:spPr>
          <a:xfrm>
            <a:off x="8229600" y="1325880"/>
            <a:ext cx="3611880" cy="475488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325880"/>
            <a:ext cx="3611880" cy="7315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1444752"/>
            <a:ext cx="3383280" cy="548640"/>
          </a:xfrm>
          <a:prstGeom prst="rect">
            <a:avLst/>
          </a:prstGeom>
          <a:noFill/>
        </p:spPr>
        <p:txBody>
          <a:bodyPr wrap="square">
            <a:spAutoFit/>
          </a:bodyPr>
          <a:lstStyle/>
          <a:p>
            <a:pPr algn="l"/>
            <a:r>
              <a:rPr sz="3200" b="1" i="0">
                <a:solidFill>
                  <a:srgbClr val="34D399"/>
                </a:solidFill>
              </a:rPr>
              <a:t>03</a:t>
            </a:r>
          </a:p>
        </p:txBody>
      </p:sp>
      <p:sp>
        <p:nvSpPr>
          <p:cNvPr id="22" name="TextBox 21"/>
          <p:cNvSpPr txBox="1"/>
          <p:nvPr/>
        </p:nvSpPr>
        <p:spPr>
          <a:xfrm>
            <a:off x="8339327" y="2011680"/>
            <a:ext cx="3383280" cy="685800"/>
          </a:xfrm>
          <a:prstGeom prst="rect">
            <a:avLst/>
          </a:prstGeom>
          <a:noFill/>
        </p:spPr>
        <p:txBody>
          <a:bodyPr wrap="square">
            <a:spAutoFit/>
          </a:bodyPr>
          <a:lstStyle/>
          <a:p>
            <a:pPr algn="l"/>
            <a:r>
              <a:rPr sz="1300" b="1" i="0">
                <a:solidFill>
                  <a:srgbClr val="FFFFFF"/>
                </a:solidFill>
              </a:rPr>
              <a:t>O &lt;1H OCEAN É
O EQUILÍBRIO REAL</a:t>
            </a:r>
          </a:p>
        </p:txBody>
      </p:sp>
      <p:sp>
        <p:nvSpPr>
          <p:cNvPr id="23" name="Rectangle 22"/>
          <p:cNvSpPr/>
          <p:nvPr/>
        </p:nvSpPr>
        <p:spPr>
          <a:xfrm>
            <a:off x="8339327" y="2743200"/>
            <a:ext cx="3291840" cy="27432"/>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7" y="2880360"/>
            <a:ext cx="3383280" cy="2651760"/>
          </a:xfrm>
          <a:prstGeom prst="rect">
            <a:avLst/>
          </a:prstGeom>
          <a:noFill/>
        </p:spPr>
        <p:txBody>
          <a:bodyPr wrap="square">
            <a:spAutoFit/>
          </a:bodyPr>
          <a:lstStyle/>
          <a:p>
            <a:pPr algn="l"/>
            <a:r>
              <a:rPr sz="950" b="0" i="0">
                <a:solidFill>
                  <a:srgbClr val="94A3B8"/>
                </a:solidFill>
              </a:rPr>
              <a:t>A maior zona, a mais diversa, a mais conectada. Para 44% dos distritos da Califórnia, esse é o meio-termo entre sonho e viabilidade. O endereço da classe média que conseguiu encontrar o ponto de equilíbrio.</a:t>
            </a:r>
          </a:p>
        </p:txBody>
      </p:sp>
      <p:sp>
        <p:nvSpPr>
          <p:cNvPr id="25" name="Rectangle 24"/>
          <p:cNvSpPr/>
          <p:nvPr/>
        </p:nvSpPr>
        <p:spPr>
          <a:xfrm>
            <a:off x="365760" y="6217920"/>
            <a:ext cx="11430000" cy="411480"/>
          </a:xfrm>
          <a:prstGeom prst="rect">
            <a:avLst/>
          </a:prstGeom>
          <a:solidFill>
            <a:srgbClr val="1E2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281928"/>
            <a:ext cx="11155680" cy="292608"/>
          </a:xfrm>
          <a:prstGeom prst="rect">
            <a:avLst/>
          </a:prstGeom>
          <a:noFill/>
        </p:spPr>
        <p:txBody>
          <a:bodyPr wrap="square">
            <a:spAutoFit/>
          </a:bodyPr>
          <a:lstStyle/>
          <a:p>
            <a:pPr algn="ctr"/>
            <a:r>
              <a:rPr sz="950" b="0" i="1">
                <a:solidFill>
                  <a:srgbClr val="94A3B8"/>
                </a:solidFill>
              </a:rPr>
              <a:t>📂  Análise completa + código:  github.com/LuissFellipe/houses-prices-analysis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