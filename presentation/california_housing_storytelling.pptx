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ONDE COMPRAR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83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OU ALUGAR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NA CALIFÓRNIA?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46120"/>
            <a:ext cx="53035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Uma análise orientada por dados do
California Housing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20.640 distritos censitários  ·  Califórnia  ·  Censo 1990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303520"/>
            <a:ext cx="1504188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533095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DATA STORYTELLING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5303520"/>
            <a:ext cx="1659636" cy="256032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53309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MERCADO IMOBILIÁRIO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65760"/>
            <a:ext cx="5669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MERCADO EM NÚMEROS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5176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4864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$179.700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Valor mediano dos imóveis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Mediana de 20.640 distritos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14400"/>
            <a:ext cx="265176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914400"/>
            <a:ext cx="54864" cy="10515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0058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9F1C"/>
                </a:solidFill>
              </a:rPr>
              <a:t>$206.856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4630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Valor médio dos imóveis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19072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Puxado por imóveis premium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914400"/>
            <a:ext cx="265176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914400"/>
            <a:ext cx="54864" cy="10515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0058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C653"/>
                </a:solidFill>
              </a:rPr>
              <a:t>$35.300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4630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Renda familiar mediana/ano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719072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3.53 × $10.000 no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914400"/>
            <a:ext cx="265176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32520" y="914400"/>
            <a:ext cx="54864" cy="1051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00584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600"/>
                </a:solidFill>
              </a:rPr>
              <a:t>36,6%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4630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Distritos com imóveis &lt; $150k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19072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7.556 distritos acessíveis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148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💡  A diferença de $27k entre média e mediana revela um mercado com cauda longa — poucos imóveis de altíssimo valor puxam a média para cima, mas a maioria dos distritos tem preços bem mais acessíveis.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788920"/>
            <a:ext cx="11274552" cy="36576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80360"/>
            <a:ext cx="5486400" cy="356616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880360"/>
            <a:ext cx="3108960" cy="35661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235440" y="2880360"/>
            <a:ext cx="2743200" cy="35661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2880360"/>
            <a:ext cx="54864" cy="3566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3017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🏝️  ISLAND
$414.700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611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Mais caro — média de renda baixa.
Nicho de luxo, inacessível.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206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C653"/>
                </a:solidFill>
              </a:rPr>
              <a:t>🏠  INLAND
$108.500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8006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Mais barato — melhor relação
custo × renda do dataset.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5394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🌊  NEAR BAY
$233.800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852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Premium — alta renda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 LÓGICA DO PREÇO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</a:rPr>
              <a:t>O que de fato move o preço de um imóvel na Califórnia?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280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FATORES QUE MAIS INFLUENCIAM O PREÇO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37360"/>
            <a:ext cx="5760720" cy="685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737360"/>
            <a:ext cx="54864" cy="6858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7739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Renda mediana do distrito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848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Spearman ρ = +0.68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8483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████████████████ Fator dominante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514600"/>
            <a:ext cx="5760720" cy="685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514600"/>
            <a:ext cx="54864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511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Latitude (posição geográfica)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620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Spearman ρ = −0.14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████ Quanto mais ao sul, mais caro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291840"/>
            <a:ext cx="5760720" cy="685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0" y="3291840"/>
            <a:ext cx="54864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328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Quartos por domicílio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639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B4D8"/>
                </a:solidFill>
              </a:rPr>
              <a:t>Spearman ρ = +0.15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39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████ Mais espaço = mais valor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069080"/>
            <a:ext cx="5760720" cy="685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069080"/>
            <a:ext cx="54864" cy="6858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10565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Pessoas por domicílio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416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D6D"/>
                </a:solidFill>
              </a:rPr>
              <a:t>Spearman ρ = −0.22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16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█████ Superlotação reduz valor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4846320"/>
            <a:ext cx="5760720" cy="6858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4846320"/>
            <a:ext cx="54864" cy="6858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4882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Proximidade ao oceano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5193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E0EF"/>
                </a:solidFill>
              </a:rPr>
              <a:t>Efeito confirmado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1937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██████ Premium costeiro: +2×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532120"/>
            <a:ext cx="11430000" cy="9601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532120"/>
            <a:ext cx="54864" cy="9601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7784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📊  CONCLUSÃO:  Renda mediana do distrito é o melhor preditor individual de valor imobiliário (ρ=0.68). A localização geográfica e a proximidade ao oceano amplificam esse efeito — distritos costeiros com alta renda são os mais valorizados.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ONDE COMPRAR?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Perfis de comprador e os melhores mercados para cada objetivo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52120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💰  PERFIL ECONÔMICO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Compra acessível, primeira moradia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29184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40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Interior (INLAND)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Mediana: $108.500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36,6% dos distritos abaixo de $150k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Menor concorrência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118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Vale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19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Bakersfield e Fresno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1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Riverside / San Bernardino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0915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⚠️  Renda local menor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⚠️  Infraestrutura limitada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280160"/>
            <a:ext cx="3657600" cy="52120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280160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⚖️  MELHOR CUSTO-BENEFÍCIO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Equilíbrio entre preço e qualidade de vida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103120"/>
            <a:ext cx="329184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148840"/>
            <a:ext cx="3474720" cy="2560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89120" y="47548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C653"/>
                </a:solidFill>
              </a:rPr>
              <a:t>✅  Inland lidera — renda razoável
    com preços muito acessíveis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578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✅  &lt;1H Ocean — zona suburbana
    equilibrada para famílias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607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⚠️  Near Bay / Island — renda alta
    exigida para sustentar o custo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280160"/>
            <a:ext cx="3657600" cy="521208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280160"/>
            <a:ext cx="3657600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371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</a:rPr>
              <a:t>🏆  PERFIL PREMIUM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BCC"/>
                </a:solidFill>
              </a:rPr>
              <a:t>Valorização e qualidade máxima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103120"/>
            <a:ext cx="329184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2402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Near Bay / Near Ocean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146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D6D"/>
                </a:solidFill>
              </a:rPr>
              <a:t>Mediana: $233k–$229k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2788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Renda local alta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0632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Infraestrutura 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6118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San Francisco Bay 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88619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Peninsula (Palo Alto)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16051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Santa Barbara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43483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C653"/>
                </a:solidFill>
              </a:rPr>
              <a:t>✅ San Diego (costa)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98347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</a:rPr>
              <a:t>⚠️  Entrada muito alta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ONDE ALUGAR?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Para quem prioriza flexibilidade, custo mensal baixo ou qualidade de vida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0" y="1280160"/>
            <a:ext cx="594360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80160"/>
            <a:ext cx="54864" cy="10515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441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💸  MENOR CUSTO MENSAL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27631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Interior da Califórnia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8470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CC"/>
                </a:solidFill>
              </a:rPr>
              <a:t>Vale Central, Bakersfield, Fresno. Aluguéis estimados muito abaixo da média do estado.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423160"/>
            <a:ext cx="594360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423160"/>
            <a:ext cx="54864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871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🏙️  CUSTO × OPORTUNIDADE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77063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Subúrbios de LA e SF (&lt;1H Ocean)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900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CC"/>
                </a:solidFill>
              </a:rPr>
              <a:t>Riverside, Stockton, Sacramento. Acesso aos grandes centros com custo 30–40% menor.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566160"/>
            <a:ext cx="594360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566160"/>
            <a:ext cx="54864" cy="105156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6301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3"/>
                </a:solidFill>
              </a:rPr>
              <a:t>🌅  MELHOR QUALIDADE DE VIDA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91363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Zona Norte de SF (Near Ocean)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133087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CC"/>
                </a:solidFill>
              </a:rPr>
              <a:t>Santa Cruz, Monterey. Custo moderado, natureza, menor densidade populacional.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709160"/>
            <a:ext cx="5943600" cy="105156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4709160"/>
            <a:ext cx="54864" cy="105156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77316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🚫  EVITAR PARA ALUGAR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05663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San Francisco Bay / Island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2760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BCC"/>
                </a:solidFill>
              </a:rPr>
              <a:t>Aluguel altíssimo, pressão de demanda extrema. Retorno financeiro desfavorável.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74920"/>
            <a:ext cx="11430000" cy="146304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074920"/>
            <a:ext cx="54864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📌  REGRA PRÁTICA PARA ALUGAR: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Ideal: aluguel mensal ≤ 30% da renda bruta. Com renda mediana de $35k/ano, o teto saudável é ~$875/mês. Distritos do interior com valor mediano de $108k estimam aluguéis de $700–$900/mês — dentro do ideal. Nas zonas costeiras ($230k+) os aluguéis estimados de $1.500–$2.000/mês comprometem 50%+ da renda mediana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QUAL É O SEU PERFIL?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97480" cy="53035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2697480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3"/>
                </a:solidFill>
              </a:rPr>
              <a:t>👨‍👩‍👧  FAMÍLIA COM FILHOS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Prioridade: escolas, segurança, espaço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3317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Subúrbios a &lt;1h do oceano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Riverside e San Bernardino County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871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Sacramento (região Norte)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1635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💰  Mediana: ~$180–215k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1455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📐  Média de 5 quartos/domicílio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914400"/>
            <a:ext cx="2697480" cy="53035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914400"/>
            <a:ext cx="269748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024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👤  JOVEM PROFISSIONAL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4173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Prioridade: acesso a emprego, mobilidade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737360"/>
            <a:ext cx="23317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Subúrbios de SF e LA (&lt;1H Ocean)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East Bay (Oakland, Fremont)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128" y="24871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Long Beach / Pasadena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281635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💰  Mediana: ~$215–235k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31455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🚗  Menos de 1h do centro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914400"/>
            <a:ext cx="2697480" cy="53035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914400"/>
            <a:ext cx="269748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1024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👴  APOSENTADO / RENDA FIXA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14173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Prioridade: custo baixo, qualidade de vida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737360"/>
            <a:ext cx="23317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Interior calmo (Fresno, Merced)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Norte da Califórnia (Redding)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24871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Idades medianas dos imóveis: 27 anos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81635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💰  Mediana: ~$90–110k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1455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🌿  Baixa densidade, custo de vida reduzido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914400"/>
            <a:ext cx="2697480" cy="530352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914400"/>
            <a:ext cx="2697480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19" y="10241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📈  INVESTIDOR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14173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BBCC"/>
                </a:solidFill>
              </a:rPr>
              <a:t>Prioridade: valorização e retorno de aluguel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59" y="1737360"/>
            <a:ext cx="23317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8288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Corredor SF–Sacramento (Near Bay)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7" y="215798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Cidades satélite de LA (crescimento)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7" y="2487168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✅  Distritos em transição (INLAND → &lt;1H)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7" y="281635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💰  Mediana: $215–235k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9407" y="31455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📊  Score custo-benefício favorável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338328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RANKING FINAL DE ZONAS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CC"/>
                </a:solidFill>
              </a:rPr>
              <a:t>Avaliação ponderada por: valor, renda, custo-benefício, qualidade de vida e acessibilidade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Rank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25880"/>
            <a:ext cx="20116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5331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Zona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325880"/>
            <a:ext cx="10058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3533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Ideal Para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325880"/>
            <a:ext cx="5120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135331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Por Quê?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325880"/>
            <a:ext cx="14630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5331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Acessibilidade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0" y="1325880"/>
            <a:ext cx="11887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4200" y="1353312"/>
            <a:ext cx="1143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</a:rPr>
              <a:t>Valorização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55648"/>
            <a:ext cx="11521440" cy="804672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1755648"/>
            <a:ext cx="54864" cy="80467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801368"/>
            <a:ext cx="457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3"/>
                </a:solidFill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1801368"/>
            <a:ext cx="1965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3"/>
                </a:solidFill>
              </a:rPr>
              <a:t>INTERIOR (INLAND)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1801368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COMPRAR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1801368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Melhor custo-benefício absoluto — score ρ renda/valor líder. Ideal para primeira moradia.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801368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💰💰💰💰💰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1801368"/>
            <a:ext cx="1143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⭐⭐⭐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24328"/>
            <a:ext cx="11521440" cy="804672"/>
          </a:xfrm>
          <a:prstGeom prst="rect">
            <a:avLst/>
          </a:prstGeom>
          <a:solidFill>
            <a:srgbClr val="1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624328"/>
            <a:ext cx="54864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670048"/>
            <a:ext cx="457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2670048"/>
            <a:ext cx="1965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&lt;1H OCEAN (SUBÚRBIO)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2670048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AMBOS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2670048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Equilíbrio entre acesso ao litoral, renda razoável e preço moderado. Melhor para famílias.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670048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💰💰💰💰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2670048"/>
            <a:ext cx="1143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⭐⭐⭐⭐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93008"/>
            <a:ext cx="11521440" cy="804672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493008"/>
            <a:ext cx="54864" cy="80467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38727"/>
            <a:ext cx="457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3538727"/>
            <a:ext cx="1965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0E0EF"/>
                </a:solidFill>
              </a:rPr>
              <a:t>NEAR OCEAN (LITORAL MÉDIO)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538727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ALUGAR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3538727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Qualidade de vida superior, custo maior. Excelente para quem busca bem-estar sem o extremo de SF.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538727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💰💰💰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3538727"/>
            <a:ext cx="1143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⭐⭐⭐⭐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61688"/>
            <a:ext cx="11521440" cy="804672"/>
          </a:xfrm>
          <a:prstGeom prst="rect">
            <a:avLst/>
          </a:prstGeom>
          <a:solidFill>
            <a:srgbClr val="1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4361688"/>
            <a:ext cx="54864" cy="8046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407407"/>
            <a:ext cx="457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4407407"/>
            <a:ext cx="1965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NEAR BAY (SF BAY AREA)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407407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INVESTIR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4407407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Alta valorização histórica. Exige renda alta. Melhor como investimento de longo prazo.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407407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💰💰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4407407"/>
            <a:ext cx="1143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⭐⭐⭐⭐⭐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230368"/>
            <a:ext cx="11521440" cy="804672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230368"/>
            <a:ext cx="54864" cy="80467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276088"/>
            <a:ext cx="457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5276088"/>
            <a:ext cx="1965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6D"/>
                </a:solidFill>
              </a:rPr>
              <a:t>ISLAND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5276088"/>
            <a:ext cx="960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EVITAR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9080" y="5276088"/>
            <a:ext cx="5074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Luxo puro. Renda local não justifica o custo. Nicho muito restrito, sem liquidez ampla.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276088"/>
            <a:ext cx="1417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5276088"/>
            <a:ext cx="1143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⭐⭐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3 DECISÕES INTELIGENTES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BBCC"/>
                </a:solidFill>
              </a:rPr>
              <a:t>baseadas em dados do mercado imobiliário da Califórnia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65760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3657600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3"/>
                </a:solidFill>
              </a:rPr>
              <a:t>SE QUER COMPRAR COM 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63239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Escolha o Interior (INLAND). Valor mediano de $108.500,
melhor score custo-benefício do dataset.
Bakersfield, Fresno e Riverside são os pontos de entrada.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74519"/>
            <a:ext cx="365760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874519"/>
            <a:ext cx="3657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SE QUER ALUGAR E VIVER BEM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063239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Subúrbios a &lt;1h do oceano são o ponto ideal.
Acesso ao litoral, custo 30–40% menor que SF,
infrastrutura de qualidade para famílias.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3657600" cy="4114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874519"/>
            <a:ext cx="3657600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01167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SE QUER INVESTIR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063239"/>
            <a:ext cx="3429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Near Bay Area mantém a maior valorização histórica.
Preço de entrada alto, mas liquidez garantida
e retorno consistente no longo prazo.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6126480"/>
            <a:ext cx="1005840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263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BBCC"/>
                </a:solidFill>
              </a:rPr>
              <a:t>📂  Análise completa disponível em:  github.com/LuissFellipe/houses-prices-analysis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